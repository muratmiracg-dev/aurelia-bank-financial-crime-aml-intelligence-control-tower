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cd13c069fe41b9" /><Relationship Type="http://schemas.openxmlformats.org/officeDocument/2006/relationships/extended-properties" Target="/docProps/app.xml" Id="R96f14e6a323444d7" /><Relationship Type="http://schemas.openxmlformats.org/officeDocument/2006/relationships/officeDocument" Target="/ppt/presentation.xml" Id="R4569c83d5c4e4a05" /></Relationships>
</file>

<file path=ppt/presentation.xml><?xml version="1.0" encoding="utf-8"?>
<p:presentation xmlns:p="http://schemas.openxmlformats.org/presentationml/2006/main">
  <p:sldMasterIdLst>
    <p:sldMasterId xmlns:r="http://schemas.openxmlformats.org/officeDocument/2006/relationships" id="2147483648" r:id="Ra501c3b61b404b76"/>
  </p:sldMasterIdLst>
  <p:notesMasterIdLst>
    <p:notesMasterId xmlns:r="http://schemas.openxmlformats.org/officeDocument/2006/relationships" r:id="Re9cd0e09e87f4370"/>
  </p:notesMasterIdLst>
  <p:sldIdLst>
    <p:sldId xmlns:r="http://schemas.openxmlformats.org/officeDocument/2006/relationships" id="256" r:id="R43cbe11b977342dd"/>
    <p:sldId xmlns:r="http://schemas.openxmlformats.org/officeDocument/2006/relationships" id="257" r:id="R50ce2841dc3e4947"/>
    <p:sldId xmlns:r="http://schemas.openxmlformats.org/officeDocument/2006/relationships" id="258" r:id="R6d10663c04b848c1"/>
    <p:sldId xmlns:r="http://schemas.openxmlformats.org/officeDocument/2006/relationships" id="259" r:id="R3f0f90c4c4814739"/>
    <p:sldId xmlns:r="http://schemas.openxmlformats.org/officeDocument/2006/relationships" id="260" r:id="R54602d15cfe54b7e"/>
    <p:sldId xmlns:r="http://schemas.openxmlformats.org/officeDocument/2006/relationships" id="261" r:id="R2099a3e2245b42c1"/>
    <p:sldId xmlns:r="http://schemas.openxmlformats.org/officeDocument/2006/relationships" id="262" r:id="R9b4fe571eaaa40ba"/>
    <p:sldId xmlns:r="http://schemas.openxmlformats.org/officeDocument/2006/relationships" id="263" r:id="R996e9cd780664e01"/>
    <p:sldId xmlns:r="http://schemas.openxmlformats.org/officeDocument/2006/relationships" id="264" r:id="Rd7d1cc9eb7d04fb1"/>
    <p:sldId xmlns:r="http://schemas.openxmlformats.org/officeDocument/2006/relationships" id="265" r:id="R48cc7878dbfe4b17"/>
    <p:sldId xmlns:r="http://schemas.openxmlformats.org/officeDocument/2006/relationships" id="266" r:id="Rda3e722e51bd47c3"/>
    <p:sldId xmlns:r="http://schemas.openxmlformats.org/officeDocument/2006/relationships" id="267" r:id="R61e61130daa440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906ef54e74441d" /><Relationship Type="http://schemas.openxmlformats.org/officeDocument/2006/relationships/slideMaster" Target="/ppt/slideMasters/slideMaster1.xml" Id="Ra501c3b61b404b76" /><Relationship Type="http://schemas.openxmlformats.org/officeDocument/2006/relationships/notesMaster" Target="/ppt/notesMasters/notesMaster1.xml" Id="Re9cd0e09e87f4370" /><Relationship Type="http://schemas.openxmlformats.org/officeDocument/2006/relationships/presProps" Target="/ppt/presProps.xml" Id="R0e36b72c14a14aa7" /><Relationship Type="http://schemas.openxmlformats.org/officeDocument/2006/relationships/tableStyles" Target="/ppt/tableStyles.xml" Id="Rbd950bd1cfcc448a" /><Relationship Type="http://schemas.openxmlformats.org/officeDocument/2006/relationships/slide" Target="/ppt/slides/slide1.xml" Id="R43cbe11b977342dd" /><Relationship Type="http://schemas.openxmlformats.org/officeDocument/2006/relationships/slide" Target="/ppt/slides/slide2.xml" Id="R50ce2841dc3e4947" /><Relationship Type="http://schemas.openxmlformats.org/officeDocument/2006/relationships/slide" Target="/ppt/slides/slide3.xml" Id="R6d10663c04b848c1" /><Relationship Type="http://schemas.openxmlformats.org/officeDocument/2006/relationships/slide" Target="/ppt/slides/slide4.xml" Id="R3f0f90c4c4814739" /><Relationship Type="http://schemas.openxmlformats.org/officeDocument/2006/relationships/slide" Target="/ppt/slides/slide5.xml" Id="R54602d15cfe54b7e" /><Relationship Type="http://schemas.openxmlformats.org/officeDocument/2006/relationships/slide" Target="/ppt/slides/slide6.xml" Id="R2099a3e2245b42c1" /><Relationship Type="http://schemas.openxmlformats.org/officeDocument/2006/relationships/slide" Target="/ppt/slides/slide7.xml" Id="R9b4fe571eaaa40ba" /><Relationship Type="http://schemas.openxmlformats.org/officeDocument/2006/relationships/slide" Target="/ppt/slides/slide8.xml" Id="R996e9cd780664e01" /><Relationship Type="http://schemas.openxmlformats.org/officeDocument/2006/relationships/slide" Target="/ppt/slides/slide9.xml" Id="Rd7d1cc9eb7d04fb1" /><Relationship Type="http://schemas.openxmlformats.org/officeDocument/2006/relationships/slide" Target="/ppt/slides/slide10.xml" Id="R48cc7878dbfe4b17" /><Relationship Type="http://schemas.openxmlformats.org/officeDocument/2006/relationships/slide" Target="/ppt/slides/slide11.xml" Id="Rda3e722e51bd47c3" /><Relationship Type="http://schemas.openxmlformats.org/officeDocument/2006/relationships/slide" Target="/ppt/slides/slide12.xml" Id="R61e61130daa440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f28782fb0844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584281cddf4df0" /><Relationship Type="http://schemas.openxmlformats.org/officeDocument/2006/relationships/notesMaster" Target="/ppt/notesMasters/notesMaster1.xml" Id="R867e38a3e91c429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024dadf04548cb" /><Relationship Type="http://schemas.openxmlformats.org/officeDocument/2006/relationships/notesMaster" Target="/ppt/notesMasters/notesMaster1.xml" Id="R0d38d420b60c4d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9bcb54892ef4f62" /><Relationship Type="http://schemas.openxmlformats.org/officeDocument/2006/relationships/notesMaster" Target="/ppt/notesMasters/notesMaster1.xml" Id="Ra1a505dfe7174e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69e6935d304313" /><Relationship Type="http://schemas.openxmlformats.org/officeDocument/2006/relationships/notesMaster" Target="/ppt/notesMasters/notesMaster1.xml" Id="R42e442af1cb943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b2aad61bd34d6b" /><Relationship Type="http://schemas.openxmlformats.org/officeDocument/2006/relationships/notesMaster" Target="/ppt/notesMasters/notesMaster1.xml" Id="R34f8c08b56dd43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e183e6f6b047f6" /><Relationship Type="http://schemas.openxmlformats.org/officeDocument/2006/relationships/notesMaster" Target="/ppt/notesMasters/notesMaster1.xml" Id="R5445015972c844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e6f9baab96143fb" /><Relationship Type="http://schemas.openxmlformats.org/officeDocument/2006/relationships/notesMaster" Target="/ppt/notesMasters/notesMaster1.xml" Id="R59959c9f77a64bc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a5c5550c2c4ea5" /><Relationship Type="http://schemas.openxmlformats.org/officeDocument/2006/relationships/notesMaster" Target="/ppt/notesMasters/notesMaster1.xml" Id="R0cee59e33a264c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c76584a7bd241c2" /><Relationship Type="http://schemas.openxmlformats.org/officeDocument/2006/relationships/notesMaster" Target="/ppt/notesMasters/notesMaster1.xml" Id="R600a316b74014fe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e0f2a23a9b94453" /><Relationship Type="http://schemas.openxmlformats.org/officeDocument/2006/relationships/notesMaster" Target="/ppt/notesMasters/notesMaster1.xml" Id="Rfc489cb5841b4c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bb2565fa5524a37" /><Relationship Type="http://schemas.openxmlformats.org/officeDocument/2006/relationships/notesMaster" Target="/ppt/notesMasters/notesMaster1.xml" Id="R74916a7074fa455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ee6d6a87d2f4c55" /><Relationship Type="http://schemas.openxmlformats.org/officeDocument/2006/relationships/notesMaster" Target="/ppt/notesMasters/notesMaster1.xml" Id="R8d9fecf69f6a4c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boundary: Aurelia Bank is fictional, every bank record is synthetic, and the platform prioritises human review rather than making reporting or customer-action decisions.</a:t>
            </a:r>
          </a:p>
          <a:p xmlns:a="http://schemas.openxmlformats.org/drawingml/2006/main">
            <a:r>
              <a:t/>
            </a:r>
          </a:p>
          <a:p xmlns:a="http://schemas.openxmlformats.org/drawingml/2006/main">
            <a:r>
              <a:t>[Sources]</a:t>
            </a:r>
          </a:p>
          <a:p xmlns:a="http://schemas.openxmlformats.org/drawingml/2006/main">
            <a:r>
              <a:t>https://masak.hmb.gov.tr/sektorel-sib-rehberleri</a:t>
            </a:r>
          </a:p>
          <a:p xmlns:a="http://schemas.openxmlformats.org/drawingml/2006/main">
            <a:r>
              <a:t>https://www.fatf-gafi.org/en/publications/Fatfrecommendations/Fatf-recommendations.html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principal result is operational. The model and queue controls pass, but KYC context is stale for almost half the customer population. Approve a risk-ranked remediation plan rather than broad undifferentiated clearance.</a:t>
            </a:r>
          </a:p>
          <a:p xmlns:a="http://schemas.openxmlformats.org/drawingml/2006/main">
            <a:r>
              <a:t/>
            </a:r>
          </a:p>
          <a:p xmlns:a="http://schemas.openxmlformats.org/drawingml/2006/main">
            <a:r>
              <a:t>[Sources]</a:t>
            </a:r>
          </a:p>
          <a:p xmlns:a="http://schemas.openxmlformats.org/drawingml/2006/main">
            <a:r>
              <a:t>https://masak.hmb.gov.tr/suc-gelirlerinin-aklanmasinin-ve-terorun-finansmaninin-onlenmesine-dair-tedbirler-hakkinda-yonetmelik-3/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control separation. Rules create evidence; KYC, anomaly and network context prioritise. A case is a lead. Validation labels are unavailable to all four detection components.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public source is presented as a bank record. The UN list is not redistributed; screening flags are synthetic placeholders. Official MASAK and FATF materials provide methodology context only.</a:t>
            </a:r>
          </a:p>
          <a:p xmlns:a="http://schemas.openxmlformats.org/drawingml/2006/main">
            <a:r>
              <a:t/>
            </a:r>
          </a:p>
          <a:p xmlns:a="http://schemas.openxmlformats.org/drawingml/2006/main">
            <a:r>
              <a:t>[Sources]</a:t>
            </a:r>
          </a:p>
          <a:p xmlns:a="http://schemas.openxmlformats.org/drawingml/2006/main">
            <a:r>
              <a:t>https://main.un.org/securitycouncil/en/content/un-sc-consolidated-list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prioritisation order uses both inherent risk and observed alert exposure. Beneficial ownership and source-of-funds completeness are component evidence, not substitutes for a refreshed review.</a:t>
            </a:r>
          </a:p>
          <a:p xmlns:a="http://schemas.openxmlformats.org/drawingml/2006/main">
            <a:r>
              <a:t/>
            </a:r>
          </a:p>
          <a:p xmlns:a="http://schemas.openxmlformats.org/drawingml/2006/main">
            <a:r>
              <a:t>[Sources]</a:t>
            </a:r>
          </a:p>
          <a:p xmlns:a="http://schemas.openxmlformats.org/drawingml/2006/main">
            <a:r>
              <a:t>https://www.fatf-gafi.org/en/publications/Fatfrecommendations/Guidance-Beneficial-Ownership-Legal-Persons.html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six patterns cover cash structuring, rapid movement, dormant reactivation, funnel/mule behaviour, circular transfers and a fictitious high-risk test jurisdiction. Numeric settings are internal parameters, not legal thresholds.</a:t>
            </a:r>
          </a:p>
          <a:p xmlns:a="http://schemas.openxmlformats.org/drawingml/2006/main">
            <a:r>
              <a:t/>
            </a:r>
          </a:p>
          <a:p xmlns:a="http://schemas.openxmlformats.org/drawingml/2006/main">
            <a:r>
              <a:t>[Sources]</a:t>
            </a:r>
          </a:p>
          <a:p xmlns:a="http://schemas.openxmlformats.org/drawingml/2006/main">
            <a:r>
              <a:t>https://masak.hmb.gov.tr/sektorel-sib-rehberleri</a:t>
            </a:r>
          </a:p>
          <a:p xmlns:a="http://schemas.openxmlformats.org/drawingml/2006/main">
            <a:r>
              <a:t>https://masak.hmb.gov.tr/tipolojiler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celebrate 98.9% recall without qualification. Patterns are injected. Precision is deliberately lower because lookalikes are observationally similar. A production program needs time-separated, permissioned outcomes and independent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the machine-learning and graph components cannot create alerts independently. Feature values are exported, weights are visible, and reviewers must challenge both supporting and contradictory evidence.</a:t>
            </a:r>
          </a:p>
          <a:p xmlns:a="http://schemas.openxmlformats.org/drawingml/2006/main">
            <a:r>
              <a:t/>
            </a:r>
          </a:p>
          <a:p xmlns:a="http://schemas.openxmlformats.org/drawingml/2006/main">
            <a:r>
              <a:t>[Sources]</a:t>
            </a:r>
          </a:p>
          <a:p xmlns:a="http://schemas.openxmlformats.org/drawingml/2006/main">
            <a:r>
              <a:t>https://www.fatf-gafi.org/en/publications/Fatfrecommendations/Risk-based-approach-banking-sector.html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queue is within the five-day capacity proxy, and no active case is outside SLA. The new KYC remediation program creates incremental demand, so staffing and throughput must be planned before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audience through the exact components. The alert has source transaction identifiers, a time window, observed values and rationale. The analyst must test legitimate explanations before any escalation.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every governance statement to an implementation choice. The repository cites official sources, but no official body has approved this model.</a:t>
            </a:r>
          </a:p>
          <a:p xmlns:a="http://schemas.openxmlformats.org/drawingml/2006/main">
            <a:r>
              <a:t/>
            </a:r>
          </a:p>
          <a:p xmlns:a="http://schemas.openxmlformats.org/drawingml/2006/main">
            <a:r>
              <a:t>[Sources]</a:t>
            </a:r>
          </a:p>
          <a:p xmlns:a="http://schemas.openxmlformats.org/drawingml/2006/main">
            <a:r>
              <a:t>https://masak.hmb.gov.tr/duyuru/supheli-islem-bildirim-rehberleri-guncellenmistir-rehberlere-buradan-erisim-saglayabilirsiniz</a:t>
            </a:r>
          </a:p>
          <a:p xmlns:a="http://schemas.openxmlformats.org/drawingml/2006/main">
            <a:r>
              <a:t>https://www.fatf-gafi.org/en/publications/Fatfrecommendations/update-Recommendation-16-payment-transparency-june-2025.html</a:t>
            </a:r>
          </a:p>
          <a:p xmlns:a="http://schemas.openxmlformats.org/drawingml/2006/main">
            <a:r>
              <a:t>https://main.un.org/securitycouncil/en/content/un-sc-consolidated-list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accountable execution. Ask management to approve the sequence, protect analyst capacity, name owners and review evidence monthly. Production enablement remains conditional on legal, privacy, security, screening and independent model validation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e5cfdff6444e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fecc2c34ac4faf" /><Relationship Type="http://schemas.openxmlformats.org/officeDocument/2006/relationships/slideLayout" Target="/ppt/slideLayouts/slideLayout1.xml" Id="R46e7ab022b5848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e7ab022b5848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edfb766afb74ad4" /><Relationship Type="http://schemas.openxmlformats.org/officeDocument/2006/relationships/notesSlide" Target="/ppt/notesSlides/notesSlide1.xml" Id="R36221b3d9d4741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a21e0b2149945bc" /><Relationship Type="http://schemas.openxmlformats.org/officeDocument/2006/relationships/notesSlide" Target="/ppt/notesSlides/notesSlide2.xml" Id="R3220e85255c84c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11e04e17342464b" /><Relationship Type="http://schemas.openxmlformats.org/officeDocument/2006/relationships/notesSlide" Target="/ppt/notesSlides/notesSlide3.xml" Id="Re859e294a5f940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536a999d7de4293" /><Relationship Type="http://schemas.openxmlformats.org/officeDocument/2006/relationships/notesSlide" Target="/ppt/notesSlides/notesSlide4.xml" Id="R3b527277cadf4b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8411b72fed344a3" /><Relationship Type="http://schemas.openxmlformats.org/officeDocument/2006/relationships/chart" Target="/ppt/slides/charts/chart1.xml" Id="R12c79887641b464b" /><Relationship Type="http://schemas.openxmlformats.org/officeDocument/2006/relationships/notesSlide" Target="/ppt/notesSlides/notesSlide5.xml" Id="R6194bc76ded64c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536e83acdab42a4" /><Relationship Type="http://schemas.openxmlformats.org/officeDocument/2006/relationships/chart" Target="/ppt/slides/charts/chart2.xml" Id="R641b154ef0a1499b" /><Relationship Type="http://schemas.openxmlformats.org/officeDocument/2006/relationships/notesSlide" Target="/ppt/notesSlides/notesSlide6.xml" Id="R68665de22a1a47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5b146953d86490f" /><Relationship Type="http://schemas.openxmlformats.org/officeDocument/2006/relationships/chart" Target="/ppt/slides/charts/chart3.xml" Id="R7a2e83b6949d4665" /><Relationship Type="http://schemas.openxmlformats.org/officeDocument/2006/relationships/notesSlide" Target="/ppt/notesSlides/notesSlide7.xml" Id="Rfa55f51d1e1549a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c226ce2b6d24752" /><Relationship Type="http://schemas.openxmlformats.org/officeDocument/2006/relationships/notesSlide" Target="/ppt/notesSlides/notesSlide8.xml" Id="Rab28d07a1c0e45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b111c4f1cdd41aa" /><Relationship Type="http://schemas.openxmlformats.org/officeDocument/2006/relationships/chart" Target="/ppt/slides/charts/chart4.xml" Id="Rda719f452102444a" /><Relationship Type="http://schemas.openxmlformats.org/officeDocument/2006/relationships/notesSlide" Target="/ppt/notesSlides/notesSlide9.xml" Id="R9a617d288fe746e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fc65de817b24580" /><Relationship Type="http://schemas.openxmlformats.org/officeDocument/2006/relationships/notesSlide" Target="/ppt/notesSlides/notesSlide10.xml" Id="R42c2373d87574fd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511a22fd9ea4a47" /><Relationship Type="http://schemas.openxmlformats.org/officeDocument/2006/relationships/notesSlide" Target="/ppt/notesSlides/notesSlide11.xml" Id="R44c28a4adc234d5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d88e541cf914a75" /><Relationship Type="http://schemas.openxmlformats.org/officeDocument/2006/relationships/notesSlide" Target="/ppt/notesSlides/notesSlide12.xml" Id="Rf9a58a17f8204ee4" /></Relationships>
</file>

<file path=ppt/slides/charts/chart1.xml><?xml version="1.0" encoding="utf-8"?>
<c:chartSpace xmlns:c="http://schemas.openxmlformats.org/drawingml/2006/chart">
  <c:lang val="en-US"/>
  <c:chart>
    <c:plotArea>
      <c:barChart>
        <c:barDir val="col"/>
        <c:grouping val="clustered"/>
        <c:varyColors val="0"/>
        <c:ser>
          <c:idx val="0"/>
          <c:order val="0"/>
          <c:tx>
            <c:v>Customers</c:v>
          </c:tx>
          <c:spPr>
            <a:solidFill xmlns:a="http://schemas.openxmlformats.org/drawingml/2006/main">
              <a:srgbClr val="0E7490"/>
            </a:solidFill>
          </c:spPr>
          <c:dPt>
            <c:idx val="2"/>
            <c:invertIfNegative val="0"/>
            <c:spPr>
              <a:solidFill xmlns:a="http://schemas.openxmlformats.org/drawingml/2006/main">
                <a:srgbClr val="C2413B"/>
              </a:solidFill>
            </c:spPr>
          </c:dPt>
          <c:cat>
            <c:strLit>
              <c:ptCount val="3"/>
              <c:pt idx="0">
                <c:v>Low</c:v>
              </c:pt>
              <c:pt idx="1">
                <c:v>Medium</c:v>
              </c:pt>
              <c:pt idx="2">
                <c:v>High</c:v>
              </c:pt>
            </c:strLit>
          </c:cat>
          <c:val>
            <c:numLit>
              <c:formatCode>General</c:formatCode>
              <c:ptCount val="3"/>
              <c:pt idx="0">
                <c:v>1577</c:v>
              </c:pt>
              <c:pt idx="1">
                <c:v>194</c:v>
              </c:pt>
              <c:pt idx="2">
                <c:v>29</c:v>
              </c:pt>
            </c:numLit>
          </c:val>
        </c:ser>
        <c:dLbls>
          <c:txPr>
            <a:bodyPr xmlns:a="http://schemas.openxmlformats.org/drawingml/2006/main" anchorCtr="1"/>
            <a:lstStyle xmlns:a="http://schemas.openxmlformats.org/drawingml/2006/main"/>
            <a:p xmlns:a="http://schemas.openxmlformats.org/drawingml/2006/main">
              <a:pPr>
                <a:defRPr sz="1125" b="1">
                  <a:solidFill>
                    <a:srgbClr val="0B1F33"/>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E1"/>
            </a:solidFill>
            <a:prstDash val="solid"/>
          </a:ln>
        </c:spPr>
        <c:txPr>
          <a:bodyPr xmlns:a="http://schemas.openxmlformats.org/drawingml/2006/main" anchorCtr="1"/>
          <a:lstStyle xmlns:a="http://schemas.openxmlformats.org/drawingml/2006/main"/>
          <a:p xmlns:a="http://schemas.openxmlformats.org/drawingml/2006/main">
            <a:pPr>
              <a:defRPr sz="1275">
                <a:solidFill>
                  <a:srgbClr val="0B1F33"/>
                </a:solidFill>
              </a:defRPr>
            </a:pPr>
          </a:p>
        </c:txPr>
        <c:crossAx val="48672768"/>
      </c:catAx>
      <c:valAx>
        <c:axId val="48672768"/>
        <c:scaling>
          <c:orientation val="minMax"/>
        </c:scaling>
        <c:delete val="0"/>
        <c:axPos val="l"/>
        <c:majorGridlines>
          <c:spPr>
            <a:ln xmlns:a="http://schemas.openxmlformats.org/drawingml/2006/main" w="9525">
              <a:solidFill>
                <a:srgbClr val="CBD5E1"/>
              </a:solidFill>
              <a:prstDash val="solid"/>
            </a:ln>
          </c:spPr>
        </c:majorGridlines>
        <c:title>
          <c:tx>
            <c:rich>
              <a:bodyPr xmlns:a="http://schemas.openxmlformats.org/drawingml/2006/main"/>
              <a:lstStyle xmlns:a="http://schemas.openxmlformats.org/drawingml/2006/main"/>
              <a:p xmlns:a="http://schemas.openxmlformats.org/drawingml/2006/main">
                <a:r>
                  <a:rPr sz="975">
                    <a:solidFill>
                      <a:srgbClr val="5B677A"/>
                    </a:solidFill>
                  </a:rPr>
                  <a:t>Customers</a:t>
                </a:r>
              </a:p>
            </c:rich>
          </c:tx>
          <c:overlay val="0"/>
          <c:txPr>
            <a:bodyPr xmlns:a="http://schemas.openxmlformats.org/drawingml/2006/main" anchorCtr="1"/>
            <a:lstStyle xmlns:a="http://schemas.openxmlformats.org/drawingml/2006/main"/>
            <a:p xmlns:a="http://schemas.openxmlformats.org/drawingml/2006/main">
              <a:pPr>
                <a:defRPr sz="975">
                  <a:solidFill>
                    <a:srgbClr val="5B677A"/>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B677A"/>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bar"/>
        <c:grouping val="clustered"/>
        <c:varyColors val="0"/>
        <c:ser>
          <c:idx val="0"/>
          <c:order val="0"/>
          <c:tx>
            <c:v>Alerts</c:v>
          </c:tx>
          <c:spPr>
            <a:solidFill xmlns:a="http://schemas.openxmlformats.org/drawingml/2006/main">
              <a:srgbClr val="0E7490"/>
            </a:solidFill>
          </c:spPr>
          <c:dPt>
            <c:idx val="0"/>
            <c:invertIfNegative val="0"/>
            <c:spPr>
              <a:solidFill xmlns:a="http://schemas.openxmlformats.org/drawingml/2006/main">
                <a:srgbClr val="0B4F60"/>
              </a:solidFill>
            </c:spPr>
          </c:dPt>
          <c:cat>
            <c:strLit>
              <c:ptCount val="6"/>
              <c:pt idx="0">
                <c:v>Circular</c:v>
              </c:pt>
              <c:pt idx="1">
                <c:v>Dormant</c:v>
              </c:pt>
              <c:pt idx="2">
                <c:v>Funnel</c:v>
              </c:pt>
              <c:pt idx="3">
                <c:v>High-risk geo</c:v>
              </c:pt>
              <c:pt idx="4">
                <c:v>Rapid move</c:v>
              </c:pt>
              <c:pt idx="5">
                <c:v>Structuring</c:v>
              </c:pt>
            </c:strLit>
          </c:cat>
          <c:val>
            <c:numLit>
              <c:formatCode>General</c:formatCode>
              <c:ptCount val="6"/>
              <c:pt idx="0">
                <c:v>30</c:v>
              </c:pt>
              <c:pt idx="1">
                <c:v>20</c:v>
              </c:pt>
              <c:pt idx="2">
                <c:v>17</c:v>
              </c:pt>
              <c:pt idx="3">
                <c:v>21</c:v>
              </c:pt>
              <c:pt idx="4">
                <c:v>23</c:v>
              </c:pt>
              <c:pt idx="5">
                <c:v>23</c:v>
              </c:pt>
            </c:numLit>
          </c:val>
        </c:ser>
        <c:dLbls>
          <c:txPr>
            <a:bodyPr xmlns:a="http://schemas.openxmlformats.org/drawingml/2006/main" anchorCtr="1"/>
            <a:lstStyle xmlns:a="http://schemas.openxmlformats.org/drawingml/2006/main"/>
            <a:p xmlns:a="http://schemas.openxmlformats.org/drawingml/2006/main">
              <a:pPr>
                <a:defRPr sz="1125" b="1">
                  <a:solidFill>
                    <a:srgbClr val="0B1F33"/>
                  </a:solidFill>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majorGridlines>
          <c:spPr>
            <a:ln xmlns:a="http://schemas.openxmlformats.org/drawingml/2006/main" w="9525">
              <a:solidFill>
                <a:srgbClr val="CBD5E1"/>
              </a:solidFill>
              <a:prstDash val="solid"/>
            </a:ln>
          </c:spPr>
        </c:majorGridlines>
        <c:title>
          <c:tx>
            <c:rich>
              <a:bodyPr xmlns:a="http://schemas.openxmlformats.org/drawingml/2006/main"/>
              <a:lstStyle xmlns:a="http://schemas.openxmlformats.org/drawingml/2006/main"/>
              <a:p xmlns:a="http://schemas.openxmlformats.org/drawingml/2006/main">
                <a:r>
                  <a:rPr sz="975">
                    <a:solidFill>
                      <a:srgbClr val="5B677A"/>
                    </a:solidFill>
                  </a:rPr>
                  <a:t>Alerts</a:t>
                </a:r>
              </a:p>
            </c:rich>
          </c:tx>
          <c:overlay val="0"/>
          <c:txPr>
            <a:bodyPr xmlns:a="http://schemas.openxmlformats.org/drawingml/2006/main" anchorCtr="1"/>
            <a:lstStyle xmlns:a="http://schemas.openxmlformats.org/drawingml/2006/main"/>
            <a:p xmlns:a="http://schemas.openxmlformats.org/drawingml/2006/main">
              <a:pPr>
                <a:defRPr sz="975">
                  <a:solidFill>
                    <a:srgbClr val="5B677A"/>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B677A"/>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BD5E1"/>
            </a:solidFill>
            <a:prstDash val="solid"/>
          </a:ln>
        </c:spPr>
        <c:txPr>
          <a:bodyPr xmlns:a="http://schemas.openxmlformats.org/drawingml/2006/main" anchorCtr="1"/>
          <a:lstStyle xmlns:a="http://schemas.openxmlformats.org/drawingml/2006/main"/>
          <a:p xmlns:a="http://schemas.openxmlformats.org/drawingml/2006/main">
            <a:pPr>
              <a:defRPr sz="1200">
                <a:solidFill>
                  <a:srgbClr val="0B1F33"/>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Precision</c:v>
          </c:tx>
          <c:spPr>
            <a:solidFill xmlns:a="http://schemas.openxmlformats.org/drawingml/2006/main">
              <a:srgbClr val="32B7C7"/>
            </a:solidFill>
          </c:spPr>
          <c:cat>
            <c:strLit>
              <c:ptCount val="6"/>
              <c:pt idx="0">
                <c:v>Circular</c:v>
              </c:pt>
              <c:pt idx="1">
                <c:v>Dormant</c:v>
              </c:pt>
              <c:pt idx="2">
                <c:v>Funnel</c:v>
              </c:pt>
              <c:pt idx="3">
                <c:v>High-risk geo</c:v>
              </c:pt>
              <c:pt idx="4">
                <c:v>Rapid move</c:v>
              </c:pt>
              <c:pt idx="5">
                <c:v>Structuring</c:v>
              </c:pt>
            </c:strLit>
          </c:cat>
          <c:val>
            <c:numLit>
              <c:formatCode>General</c:formatCode>
              <c:ptCount val="6"/>
              <c:pt idx="0">
                <c:v>80</c:v>
              </c:pt>
              <c:pt idx="1">
                <c:v>60</c:v>
              </c:pt>
              <c:pt idx="2">
                <c:v>64.71</c:v>
              </c:pt>
              <c:pt idx="3">
                <c:v>66.67</c:v>
              </c:pt>
              <c:pt idx="4">
                <c:v>65.22</c:v>
              </c:pt>
              <c:pt idx="5">
                <c:v>65.22</c:v>
              </c:pt>
            </c:numLit>
          </c:val>
        </c:ser>
        <c:ser>
          <c:idx val="1"/>
          <c:order val="1"/>
          <c:tx>
            <c:v>Recall</c:v>
          </c:tx>
          <c:spPr>
            <a:solidFill xmlns:a="http://schemas.openxmlformats.org/drawingml/2006/main">
              <a:srgbClr val="15803D"/>
            </a:solidFill>
          </c:spPr>
          <c:cat>
            <c:strLit>
              <c:ptCount val="6"/>
              <c:pt idx="0">
                <c:v>Circular</c:v>
              </c:pt>
              <c:pt idx="1">
                <c:v>Dormant</c:v>
              </c:pt>
              <c:pt idx="2">
                <c:v>Funnel</c:v>
              </c:pt>
              <c:pt idx="3">
                <c:v>High-risk geo</c:v>
              </c:pt>
              <c:pt idx="4">
                <c:v>Rapid move</c:v>
              </c:pt>
              <c:pt idx="5">
                <c:v>Structuring</c:v>
              </c:pt>
            </c:strLit>
          </c:cat>
          <c:val>
            <c:numLit>
              <c:formatCode>General</c:formatCode>
              <c:ptCount val="6"/>
              <c:pt idx="0">
                <c:v>100</c:v>
              </c:pt>
              <c:pt idx="1">
                <c:v>100</c:v>
              </c:pt>
              <c:pt idx="2">
                <c:v>91.67</c:v>
              </c:pt>
              <c:pt idx="3">
                <c:v>100</c:v>
              </c:pt>
              <c:pt idx="4">
                <c:v>100</c:v>
              </c:pt>
              <c:pt idx="5">
                <c:v>100</c:v>
              </c:pt>
            </c:numLit>
          </c:val>
        </c:ser>
        <c:dLbls>
          <c:txPr>
            <a:bodyPr xmlns:a="http://schemas.openxmlformats.org/drawingml/2006/main" anchorCtr="1"/>
            <a:lstStyle xmlns:a="http://schemas.openxmlformats.org/drawingml/2006/main"/>
            <a:p xmlns:a="http://schemas.openxmlformats.org/drawingml/2006/main">
              <a:pPr>
                <a:defRPr sz="825">
                  <a:solidFill>
                    <a:srgbClr val="0B1F33"/>
                  </a:solidFill>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E1"/>
            </a:solidFill>
            <a:prstDash val="solid"/>
          </a:ln>
        </c:spPr>
        <c:txPr>
          <a:bodyPr xmlns:a="http://schemas.openxmlformats.org/drawingml/2006/main" anchorCtr="1"/>
          <a:lstStyle xmlns:a="http://schemas.openxmlformats.org/drawingml/2006/main"/>
          <a:p xmlns:a="http://schemas.openxmlformats.org/drawingml/2006/main">
            <a:pPr>
              <a:defRPr sz="975">
                <a:solidFill>
                  <a:srgbClr val="0B1F33"/>
                </a:solidFill>
              </a:defRPr>
            </a:pPr>
          </a:p>
        </c:txPr>
        <c:crossAx val="48672768"/>
      </c:catAx>
      <c:valAx>
        <c:axId val="48672768"/>
        <c:scaling>
          <c:orientation val="minMax"/>
          <c:max val="110"/>
          <c:min val="0"/>
        </c:scaling>
        <c:delete val="0"/>
        <c:axPos val="l"/>
        <c:majorGridlines>
          <c:spPr>
            <a:ln xmlns:a="http://schemas.openxmlformats.org/drawingml/2006/main" w="9525">
              <a:solidFill>
                <a:srgbClr val="CBD5E1"/>
              </a:solidFill>
              <a:prstDash val="solid"/>
            </a:ln>
          </c:spPr>
        </c:majorGridlines>
        <c:title>
          <c:tx>
            <c:rich>
              <a:bodyPr xmlns:a="http://schemas.openxmlformats.org/drawingml/2006/main"/>
              <a:lstStyle xmlns:a="http://schemas.openxmlformats.org/drawingml/2006/main"/>
              <a:p xmlns:a="http://schemas.openxmlformats.org/drawingml/2006/main">
                <a:r>
                  <a:rPr sz="975">
                    <a:solidFill>
                      <a:srgbClr val="5B677A"/>
                    </a:solidFill>
                  </a:rPr>
                  <a:t>Percent</a:t>
                </a:r>
              </a:p>
            </c:rich>
          </c:tx>
          <c:overlay val="0"/>
          <c:txPr>
            <a:bodyPr xmlns:a="http://schemas.openxmlformats.org/drawingml/2006/main" anchorCtr="1"/>
            <a:lstStyle xmlns:a="http://schemas.openxmlformats.org/drawingml/2006/main"/>
            <a:p xmlns:a="http://schemas.openxmlformats.org/drawingml/2006/main">
              <a:pPr>
                <a:defRPr sz="975">
                  <a:solidFill>
                    <a:srgbClr val="5B677A"/>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B677A"/>
                </a:solidFil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5B677A"/>
              </a:solidFill>
            </a:defRPr>
          </a:pPr>
        </a:p>
      </c:txPr>
    </c:legend>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barChart>
        <c:barDir val="col"/>
        <c:grouping val="clustered"/>
        <c:varyColors val="0"/>
        <c:ser>
          <c:idx val="0"/>
          <c:order val="0"/>
          <c:tx>
            <c:v>Cases</c:v>
          </c:tx>
          <c:spPr>
            <a:solidFill xmlns:a="http://schemas.openxmlformats.org/drawingml/2006/main">
              <a:srgbClr val="15803D"/>
            </a:solidFill>
          </c:spPr>
          <c:dPt>
            <c:idx val="1"/>
            <c:invertIfNegative val="0"/>
            <c:spPr>
              <a:solidFill xmlns:a="http://schemas.openxmlformats.org/drawingml/2006/main">
                <a:srgbClr val="D97706"/>
              </a:solidFill>
            </c:spPr>
          </c:dPt>
          <c:dPt>
            <c:idx val="2"/>
            <c:invertIfNegative val="0"/>
            <c:spPr>
              <a:solidFill xmlns:a="http://schemas.openxmlformats.org/drawingml/2006/main">
                <a:srgbClr val="0E7490"/>
              </a:solidFill>
            </c:spPr>
          </c:dPt>
          <c:cat>
            <c:strLit>
              <c:ptCount val="3"/>
              <c:pt idx="0">
                <c:v>Closed</c:v>
              </c:pt>
              <c:pt idx="1">
                <c:v>In review</c:v>
              </c:pt>
              <c:pt idx="2">
                <c:v>Open</c:v>
              </c:pt>
            </c:strLit>
          </c:cat>
          <c:val>
            <c:numLit>
              <c:formatCode>General</c:formatCode>
              <c:ptCount val="3"/>
              <c:pt idx="0">
                <c:v>76</c:v>
              </c:pt>
              <c:pt idx="1">
                <c:v>25</c:v>
              </c:pt>
              <c:pt idx="2">
                <c:v>25</c:v>
              </c:pt>
            </c:numLit>
          </c:val>
        </c:ser>
        <c:dLbls>
          <c:txPr>
            <a:bodyPr xmlns:a="http://schemas.openxmlformats.org/drawingml/2006/main" anchorCtr="1"/>
            <a:lstStyle xmlns:a="http://schemas.openxmlformats.org/drawingml/2006/main"/>
            <a:p xmlns:a="http://schemas.openxmlformats.org/drawingml/2006/main">
              <a:pPr>
                <a:defRPr sz="1200" b="1">
                  <a:solidFill>
                    <a:srgbClr val="0B1F33"/>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E1"/>
            </a:solidFill>
            <a:prstDash val="solid"/>
          </a:ln>
        </c:spPr>
        <c:txPr>
          <a:bodyPr xmlns:a="http://schemas.openxmlformats.org/drawingml/2006/main" anchorCtr="1"/>
          <a:lstStyle xmlns:a="http://schemas.openxmlformats.org/drawingml/2006/main"/>
          <a:p xmlns:a="http://schemas.openxmlformats.org/drawingml/2006/main">
            <a:pPr>
              <a:defRPr sz="1275">
                <a:solidFill>
                  <a:srgbClr val="0B1F33"/>
                </a:solidFill>
              </a:defRPr>
            </a:pPr>
          </a:p>
        </c:txPr>
        <c:crossAx val="48672768"/>
      </c:catAx>
      <c:valAx>
        <c:axId val="48672768"/>
        <c:scaling>
          <c:orientation val="minMax"/>
          <c:max val="85"/>
          <c:min val="0"/>
        </c:scaling>
        <c:delete val="0"/>
        <c:axPos val="l"/>
        <c:majorGridlines>
          <c:spPr>
            <a:ln xmlns:a="http://schemas.openxmlformats.org/drawingml/2006/main" w="9525">
              <a:solidFill>
                <a:srgbClr val="CBD5E1"/>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B677A"/>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CADF655-ECC6-4C9A-9CC1-5E7C42D45144}"/>
              </a:ext>
            </a:extLst>
          </p:cNvPr>
          <p:cNvSpPr>
            <a:spLocks xmlns:a="http://schemas.openxmlformats.org/drawingml/2006/main" noGrp="1"/>
          </p:cNvSpPr>
          <p:nvPr/>
        </p:nvSpPr>
        <p:spPr>
          <a:xfrm xmlns:a="http://schemas.openxmlformats.org/drawingml/2006/main">
            <a:off x="685800" y="4953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0E7490"/>
                </a:solidFill>
              </a:defRPr>
            </a:pPr>
            <a:r>
              <a:rPr sz="1125" b="1" i="0">
                <a:solidFill>
                  <a:srgbClr val="0E7490"/>
                </a:solidFill>
              </a:rPr>
              <a:t>AML EXECUTIVE DECISION PACK</a:t>
            </a:r>
          </a:p>
        </p:txBody>
      </p:sp>
      <p:sp>
        <p:nvSpPr>
          <p:cNvPr id="2" name="">
            <a:extLst xmlns:a="http://schemas.openxmlformats.org/drawingml/2006/main">
              <a:ext uri="{FF2B5EF4-FFF2-40B4-BE49-F238E27FC236}">
                <a16:creationId xmlns:a16="http://schemas.microsoft.com/office/drawing/2014/main" id="{1D46C568-8271-4F3F-B820-29C5756A0244}"/>
              </a:ext>
            </a:extLst>
          </p:cNvPr>
          <p:cNvSpPr>
            <a:spLocks xmlns:a="http://schemas.openxmlformats.org/drawingml/2006/main" noGrp="1"/>
          </p:cNvSpPr>
          <p:nvPr/>
        </p:nvSpPr>
        <p:spPr>
          <a:xfrm xmlns:a="http://schemas.openxmlformats.org/drawingml/2006/main">
            <a:off x="685800" y="952500"/>
            <a:ext cx="108204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7160FD3-775A-4699-976A-1755F3355228}"/>
              </a:ext>
            </a:extLst>
          </p:cNvPr>
          <p:cNvSpPr>
            <a:spLocks xmlns:a="http://schemas.openxmlformats.org/drawingml/2006/main" noGrp="1"/>
          </p:cNvSpPr>
          <p:nvPr/>
        </p:nvSpPr>
        <p:spPr>
          <a:xfrm xmlns:a="http://schemas.openxmlformats.org/drawingml/2006/main">
            <a:off x="685800" y="1676400"/>
            <a:ext cx="74295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500" b="1" i="0">
                <a:solidFill>
                  <a:srgbClr val="0B1F33"/>
                </a:solidFill>
              </a:defRPr>
            </a:pPr>
            <a:r>
              <a:rPr sz="4500" b="1" i="0">
                <a:solidFill>
                  <a:srgbClr val="0B1F33"/>
                </a:solidFill>
              </a:rPr>
              <a:t>Financial Crime &amp; AML</a:t>
            </a:r>
          </a:p>
          <a:p xmlns:a="http://schemas.openxmlformats.org/drawingml/2006/main">
            <a:pPr algn="l">
              <a:defRPr sz="4500" b="1" i="0">
                <a:solidFill>
                  <a:srgbClr val="0B1F33"/>
                </a:solidFill>
              </a:defRPr>
            </a:pPr>
            <a:r>
              <a:rPr sz="4500" b="1" i="0">
                <a:solidFill>
                  <a:srgbClr val="0B1F33"/>
                </a:solidFill>
              </a:rPr>
              <a:t>Intelligence Control Tower</a:t>
            </a:r>
          </a:p>
        </p:txBody>
      </p:sp>
      <p:sp>
        <p:nvSpPr>
          <p:cNvPr id="4" name="">
            <a:extLst xmlns:a="http://schemas.openxmlformats.org/drawingml/2006/main">
              <a:ext uri="{FF2B5EF4-FFF2-40B4-BE49-F238E27FC236}">
                <a16:creationId xmlns:a16="http://schemas.microsoft.com/office/drawing/2014/main" id="{D535F16E-8F76-46A2-8F86-49EDF471A4C7}"/>
              </a:ext>
            </a:extLst>
          </p:cNvPr>
          <p:cNvSpPr>
            <a:spLocks xmlns:a="http://schemas.openxmlformats.org/drawingml/2006/main" noGrp="1"/>
          </p:cNvSpPr>
          <p:nvPr/>
        </p:nvSpPr>
        <p:spPr>
          <a:xfrm xmlns:a="http://schemas.openxmlformats.org/drawingml/2006/main">
            <a:off x="685800" y="3676650"/>
            <a:ext cx="685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0" i="0">
                <a:solidFill>
                  <a:srgbClr val="5B677A"/>
                </a:solidFill>
              </a:defRPr>
            </a:pPr>
            <a:r>
              <a:rPr sz="1875" b="0" i="0">
                <a:solidFill>
                  <a:srgbClr val="5B677A"/>
                </a:solidFill>
              </a:rPr>
              <a:t>KYC risk, transaction monitoring, graph intelligence and human-led case governance</a:t>
            </a:r>
          </a:p>
        </p:txBody>
      </p:sp>
      <p:sp>
        <p:nvSpPr>
          <p:cNvPr id="5" name="">
            <a:extLst xmlns:a="http://schemas.openxmlformats.org/drawingml/2006/main">
              <a:ext uri="{FF2B5EF4-FFF2-40B4-BE49-F238E27FC236}">
                <a16:creationId xmlns:a16="http://schemas.microsoft.com/office/drawing/2014/main" id="{891C06E7-0A56-45AE-8258-F00A27F238BC}"/>
              </a:ext>
            </a:extLst>
          </p:cNvPr>
          <p:cNvSpPr>
            <a:spLocks xmlns:a="http://schemas.openxmlformats.org/drawingml/2006/main" noGrp="1"/>
          </p:cNvSpPr>
          <p:nvPr/>
        </p:nvSpPr>
        <p:spPr>
          <a:xfrm xmlns:a="http://schemas.openxmlformats.org/drawingml/2006/main">
            <a:off x="8763000" y="1524000"/>
            <a:ext cx="2743200" cy="358140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12119B6-3B96-482B-A34C-3289DFCC29C9}"/>
              </a:ext>
            </a:extLst>
          </p:cNvPr>
          <p:cNvSpPr>
            <a:spLocks xmlns:a="http://schemas.openxmlformats.org/drawingml/2006/main" noGrp="1"/>
          </p:cNvSpPr>
          <p:nvPr/>
        </p:nvSpPr>
        <p:spPr>
          <a:xfrm xmlns:a="http://schemas.openxmlformats.org/drawingml/2006/main">
            <a:off x="8763000" y="1524000"/>
            <a:ext cx="152400" cy="3581400"/>
          </a:xfrm>
          <a:prstGeom xmlns:a="http://schemas.openxmlformats.org/drawingml/2006/main" prst="rect">
            <a:avLst/>
          </a:prstGeom>
          <a:solidFill xmlns:a="http://schemas.openxmlformats.org/drawingml/2006/main">
            <a:srgbClr val="0E749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A188C7C-AB05-44DF-AA0B-78EE9C398500}"/>
              </a:ext>
            </a:extLst>
          </p:cNvPr>
          <p:cNvSpPr>
            <a:spLocks xmlns:a="http://schemas.openxmlformats.org/drawingml/2006/main" noGrp="1"/>
          </p:cNvSpPr>
          <p:nvPr/>
        </p:nvSpPr>
        <p:spPr>
          <a:xfrm xmlns:a="http://schemas.openxmlformats.org/drawingml/2006/main">
            <a:off x="9677400" y="2228850"/>
            <a:ext cx="108585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0E07EEC-E27D-4DF1-9364-73FE4FE05C5A}"/>
              </a:ext>
            </a:extLst>
          </p:cNvPr>
          <p:cNvSpPr>
            <a:spLocks xmlns:a="http://schemas.openxmlformats.org/drawingml/2006/main" noGrp="1"/>
          </p:cNvSpPr>
          <p:nvPr/>
        </p:nvSpPr>
        <p:spPr>
          <a:xfrm xmlns:a="http://schemas.openxmlformats.org/drawingml/2006/main">
            <a:off x="10668000" y="2533650"/>
            <a:ext cx="72390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A3BA2EC-8BD8-4F30-9867-77A92E268BDF}"/>
              </a:ext>
            </a:extLst>
          </p:cNvPr>
          <p:cNvSpPr>
            <a:spLocks xmlns:a="http://schemas.openxmlformats.org/drawingml/2006/main" noGrp="1"/>
          </p:cNvSpPr>
          <p:nvPr/>
        </p:nvSpPr>
        <p:spPr>
          <a:xfrm xmlns:a="http://schemas.openxmlformats.org/drawingml/2006/main">
            <a:off x="10039350" y="3219450"/>
            <a:ext cx="106680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09572C8-F5C5-43E2-9DE6-8843ECDA7B86}"/>
              </a:ext>
            </a:extLst>
          </p:cNvPr>
          <p:cNvSpPr>
            <a:spLocks xmlns:a="http://schemas.openxmlformats.org/drawingml/2006/main" noGrp="1"/>
          </p:cNvSpPr>
          <p:nvPr/>
        </p:nvSpPr>
        <p:spPr>
          <a:xfrm xmlns:a="http://schemas.openxmlformats.org/drawingml/2006/main">
            <a:off x="11010900" y="3695700"/>
            <a:ext cx="158115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9E7DED8-82C4-4E6B-B7EB-89289C409FCE}"/>
              </a:ext>
            </a:extLst>
          </p:cNvPr>
          <p:cNvSpPr>
            <a:spLocks xmlns:a="http://schemas.openxmlformats.org/drawingml/2006/main" noGrp="1"/>
          </p:cNvSpPr>
          <p:nvPr/>
        </p:nvSpPr>
        <p:spPr>
          <a:xfrm xmlns:a="http://schemas.openxmlformats.org/drawingml/2006/main">
            <a:off x="9525000" y="4152900"/>
            <a:ext cx="108585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244C510-1923-4BD1-8915-5038437C8D0B}"/>
              </a:ext>
            </a:extLst>
          </p:cNvPr>
          <p:cNvSpPr>
            <a:spLocks xmlns:a="http://schemas.openxmlformats.org/drawingml/2006/main" noGrp="1"/>
          </p:cNvSpPr>
          <p:nvPr/>
        </p:nvSpPr>
        <p:spPr>
          <a:xfrm xmlns:a="http://schemas.openxmlformats.org/drawingml/2006/main">
            <a:off x="9525000" y="2076450"/>
            <a:ext cx="323850" cy="323850"/>
          </a:xfrm>
          <a:prstGeom xmlns:a="http://schemas.openxmlformats.org/drawingml/2006/main" prst="ellipse">
            <a:avLst/>
          </a:prstGeom>
          <a:solidFill xmlns:a="http://schemas.openxmlformats.org/drawingml/2006/main">
            <a:srgbClr val="0E749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4911B3F-D193-4207-AFF9-C352341C5B61}"/>
              </a:ext>
            </a:extLst>
          </p:cNvPr>
          <p:cNvSpPr>
            <a:spLocks xmlns:a="http://schemas.openxmlformats.org/drawingml/2006/main" noGrp="1"/>
          </p:cNvSpPr>
          <p:nvPr/>
        </p:nvSpPr>
        <p:spPr>
          <a:xfrm xmlns:a="http://schemas.openxmlformats.org/drawingml/2006/main">
            <a:off x="10515600" y="2381250"/>
            <a:ext cx="323850" cy="323850"/>
          </a:xfrm>
          <a:prstGeom xmlns:a="http://schemas.openxmlformats.org/drawingml/2006/main" prst="ellipse">
            <a:avLst/>
          </a:prstGeom>
          <a:solidFill xmlns:a="http://schemas.openxmlformats.org/drawingml/2006/main">
            <a:srgbClr val="0E749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9AAB283-F149-4B5D-9383-0852C40D2B42}"/>
              </a:ext>
            </a:extLst>
          </p:cNvPr>
          <p:cNvSpPr>
            <a:spLocks xmlns:a="http://schemas.openxmlformats.org/drawingml/2006/main" noGrp="1"/>
          </p:cNvSpPr>
          <p:nvPr/>
        </p:nvSpPr>
        <p:spPr>
          <a:xfrm xmlns:a="http://schemas.openxmlformats.org/drawingml/2006/main">
            <a:off x="9886950" y="3067050"/>
            <a:ext cx="323850" cy="323850"/>
          </a:xfrm>
          <a:prstGeom xmlns:a="http://schemas.openxmlformats.org/drawingml/2006/main" prst="ellipse">
            <a:avLst/>
          </a:prstGeom>
          <a:solidFill xmlns:a="http://schemas.openxmlformats.org/drawingml/2006/main">
            <a:srgbClr val="0E749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E171948-A1FB-4F82-99B5-B9EB2343FCDD}"/>
              </a:ext>
            </a:extLst>
          </p:cNvPr>
          <p:cNvSpPr>
            <a:spLocks xmlns:a="http://schemas.openxmlformats.org/drawingml/2006/main" noGrp="1"/>
          </p:cNvSpPr>
          <p:nvPr/>
        </p:nvSpPr>
        <p:spPr>
          <a:xfrm xmlns:a="http://schemas.openxmlformats.org/drawingml/2006/main">
            <a:off x="10858500" y="3543300"/>
            <a:ext cx="323850" cy="323850"/>
          </a:xfrm>
          <a:prstGeom xmlns:a="http://schemas.openxmlformats.org/drawingml/2006/main" prst="ellipse">
            <a:avLst/>
          </a:prstGeom>
          <a:solidFill xmlns:a="http://schemas.openxmlformats.org/drawingml/2006/main">
            <a:srgbClr val="0E749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7C8B5BD-A884-4C98-B9CC-97A371D956F6}"/>
              </a:ext>
            </a:extLst>
          </p:cNvPr>
          <p:cNvSpPr>
            <a:spLocks xmlns:a="http://schemas.openxmlformats.org/drawingml/2006/main" noGrp="1"/>
          </p:cNvSpPr>
          <p:nvPr/>
        </p:nvSpPr>
        <p:spPr>
          <a:xfrm xmlns:a="http://schemas.openxmlformats.org/drawingml/2006/main">
            <a:off x="9372600" y="4000500"/>
            <a:ext cx="323850" cy="323850"/>
          </a:xfrm>
          <a:prstGeom xmlns:a="http://schemas.openxmlformats.org/drawingml/2006/main" prst="ellipse">
            <a:avLst/>
          </a:prstGeom>
          <a:solidFill xmlns:a="http://schemas.openxmlformats.org/drawingml/2006/main">
            <a:srgbClr val="0E749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1A481DA-CE97-4FE8-97C5-5639B5E132BD}"/>
              </a:ext>
            </a:extLst>
          </p:cNvPr>
          <p:cNvSpPr>
            <a:spLocks xmlns:a="http://schemas.openxmlformats.org/drawingml/2006/main" noGrp="1"/>
          </p:cNvSpPr>
          <p:nvPr/>
        </p:nvSpPr>
        <p:spPr>
          <a:xfrm xmlns:a="http://schemas.openxmlformats.org/drawingml/2006/main">
            <a:off x="10363200" y="4514850"/>
            <a:ext cx="323850" cy="323850"/>
          </a:xfrm>
          <a:prstGeom xmlns:a="http://schemas.openxmlformats.org/drawingml/2006/main" prst="ellipse">
            <a:avLst/>
          </a:prstGeom>
          <a:solidFill xmlns:a="http://schemas.openxmlformats.org/drawingml/2006/main">
            <a:srgbClr val="0E749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6199497-067A-4C7F-B9F6-B1265F2BA9D0}"/>
              </a:ext>
            </a:extLst>
          </p:cNvPr>
          <p:cNvSpPr>
            <a:spLocks xmlns:a="http://schemas.openxmlformats.org/drawingml/2006/main" noGrp="1"/>
          </p:cNvSpPr>
          <p:nvPr/>
        </p:nvSpPr>
        <p:spPr>
          <a:xfrm xmlns:a="http://schemas.openxmlformats.org/drawingml/2006/main">
            <a:off x="9201150" y="52197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i="0">
                <a:solidFill>
                  <a:srgbClr val="5B677A"/>
                </a:solidFill>
              </a:defRPr>
            </a:pPr>
            <a:r>
              <a:rPr sz="900" b="1" i="0">
                <a:solidFill>
                  <a:srgbClr val="5B677A"/>
                </a:solidFill>
              </a:rPr>
              <a:t>CONTROLLED SYNTHETIC DATA</a:t>
            </a:r>
          </a:p>
        </p:txBody>
      </p:sp>
      <p:sp>
        <p:nvSpPr>
          <p:cNvPr id="19" name="">
            <a:extLst xmlns:a="http://schemas.openxmlformats.org/drawingml/2006/main">
              <a:ext uri="{FF2B5EF4-FFF2-40B4-BE49-F238E27FC236}">
                <a16:creationId xmlns:a16="http://schemas.microsoft.com/office/drawing/2014/main" id="{08E2634A-094D-430C-BDEF-68ACE67187F8}"/>
              </a:ext>
            </a:extLst>
          </p:cNvPr>
          <p:cNvSpPr>
            <a:spLocks xmlns:a="http://schemas.openxmlformats.org/drawingml/2006/main" noGrp="1"/>
          </p:cNvSpPr>
          <p:nvPr/>
        </p:nvSpPr>
        <p:spPr>
          <a:xfrm xmlns:a="http://schemas.openxmlformats.org/drawingml/2006/main">
            <a:off x="685800" y="592455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i="0">
                <a:solidFill>
                  <a:srgbClr val="5B677A"/>
                </a:solidFill>
              </a:defRPr>
            </a:pPr>
            <a:r>
              <a:rPr sz="1200" b="0" i="0">
                <a:solidFill>
                  <a:srgbClr val="5B677A"/>
                </a:solidFill>
              </a:rPr>
              <a:t>Prepared by Murat Miraç Gedik | Portfolio demonstration</a:t>
            </a:r>
          </a:p>
        </p:txBody>
      </p:sp>
      <p:sp>
        <p:nvSpPr>
          <p:cNvPr id="20" name="">
            <a:extLst xmlns:a="http://schemas.openxmlformats.org/drawingml/2006/main">
              <a:ext uri="{FF2B5EF4-FFF2-40B4-BE49-F238E27FC236}">
                <a16:creationId xmlns:a16="http://schemas.microsoft.com/office/drawing/2014/main" id="{6F37F6B3-2973-4DD0-A8DD-D90FE830FE8A}"/>
              </a:ext>
            </a:extLst>
          </p:cNvPr>
          <p:cNvSpPr>
            <a:spLocks xmlns:a="http://schemas.openxmlformats.org/drawingml/2006/main" noGrp="1"/>
          </p:cNvSpPr>
          <p:nvPr/>
        </p:nvSpPr>
        <p:spPr>
          <a:xfrm xmlns:a="http://schemas.openxmlformats.org/drawingml/2006/main">
            <a:off x="10001250" y="5924550"/>
            <a:ext cx="1504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1" i="0">
                <a:solidFill>
                  <a:srgbClr val="0B1F33"/>
                </a:solidFill>
              </a:defRPr>
            </a:pPr>
            <a:r>
              <a:rPr sz="1200" b="1" i="0">
                <a:solidFill>
                  <a:srgbClr val="0B1F33"/>
                </a:solidFill>
              </a:rPr>
              <a:t>20 AUG 2026</a:t>
            </a:r>
          </a:p>
        </p:txBody>
      </p:sp>
    </p:spTree>
    <p:extLst>
      <p:ext uri="{BB962C8B-B14F-4D97-AF65-F5344CB8AC3E}">
        <p14:creationId xmlns:p14="http://schemas.microsoft.com/office/powerpoint/2010/main" val="107194513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7C5F1CD-2790-4A38-9032-B90A1C077B54}"/>
              </a:ext>
            </a:extLst>
          </p:cNvPr>
          <p:cNvSpPr>
            <a:spLocks xmlns:a="http://schemas.openxmlformats.org/drawingml/2006/main" noGrp="1"/>
          </p:cNvSpPr>
          <p:nvPr/>
        </p:nvSpPr>
        <p:spPr>
          <a:xfrm xmlns:a="http://schemas.openxmlformats.org/drawingml/2006/main">
            <a:off x="685800" y="26670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B677A"/>
                </a:solidFill>
              </a:defRPr>
            </a:pPr>
            <a:r>
              <a:rPr sz="975" b="1" i="0">
                <a:solidFill>
                  <a:srgbClr val="5B677A"/>
                </a:solidFill>
              </a:rPr>
              <a:t>AURELIA BANK | FINANCIAL CRIME &amp; AML</a:t>
            </a:r>
          </a:p>
        </p:txBody>
      </p:sp>
      <p:sp>
        <p:nvSpPr>
          <p:cNvPr id="2" name="">
            <a:extLst xmlns:a="http://schemas.openxmlformats.org/drawingml/2006/main">
              <a:ext uri="{FF2B5EF4-FFF2-40B4-BE49-F238E27FC236}">
                <a16:creationId xmlns:a16="http://schemas.microsoft.com/office/drawing/2014/main" id="{F5F5FD1F-34F4-4EE1-95A2-2C3BD9C7253E}"/>
              </a:ext>
            </a:extLst>
          </p:cNvPr>
          <p:cNvSpPr>
            <a:spLocks xmlns:a="http://schemas.openxmlformats.org/drawingml/2006/main" noGrp="1"/>
          </p:cNvSpPr>
          <p:nvPr/>
        </p:nvSpPr>
        <p:spPr>
          <a:xfrm xmlns:a="http://schemas.openxmlformats.org/drawingml/2006/main">
            <a:off x="11049000" y="2667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5B677A"/>
                </a:solidFill>
              </a:defRPr>
            </a:pPr>
            <a:r>
              <a:rPr sz="975" b="1" i="0">
                <a:solidFill>
                  <a:srgbClr val="5B677A"/>
                </a:solidFill>
              </a:rPr>
              <a:t>02</a:t>
            </a:r>
          </a:p>
        </p:txBody>
      </p:sp>
      <p:sp>
        <p:nvSpPr>
          <p:cNvPr id="3" name="">
            <a:extLst xmlns:a="http://schemas.openxmlformats.org/drawingml/2006/main">
              <a:ext uri="{FF2B5EF4-FFF2-40B4-BE49-F238E27FC236}">
                <a16:creationId xmlns:a16="http://schemas.microsoft.com/office/drawing/2014/main" id="{9339FF9E-6197-4FF4-9525-83D889085BB4}"/>
              </a:ext>
            </a:extLst>
          </p:cNvPr>
          <p:cNvSpPr>
            <a:spLocks xmlns:a="http://schemas.openxmlformats.org/drawingml/2006/main" noGrp="1"/>
          </p:cNvSpPr>
          <p:nvPr/>
        </p:nvSpPr>
        <p:spPr>
          <a:xfrm xmlns:a="http://schemas.openxmlformats.org/drawingml/2006/main">
            <a:off x="685800" y="552450"/>
            <a:ext cx="108204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4C6C6C4-9052-4075-95F9-9D2F4D7E6568}"/>
              </a:ext>
            </a:extLst>
          </p:cNvPr>
          <p:cNvSpPr>
            <a:spLocks xmlns:a="http://schemas.openxmlformats.org/drawingml/2006/main" noGrp="1"/>
          </p:cNvSpPr>
          <p:nvPr/>
        </p:nvSpPr>
        <p:spPr>
          <a:xfrm xmlns:a="http://schemas.openxmlformats.org/drawingml/2006/main">
            <a:off x="685800" y="6515100"/>
            <a:ext cx="942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5B677A"/>
                </a:solidFill>
              </a:defRPr>
            </a:pPr>
            <a:r>
              <a:rPr sz="825" b="0" i="0">
                <a:solidFill>
                  <a:srgbClr val="5B677A"/>
                </a:solidFill>
              </a:rPr>
              <a:t>Source: verified Aurelia analytical snapshot; internal management parameters</a:t>
            </a:r>
          </a:p>
        </p:txBody>
      </p:sp>
      <p:sp>
        <p:nvSpPr>
          <p:cNvPr id="5" name="">
            <a:extLst xmlns:a="http://schemas.openxmlformats.org/drawingml/2006/main">
              <a:ext uri="{FF2B5EF4-FFF2-40B4-BE49-F238E27FC236}">
                <a16:creationId xmlns:a16="http://schemas.microsoft.com/office/drawing/2014/main" id="{4C8CE0A3-1146-4A60-B2D6-4ED9B1D74E48}"/>
              </a:ext>
            </a:extLst>
          </p:cNvPr>
          <p:cNvSpPr>
            <a:spLocks xmlns:a="http://schemas.openxmlformats.org/drawingml/2006/main" noGrp="1"/>
          </p:cNvSpPr>
          <p:nvPr/>
        </p:nvSpPr>
        <p:spPr>
          <a:xfrm xmlns:a="http://schemas.openxmlformats.org/drawingml/2006/main">
            <a:off x="10287000" y="6515100"/>
            <a:ext cx="1219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i="0">
                <a:solidFill>
                  <a:srgbClr val="5B677A"/>
                </a:solidFill>
              </a:defRPr>
            </a:pPr>
            <a:r>
              <a:rPr sz="825" b="0" i="0">
                <a:solidFill>
                  <a:srgbClr val="5B677A"/>
                </a:solidFill>
              </a:rPr>
              <a:t>20 AUG 2026</a:t>
            </a:r>
          </a:p>
        </p:txBody>
      </p:sp>
      <p:sp>
        <p:nvSpPr>
          <p:cNvPr id="6" name="">
            <a:extLst xmlns:a="http://schemas.openxmlformats.org/drawingml/2006/main">
              <a:ext uri="{FF2B5EF4-FFF2-40B4-BE49-F238E27FC236}">
                <a16:creationId xmlns:a16="http://schemas.microsoft.com/office/drawing/2014/main" id="{8429A960-07B4-4FF4-8252-6964C59F98CE}"/>
              </a:ext>
            </a:extLst>
          </p:cNvPr>
          <p:cNvSpPr>
            <a:spLocks xmlns:a="http://schemas.openxmlformats.org/drawingml/2006/main" noGrp="1"/>
          </p:cNvSpPr>
          <p:nvPr/>
        </p:nvSpPr>
        <p:spPr>
          <a:xfrm xmlns:a="http://schemas.openxmlformats.org/drawingml/2006/main">
            <a:off x="685800" y="7239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0B1F33"/>
                </a:solidFill>
              </a:defRPr>
            </a:pPr>
            <a:r>
              <a:rPr sz="3000" b="1" i="0">
                <a:solidFill>
                  <a:srgbClr val="0B1F33"/>
                </a:solidFill>
              </a:rPr>
              <a:t>Clear KYC backlog without weakening alert operations</a:t>
            </a:r>
          </a:p>
        </p:txBody>
      </p:sp>
      <p:sp>
        <p:nvSpPr>
          <p:cNvPr id="7" name="">
            <a:extLst xmlns:a="http://schemas.openxmlformats.org/drawingml/2006/main">
              <a:ext uri="{FF2B5EF4-FFF2-40B4-BE49-F238E27FC236}">
                <a16:creationId xmlns:a16="http://schemas.microsoft.com/office/drawing/2014/main" id="{BFE788C5-CA97-4FA9-BBE6-E612827B68B6}"/>
              </a:ext>
            </a:extLst>
          </p:cNvPr>
          <p:cNvSpPr>
            <a:spLocks xmlns:a="http://schemas.openxmlformats.org/drawingml/2006/main" noGrp="1"/>
          </p:cNvSpPr>
          <p:nvPr/>
        </p:nvSpPr>
        <p:spPr>
          <a:xfrm xmlns:a="http://schemas.openxmlformats.org/drawingml/2006/main">
            <a:off x="685800" y="12954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5B677A"/>
                </a:solidFill>
              </a:defRPr>
            </a:pPr>
            <a:r>
              <a:rPr sz="1350" b="0" i="0">
                <a:solidFill>
                  <a:srgbClr val="5B677A"/>
                </a:solidFill>
              </a:rPr>
              <a:t>One management breach is visible; the live investigation queue remains inside capacity and SLA.</a:t>
            </a:r>
          </a:p>
        </p:txBody>
      </p:sp>
      <p:sp>
        <p:nvSpPr>
          <p:cNvPr id="8" name="">
            <a:extLst xmlns:a="http://schemas.openxmlformats.org/drawingml/2006/main">
              <a:ext uri="{FF2B5EF4-FFF2-40B4-BE49-F238E27FC236}">
                <a16:creationId xmlns:a16="http://schemas.microsoft.com/office/drawing/2014/main" id="{0F0D9333-B6C6-4F94-BB8A-1EB758004D25}"/>
              </a:ext>
            </a:extLst>
          </p:cNvPr>
          <p:cNvSpPr>
            <a:spLocks xmlns:a="http://schemas.openxmlformats.org/drawingml/2006/main" noGrp="1"/>
          </p:cNvSpPr>
          <p:nvPr/>
        </p:nvSpPr>
        <p:spPr>
          <a:xfrm xmlns:a="http://schemas.openxmlformats.org/drawingml/2006/main">
            <a:off x="685800" y="1981200"/>
            <a:ext cx="3352800" cy="2076450"/>
          </a:xfrm>
          <a:prstGeom xmlns:a="http://schemas.openxmlformats.org/drawingml/2006/main" prst="rect">
            <a:avLst/>
          </a:prstGeom>
          <a:solidFill xmlns:a="http://schemas.openxmlformats.org/drawingml/2006/main">
            <a:srgbClr val="FDECE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C683712-45C0-4D40-8AE8-EB17DF54B67F}"/>
              </a:ext>
            </a:extLst>
          </p:cNvPr>
          <p:cNvSpPr>
            <a:spLocks xmlns:a="http://schemas.openxmlformats.org/drawingml/2006/main" noGrp="1"/>
          </p:cNvSpPr>
          <p:nvPr/>
        </p:nvSpPr>
        <p:spPr>
          <a:xfrm xmlns:a="http://schemas.openxmlformats.org/drawingml/2006/main">
            <a:off x="933450" y="21907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i="0">
                <a:solidFill>
                  <a:srgbClr val="C2413B"/>
                </a:solidFill>
              </a:defRPr>
            </a:pPr>
            <a:r>
              <a:rPr sz="3150" b="1" i="0">
                <a:solidFill>
                  <a:srgbClr val="C2413B"/>
                </a:solidFill>
              </a:rPr>
              <a:t>49.6%</a:t>
            </a:r>
          </a:p>
        </p:txBody>
      </p:sp>
      <p:sp>
        <p:nvSpPr>
          <p:cNvPr id="10" name="">
            <a:extLst xmlns:a="http://schemas.openxmlformats.org/drawingml/2006/main">
              <a:ext uri="{FF2B5EF4-FFF2-40B4-BE49-F238E27FC236}">
                <a16:creationId xmlns:a16="http://schemas.microsoft.com/office/drawing/2014/main" id="{5654ABF3-E184-4FDC-A03B-7BC9CD74ABFF}"/>
              </a:ext>
            </a:extLst>
          </p:cNvPr>
          <p:cNvSpPr>
            <a:spLocks xmlns:a="http://schemas.openxmlformats.org/drawingml/2006/main" noGrp="1"/>
          </p:cNvSpPr>
          <p:nvPr/>
        </p:nvSpPr>
        <p:spPr>
          <a:xfrm xmlns:a="http://schemas.openxmlformats.org/drawingml/2006/main">
            <a:off x="933450" y="28194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0B1F33"/>
                </a:solidFill>
              </a:defRPr>
            </a:pPr>
            <a:r>
              <a:rPr sz="1500" b="1" i="0">
                <a:solidFill>
                  <a:srgbClr val="0B1F33"/>
                </a:solidFill>
              </a:rPr>
              <a:t>KYC reviews overdue</a:t>
            </a:r>
          </a:p>
        </p:txBody>
      </p:sp>
      <p:sp>
        <p:nvSpPr>
          <p:cNvPr id="11" name="">
            <a:extLst xmlns:a="http://schemas.openxmlformats.org/drawingml/2006/main">
              <a:ext uri="{FF2B5EF4-FFF2-40B4-BE49-F238E27FC236}">
                <a16:creationId xmlns:a16="http://schemas.microsoft.com/office/drawing/2014/main" id="{68535A8C-F418-47CD-9791-A0472C001B1D}"/>
              </a:ext>
            </a:extLst>
          </p:cNvPr>
          <p:cNvSpPr>
            <a:spLocks xmlns:a="http://schemas.openxmlformats.org/drawingml/2006/main" noGrp="1"/>
          </p:cNvSpPr>
          <p:nvPr/>
        </p:nvSpPr>
        <p:spPr>
          <a:xfrm xmlns:a="http://schemas.openxmlformats.org/drawingml/2006/main">
            <a:off x="933450" y="3267075"/>
            <a:ext cx="28575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E322C53-A05F-4FF1-BF23-68F54FD8F6BF}"/>
              </a:ext>
            </a:extLst>
          </p:cNvPr>
          <p:cNvSpPr>
            <a:spLocks xmlns:a="http://schemas.openxmlformats.org/drawingml/2006/main" noGrp="1"/>
          </p:cNvSpPr>
          <p:nvPr/>
        </p:nvSpPr>
        <p:spPr>
          <a:xfrm xmlns:a="http://schemas.openxmlformats.org/drawingml/2006/main">
            <a:off x="933450" y="3419475"/>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i="0">
                <a:solidFill>
                  <a:srgbClr val="5B677A"/>
                </a:solidFill>
              </a:defRPr>
            </a:pPr>
            <a:r>
              <a:rPr sz="1125" b="0" i="0">
                <a:solidFill>
                  <a:srgbClr val="5B677A"/>
                </a:solidFill>
              </a:rPr>
              <a:t>892 customers vs 35% internal ceiling</a:t>
            </a:r>
          </a:p>
        </p:txBody>
      </p:sp>
      <p:sp>
        <p:nvSpPr>
          <p:cNvPr id="13" name="">
            <a:extLst xmlns:a="http://schemas.openxmlformats.org/drawingml/2006/main">
              <a:ext uri="{FF2B5EF4-FFF2-40B4-BE49-F238E27FC236}">
                <a16:creationId xmlns:a16="http://schemas.microsoft.com/office/drawing/2014/main" id="{8DD78126-2EFD-4926-8B78-1BE4BE3A75F3}"/>
              </a:ext>
            </a:extLst>
          </p:cNvPr>
          <p:cNvSpPr>
            <a:spLocks xmlns:a="http://schemas.openxmlformats.org/drawingml/2006/main" noGrp="1"/>
          </p:cNvSpPr>
          <p:nvPr/>
        </p:nvSpPr>
        <p:spPr>
          <a:xfrm xmlns:a="http://schemas.openxmlformats.org/drawingml/2006/main">
            <a:off x="4419600" y="1981200"/>
            <a:ext cx="3352800" cy="2076450"/>
          </a:xfrm>
          <a:prstGeom xmlns:a="http://schemas.openxmlformats.org/drawingml/2006/main" prst="rect">
            <a:avLst/>
          </a:prstGeom>
          <a:solidFill xmlns:a="http://schemas.openxmlformats.org/drawingml/2006/main">
            <a:srgbClr val="E8F5E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8DA12F7-C7BA-4AE1-BC8D-76D2B33D9651}"/>
              </a:ext>
            </a:extLst>
          </p:cNvPr>
          <p:cNvSpPr>
            <a:spLocks xmlns:a="http://schemas.openxmlformats.org/drawingml/2006/main" noGrp="1"/>
          </p:cNvSpPr>
          <p:nvPr/>
        </p:nvSpPr>
        <p:spPr>
          <a:xfrm xmlns:a="http://schemas.openxmlformats.org/drawingml/2006/main">
            <a:off x="4667250" y="21907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i="0">
                <a:solidFill>
                  <a:srgbClr val="15803D"/>
                </a:solidFill>
              </a:defRPr>
            </a:pPr>
            <a:r>
              <a:rPr sz="3150" b="1" i="0">
                <a:solidFill>
                  <a:srgbClr val="15803D"/>
                </a:solidFill>
              </a:rPr>
              <a:t>7.0%</a:t>
            </a:r>
          </a:p>
        </p:txBody>
      </p:sp>
      <p:sp>
        <p:nvSpPr>
          <p:cNvPr id="15" name="">
            <a:extLst xmlns:a="http://schemas.openxmlformats.org/drawingml/2006/main">
              <a:ext uri="{FF2B5EF4-FFF2-40B4-BE49-F238E27FC236}">
                <a16:creationId xmlns:a16="http://schemas.microsoft.com/office/drawing/2014/main" id="{6D795F9E-CA44-4B34-A3EA-95FBF47A09E9}"/>
              </a:ext>
            </a:extLst>
          </p:cNvPr>
          <p:cNvSpPr>
            <a:spLocks xmlns:a="http://schemas.openxmlformats.org/drawingml/2006/main" noGrp="1"/>
          </p:cNvSpPr>
          <p:nvPr/>
        </p:nvSpPr>
        <p:spPr>
          <a:xfrm xmlns:a="http://schemas.openxmlformats.org/drawingml/2006/main">
            <a:off x="4667250" y="28194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0B1F33"/>
                </a:solidFill>
              </a:defRPr>
            </a:pPr>
            <a:r>
              <a:rPr sz="1500" b="1" i="0">
                <a:solidFill>
                  <a:srgbClr val="0B1F33"/>
                </a:solidFill>
              </a:rPr>
              <a:t>Customer alert rate</a:t>
            </a:r>
          </a:p>
        </p:txBody>
      </p:sp>
      <p:sp>
        <p:nvSpPr>
          <p:cNvPr id="16" name="">
            <a:extLst xmlns:a="http://schemas.openxmlformats.org/drawingml/2006/main">
              <a:ext uri="{FF2B5EF4-FFF2-40B4-BE49-F238E27FC236}">
                <a16:creationId xmlns:a16="http://schemas.microsoft.com/office/drawing/2014/main" id="{10007947-2C95-4A6B-94E0-C26E1ADCE6C2}"/>
              </a:ext>
            </a:extLst>
          </p:cNvPr>
          <p:cNvSpPr>
            <a:spLocks xmlns:a="http://schemas.openxmlformats.org/drawingml/2006/main" noGrp="1"/>
          </p:cNvSpPr>
          <p:nvPr/>
        </p:nvSpPr>
        <p:spPr>
          <a:xfrm xmlns:a="http://schemas.openxmlformats.org/drawingml/2006/main">
            <a:off x="4667250" y="3267075"/>
            <a:ext cx="28575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A264005-E42A-4AA3-BA34-B94BF4E0DDFC}"/>
              </a:ext>
            </a:extLst>
          </p:cNvPr>
          <p:cNvSpPr>
            <a:spLocks xmlns:a="http://schemas.openxmlformats.org/drawingml/2006/main" noGrp="1"/>
          </p:cNvSpPr>
          <p:nvPr/>
        </p:nvSpPr>
        <p:spPr>
          <a:xfrm xmlns:a="http://schemas.openxmlformats.org/drawingml/2006/main">
            <a:off x="4667250" y="3419475"/>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i="0">
                <a:solidFill>
                  <a:srgbClr val="5B677A"/>
                </a:solidFill>
              </a:defRPr>
            </a:pPr>
            <a:r>
              <a:rPr sz="1125" b="0" i="0">
                <a:solidFill>
                  <a:srgbClr val="5B677A"/>
                </a:solidFill>
              </a:rPr>
              <a:t>126 of 1,800 customers; 12% ceiling</a:t>
            </a:r>
          </a:p>
        </p:txBody>
      </p:sp>
      <p:sp>
        <p:nvSpPr>
          <p:cNvPr id="18" name="">
            <a:extLst xmlns:a="http://schemas.openxmlformats.org/drawingml/2006/main">
              <a:ext uri="{FF2B5EF4-FFF2-40B4-BE49-F238E27FC236}">
                <a16:creationId xmlns:a16="http://schemas.microsoft.com/office/drawing/2014/main" id="{595C82C7-3444-47DA-812C-9959CDE7167E}"/>
              </a:ext>
            </a:extLst>
          </p:cNvPr>
          <p:cNvSpPr>
            <a:spLocks xmlns:a="http://schemas.openxmlformats.org/drawingml/2006/main" noGrp="1"/>
          </p:cNvSpPr>
          <p:nvPr/>
        </p:nvSpPr>
        <p:spPr>
          <a:xfrm xmlns:a="http://schemas.openxmlformats.org/drawingml/2006/main">
            <a:off x="8153400" y="1981200"/>
            <a:ext cx="3352800" cy="2076450"/>
          </a:xfrm>
          <a:prstGeom xmlns:a="http://schemas.openxmlformats.org/drawingml/2006/main" prst="rect">
            <a:avLst/>
          </a:prstGeom>
          <a:solidFill xmlns:a="http://schemas.openxmlformats.org/drawingml/2006/main">
            <a:srgbClr val="E8F5E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0BBA6EE-FA3D-4CA9-86FB-8B382AF92676}"/>
              </a:ext>
            </a:extLst>
          </p:cNvPr>
          <p:cNvSpPr>
            <a:spLocks xmlns:a="http://schemas.openxmlformats.org/drawingml/2006/main" noGrp="1"/>
          </p:cNvSpPr>
          <p:nvPr/>
        </p:nvSpPr>
        <p:spPr>
          <a:xfrm xmlns:a="http://schemas.openxmlformats.org/drawingml/2006/main">
            <a:off x="8401050" y="21907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i="0">
                <a:solidFill>
                  <a:srgbClr val="15803D"/>
                </a:solidFill>
              </a:defRPr>
            </a:pPr>
            <a:r>
              <a:rPr sz="3150" b="1" i="0">
                <a:solidFill>
                  <a:srgbClr val="15803D"/>
                </a:solidFill>
              </a:rPr>
              <a:t>0</a:t>
            </a:r>
          </a:p>
        </p:txBody>
      </p:sp>
      <p:sp>
        <p:nvSpPr>
          <p:cNvPr id="20" name="">
            <a:extLst xmlns:a="http://schemas.openxmlformats.org/drawingml/2006/main">
              <a:ext uri="{FF2B5EF4-FFF2-40B4-BE49-F238E27FC236}">
                <a16:creationId xmlns:a16="http://schemas.microsoft.com/office/drawing/2014/main" id="{99F292A0-6265-4785-8EAD-1CE96DECB058}"/>
              </a:ext>
            </a:extLst>
          </p:cNvPr>
          <p:cNvSpPr>
            <a:spLocks xmlns:a="http://schemas.openxmlformats.org/drawingml/2006/main" noGrp="1"/>
          </p:cNvSpPr>
          <p:nvPr/>
        </p:nvSpPr>
        <p:spPr>
          <a:xfrm xmlns:a="http://schemas.openxmlformats.org/drawingml/2006/main">
            <a:off x="8401050" y="28194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0B1F33"/>
                </a:solidFill>
              </a:defRPr>
            </a:pPr>
            <a:r>
              <a:rPr sz="1500" b="1" i="0">
                <a:solidFill>
                  <a:srgbClr val="0B1F33"/>
                </a:solidFill>
              </a:rPr>
              <a:t>Open SLA breaches</a:t>
            </a:r>
          </a:p>
        </p:txBody>
      </p:sp>
      <p:sp>
        <p:nvSpPr>
          <p:cNvPr id="21" name="">
            <a:extLst xmlns:a="http://schemas.openxmlformats.org/drawingml/2006/main">
              <a:ext uri="{FF2B5EF4-FFF2-40B4-BE49-F238E27FC236}">
                <a16:creationId xmlns:a16="http://schemas.microsoft.com/office/drawing/2014/main" id="{EE2FAEFB-7A74-4011-B7C7-E2324643F303}"/>
              </a:ext>
            </a:extLst>
          </p:cNvPr>
          <p:cNvSpPr>
            <a:spLocks xmlns:a="http://schemas.openxmlformats.org/drawingml/2006/main" noGrp="1"/>
          </p:cNvSpPr>
          <p:nvPr/>
        </p:nvSpPr>
        <p:spPr>
          <a:xfrm xmlns:a="http://schemas.openxmlformats.org/drawingml/2006/main">
            <a:off x="8401050" y="3267075"/>
            <a:ext cx="28575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8D6E34E-8B11-43B2-B14F-B8D786DC931E}"/>
              </a:ext>
            </a:extLst>
          </p:cNvPr>
          <p:cNvSpPr>
            <a:spLocks xmlns:a="http://schemas.openxmlformats.org/drawingml/2006/main" noGrp="1"/>
          </p:cNvSpPr>
          <p:nvPr/>
        </p:nvSpPr>
        <p:spPr>
          <a:xfrm xmlns:a="http://schemas.openxmlformats.org/drawingml/2006/main">
            <a:off x="8401050" y="3419475"/>
            <a:ext cx="285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i="0">
                <a:solidFill>
                  <a:srgbClr val="5B677A"/>
                </a:solidFill>
              </a:defRPr>
            </a:pPr>
            <a:r>
              <a:rPr sz="1125" b="0" i="0">
                <a:solidFill>
                  <a:srgbClr val="5B677A"/>
                </a:solidFill>
              </a:rPr>
              <a:t>50 open / in-review cases</a:t>
            </a:r>
          </a:p>
        </p:txBody>
      </p:sp>
      <p:sp>
        <p:nvSpPr>
          <p:cNvPr id="23" name="">
            <a:extLst xmlns:a="http://schemas.openxmlformats.org/drawingml/2006/main">
              <a:ext uri="{FF2B5EF4-FFF2-40B4-BE49-F238E27FC236}">
                <a16:creationId xmlns:a16="http://schemas.microsoft.com/office/drawing/2014/main" id="{A1E9E32C-7895-4C54-8CE2-33DCAD74E5AF}"/>
              </a:ext>
            </a:extLst>
          </p:cNvPr>
          <p:cNvSpPr>
            <a:spLocks xmlns:a="http://schemas.openxmlformats.org/drawingml/2006/main" noGrp="1"/>
          </p:cNvSpPr>
          <p:nvPr/>
        </p:nvSpPr>
        <p:spPr>
          <a:xfrm xmlns:a="http://schemas.openxmlformats.org/drawingml/2006/main">
            <a:off x="685800" y="4552950"/>
            <a:ext cx="10820400" cy="1162050"/>
          </a:xfrm>
          <a:prstGeom xmlns:a="http://schemas.openxmlformats.org/drawingml/2006/main" prst="rect">
            <a:avLst/>
          </a:prstGeom>
          <a:solidFill xmlns:a="http://schemas.openxmlformats.org/drawingml/2006/main">
            <a:srgbClr val="0B1F3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A5EA100-C9FA-45D0-BA74-AF143DA7F7B0}"/>
              </a:ext>
            </a:extLst>
          </p:cNvPr>
          <p:cNvSpPr>
            <a:spLocks xmlns:a="http://schemas.openxmlformats.org/drawingml/2006/main" noGrp="1"/>
          </p:cNvSpPr>
          <p:nvPr/>
        </p:nvSpPr>
        <p:spPr>
          <a:xfrm xmlns:a="http://schemas.openxmlformats.org/drawingml/2006/main">
            <a:off x="990600" y="47053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32B7C7"/>
                </a:solidFill>
              </a:defRPr>
            </a:pPr>
            <a:r>
              <a:rPr sz="1050" b="1" i="0">
                <a:solidFill>
                  <a:srgbClr val="32B7C7"/>
                </a:solidFill>
              </a:rPr>
              <a:t>DECISION REQUIRED</a:t>
            </a:r>
          </a:p>
        </p:txBody>
      </p:sp>
      <p:sp>
        <p:nvSpPr>
          <p:cNvPr id="25" name="">
            <a:extLst xmlns:a="http://schemas.openxmlformats.org/drawingml/2006/main">
              <a:ext uri="{FF2B5EF4-FFF2-40B4-BE49-F238E27FC236}">
                <a16:creationId xmlns:a16="http://schemas.microsoft.com/office/drawing/2014/main" id="{68E89E9B-0157-452A-92FE-1F0914D45FD9}"/>
              </a:ext>
            </a:extLst>
          </p:cNvPr>
          <p:cNvSpPr>
            <a:spLocks xmlns:a="http://schemas.openxmlformats.org/drawingml/2006/main" noGrp="1"/>
          </p:cNvSpPr>
          <p:nvPr/>
        </p:nvSpPr>
        <p:spPr>
          <a:xfrm xmlns:a="http://schemas.openxmlformats.org/drawingml/2006/main">
            <a:off x="990600" y="5048250"/>
            <a:ext cx="10134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FFFFFF"/>
                </a:solidFill>
              </a:defRPr>
            </a:pPr>
            <a:r>
              <a:rPr sz="1875" b="1" i="0">
                <a:solidFill>
                  <a:srgbClr val="FFFFFF"/>
                </a:solidFill>
              </a:rPr>
              <a:t>Prioritise overdue reviews for alerted and High-KYC-risk customers; protect existing analyst capacity and weekly SLA control.</a:t>
            </a:r>
          </a:p>
        </p:txBody>
      </p:sp>
    </p:spTree>
    <p:extLst>
      <p:ext uri="{BB962C8B-B14F-4D97-AF65-F5344CB8AC3E}">
        <p14:creationId xmlns:p14="http://schemas.microsoft.com/office/powerpoint/2010/main" val="9531586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BD47583-C711-47C6-9F10-2AB012D7FFEB}"/>
              </a:ext>
            </a:extLst>
          </p:cNvPr>
          <p:cNvSpPr>
            <a:spLocks xmlns:a="http://schemas.openxmlformats.org/drawingml/2006/main" noGrp="1"/>
          </p:cNvSpPr>
          <p:nvPr/>
        </p:nvSpPr>
        <p:spPr>
          <a:xfrm xmlns:a="http://schemas.openxmlformats.org/drawingml/2006/main">
            <a:off x="685800" y="26670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B677A"/>
                </a:solidFill>
              </a:defRPr>
            </a:pPr>
            <a:r>
              <a:rPr sz="975" b="1" i="0">
                <a:solidFill>
                  <a:srgbClr val="5B677A"/>
                </a:solidFill>
              </a:rPr>
              <a:t>AURELIA BANK | FINANCIAL CRIME &amp; AML</a:t>
            </a:r>
          </a:p>
        </p:txBody>
      </p:sp>
      <p:sp>
        <p:nvSpPr>
          <p:cNvPr id="2" name="">
            <a:extLst xmlns:a="http://schemas.openxmlformats.org/drawingml/2006/main">
              <a:ext uri="{FF2B5EF4-FFF2-40B4-BE49-F238E27FC236}">
                <a16:creationId xmlns:a16="http://schemas.microsoft.com/office/drawing/2014/main" id="{6F572D9D-968D-4D3B-9DD8-69F8A4194D33}"/>
              </a:ext>
            </a:extLst>
          </p:cNvPr>
          <p:cNvSpPr>
            <a:spLocks xmlns:a="http://schemas.openxmlformats.org/drawingml/2006/main" noGrp="1"/>
          </p:cNvSpPr>
          <p:nvPr/>
        </p:nvSpPr>
        <p:spPr>
          <a:xfrm xmlns:a="http://schemas.openxmlformats.org/drawingml/2006/main">
            <a:off x="11049000" y="2667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5B677A"/>
                </a:solidFill>
              </a:defRPr>
            </a:pPr>
            <a:r>
              <a:rPr sz="975" b="1" i="0">
                <a:solidFill>
                  <a:srgbClr val="5B677A"/>
                </a:solidFill>
              </a:rPr>
              <a:t>03</a:t>
            </a:r>
          </a:p>
        </p:txBody>
      </p:sp>
      <p:sp>
        <p:nvSpPr>
          <p:cNvPr id="3" name="">
            <a:extLst xmlns:a="http://schemas.openxmlformats.org/drawingml/2006/main">
              <a:ext uri="{FF2B5EF4-FFF2-40B4-BE49-F238E27FC236}">
                <a16:creationId xmlns:a16="http://schemas.microsoft.com/office/drawing/2014/main" id="{0579C035-01BA-40E6-B595-2FA10E359DA3}"/>
              </a:ext>
            </a:extLst>
          </p:cNvPr>
          <p:cNvSpPr>
            <a:spLocks xmlns:a="http://schemas.openxmlformats.org/drawingml/2006/main" noGrp="1"/>
          </p:cNvSpPr>
          <p:nvPr/>
        </p:nvSpPr>
        <p:spPr>
          <a:xfrm xmlns:a="http://schemas.openxmlformats.org/drawingml/2006/main">
            <a:off x="685800" y="552450"/>
            <a:ext cx="108204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5F1FED6-5605-494A-8BFA-1E8ADA79B799}"/>
              </a:ext>
            </a:extLst>
          </p:cNvPr>
          <p:cNvSpPr>
            <a:spLocks xmlns:a="http://schemas.openxmlformats.org/drawingml/2006/main" noGrp="1"/>
          </p:cNvSpPr>
          <p:nvPr/>
        </p:nvSpPr>
        <p:spPr>
          <a:xfrm xmlns:a="http://schemas.openxmlformats.org/drawingml/2006/main">
            <a:off x="685800" y="6515100"/>
            <a:ext cx="942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5B677A"/>
                </a:solidFill>
              </a:defRPr>
            </a:pPr>
            <a:r>
              <a:rPr sz="825" b="0" i="0">
                <a:solidFill>
                  <a:srgbClr val="5B677A"/>
                </a:solidFill>
              </a:rPr>
              <a:t>Source: repository architecture and governance design</a:t>
            </a:r>
          </a:p>
        </p:txBody>
      </p:sp>
      <p:sp>
        <p:nvSpPr>
          <p:cNvPr id="5" name="">
            <a:extLst xmlns:a="http://schemas.openxmlformats.org/drawingml/2006/main">
              <a:ext uri="{FF2B5EF4-FFF2-40B4-BE49-F238E27FC236}">
                <a16:creationId xmlns:a16="http://schemas.microsoft.com/office/drawing/2014/main" id="{7A954508-181A-4C8F-B8A0-286435194E56}"/>
              </a:ext>
            </a:extLst>
          </p:cNvPr>
          <p:cNvSpPr>
            <a:spLocks xmlns:a="http://schemas.openxmlformats.org/drawingml/2006/main" noGrp="1"/>
          </p:cNvSpPr>
          <p:nvPr/>
        </p:nvSpPr>
        <p:spPr>
          <a:xfrm xmlns:a="http://schemas.openxmlformats.org/drawingml/2006/main">
            <a:off x="10287000" y="6515100"/>
            <a:ext cx="1219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i="0">
                <a:solidFill>
                  <a:srgbClr val="5B677A"/>
                </a:solidFill>
              </a:defRPr>
            </a:pPr>
            <a:r>
              <a:rPr sz="825" b="0" i="0">
                <a:solidFill>
                  <a:srgbClr val="5B677A"/>
                </a:solidFill>
              </a:rPr>
              <a:t>20 AUG 2026</a:t>
            </a:r>
          </a:p>
        </p:txBody>
      </p:sp>
      <p:sp>
        <p:nvSpPr>
          <p:cNvPr id="6" name="">
            <a:extLst xmlns:a="http://schemas.openxmlformats.org/drawingml/2006/main">
              <a:ext uri="{FF2B5EF4-FFF2-40B4-BE49-F238E27FC236}">
                <a16:creationId xmlns:a16="http://schemas.microsoft.com/office/drawing/2014/main" id="{45AB1C56-04B0-459D-9B63-962B39C3E613}"/>
              </a:ext>
            </a:extLst>
          </p:cNvPr>
          <p:cNvSpPr>
            <a:spLocks xmlns:a="http://schemas.openxmlformats.org/drawingml/2006/main" noGrp="1"/>
          </p:cNvSpPr>
          <p:nvPr/>
        </p:nvSpPr>
        <p:spPr>
          <a:xfrm xmlns:a="http://schemas.openxmlformats.org/drawingml/2006/main">
            <a:off x="685800" y="7239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0B1F33"/>
                </a:solidFill>
              </a:defRPr>
            </a:pPr>
            <a:r>
              <a:rPr sz="3000" b="1" i="0">
                <a:solidFill>
                  <a:srgbClr val="0B1F33"/>
                </a:solidFill>
              </a:rPr>
              <a:t>Four signals converge—one human decision remains</a:t>
            </a:r>
          </a:p>
        </p:txBody>
      </p:sp>
      <p:sp>
        <p:nvSpPr>
          <p:cNvPr id="7" name="">
            <a:extLst xmlns:a="http://schemas.openxmlformats.org/drawingml/2006/main">
              <a:ext uri="{FF2B5EF4-FFF2-40B4-BE49-F238E27FC236}">
                <a16:creationId xmlns:a16="http://schemas.microsoft.com/office/drawing/2014/main" id="{AA472E51-4EB7-42BB-8DC9-84848E45A710}"/>
              </a:ext>
            </a:extLst>
          </p:cNvPr>
          <p:cNvSpPr>
            <a:spLocks xmlns:a="http://schemas.openxmlformats.org/drawingml/2006/main" noGrp="1"/>
          </p:cNvSpPr>
          <p:nvPr/>
        </p:nvSpPr>
        <p:spPr>
          <a:xfrm xmlns:a="http://schemas.openxmlformats.org/drawingml/2006/main">
            <a:off x="685800" y="12954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5B677A"/>
                </a:solidFill>
              </a:defRPr>
            </a:pPr>
            <a:r>
              <a:rPr sz="1350" b="0" i="0">
                <a:solidFill>
                  <a:srgbClr val="5B677A"/>
                </a:solidFill>
              </a:rPr>
              <a:t>Validation truth is separated and enters only after alerts are complete.</a:t>
            </a:r>
          </a:p>
        </p:txBody>
      </p:sp>
      <p:sp>
        <p:nvSpPr>
          <p:cNvPr id="8" name="">
            <a:extLst xmlns:a="http://schemas.openxmlformats.org/drawingml/2006/main">
              <a:ext uri="{FF2B5EF4-FFF2-40B4-BE49-F238E27FC236}">
                <a16:creationId xmlns:a16="http://schemas.microsoft.com/office/drawing/2014/main" id="{6275ABC7-D6BB-4B9E-9109-AD46054D045A}"/>
              </a:ext>
            </a:extLst>
          </p:cNvPr>
          <p:cNvSpPr>
            <a:spLocks xmlns:a="http://schemas.openxmlformats.org/drawingml/2006/main" noGrp="1"/>
          </p:cNvSpPr>
          <p:nvPr/>
        </p:nvSpPr>
        <p:spPr>
          <a:xfrm xmlns:a="http://schemas.openxmlformats.org/drawingml/2006/main">
            <a:off x="685800" y="2076450"/>
            <a:ext cx="1905000" cy="171450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3986081-F022-496E-AF73-39EC092DF2F3}"/>
              </a:ext>
            </a:extLst>
          </p:cNvPr>
          <p:cNvSpPr>
            <a:spLocks xmlns:a="http://schemas.openxmlformats.org/drawingml/2006/main" noGrp="1"/>
          </p:cNvSpPr>
          <p:nvPr/>
        </p:nvSpPr>
        <p:spPr>
          <a:xfrm xmlns:a="http://schemas.openxmlformats.org/drawingml/2006/main">
            <a:off x="914400" y="2305050"/>
            <a:ext cx="1447800" cy="323850"/>
          </a:xfrm>
          <a:prstGeom xmlns:a="http://schemas.openxmlformats.org/drawingml/2006/main" prst="roundRect">
            <a:avLst>
              <a:gd name="adj" fmla="val 23529"/>
            </a:avLst>
          </a:prstGeom>
          <a:solidFill xmlns:a="http://schemas.openxmlformats.org/drawingml/2006/main">
            <a:srgbClr val="0E749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D058FB8-F18F-44D5-B368-18479FC6E7C4}"/>
              </a:ext>
            </a:extLst>
          </p:cNvPr>
          <p:cNvSpPr>
            <a:spLocks xmlns:a="http://schemas.openxmlformats.org/drawingml/2006/main" noGrp="1"/>
          </p:cNvSpPr>
          <p:nvPr/>
        </p:nvSpPr>
        <p:spPr>
          <a:xfrm xmlns:a="http://schemas.openxmlformats.org/drawingml/2006/main">
            <a:off x="990600" y="2333625"/>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FFFFFF"/>
                </a:solidFill>
              </a:defRPr>
            </a:pPr>
            <a:r>
              <a:rPr sz="975" b="1" i="0">
                <a:solidFill>
                  <a:srgbClr val="FFFFFF"/>
                </a:solidFill>
              </a:rPr>
              <a:t>KYC</a:t>
            </a:r>
          </a:p>
        </p:txBody>
      </p:sp>
      <p:sp>
        <p:nvSpPr>
          <p:cNvPr id="11" name="">
            <a:extLst xmlns:a="http://schemas.openxmlformats.org/drawingml/2006/main">
              <a:ext uri="{FF2B5EF4-FFF2-40B4-BE49-F238E27FC236}">
                <a16:creationId xmlns:a16="http://schemas.microsoft.com/office/drawing/2014/main" id="{E323C80D-4472-4559-8CB8-45E8028C523B}"/>
              </a:ext>
            </a:extLst>
          </p:cNvPr>
          <p:cNvSpPr>
            <a:spLocks xmlns:a="http://schemas.openxmlformats.org/drawingml/2006/main" noGrp="1"/>
          </p:cNvSpPr>
          <p:nvPr/>
        </p:nvSpPr>
        <p:spPr>
          <a:xfrm xmlns:a="http://schemas.openxmlformats.org/drawingml/2006/main">
            <a:off x="914400" y="2857500"/>
            <a:ext cx="1447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0B1F33"/>
                </a:solidFill>
              </a:defRPr>
            </a:pPr>
            <a:r>
              <a:rPr sz="1425" b="1" i="0">
                <a:solidFill>
                  <a:srgbClr val="0B1F33"/>
                </a:solidFill>
              </a:rPr>
              <a:t>Inherent risk</a:t>
            </a:r>
          </a:p>
          <a:p xmlns:a="http://schemas.openxmlformats.org/drawingml/2006/main">
            <a:pPr algn="ctr">
              <a:defRPr sz="1425" b="1" i="0">
                <a:solidFill>
                  <a:srgbClr val="0B1F33"/>
                </a:solidFill>
              </a:defRPr>
            </a:pPr>
            <a:r>
              <a:rPr sz="1425" b="1" i="0">
                <a:solidFill>
                  <a:srgbClr val="0B1F33"/>
                </a:solidFill>
              </a:rPr>
              <a:t>and review freshness</a:t>
            </a:r>
          </a:p>
        </p:txBody>
      </p:sp>
      <p:sp>
        <p:nvSpPr>
          <p:cNvPr id="12" name="">
            <a:extLst xmlns:a="http://schemas.openxmlformats.org/drawingml/2006/main">
              <a:ext uri="{FF2B5EF4-FFF2-40B4-BE49-F238E27FC236}">
                <a16:creationId xmlns:a16="http://schemas.microsoft.com/office/drawing/2014/main" id="{EE59B964-24FB-4E1A-A7F3-E44F52563C60}"/>
              </a:ext>
            </a:extLst>
          </p:cNvPr>
          <p:cNvSpPr>
            <a:spLocks xmlns:a="http://schemas.openxmlformats.org/drawingml/2006/main" noGrp="1"/>
          </p:cNvSpPr>
          <p:nvPr/>
        </p:nvSpPr>
        <p:spPr>
          <a:xfrm xmlns:a="http://schemas.openxmlformats.org/drawingml/2006/main">
            <a:off x="2895600" y="2076450"/>
            <a:ext cx="1905000" cy="171450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A2849F4-5628-4F48-9572-3FAA174FF968}"/>
              </a:ext>
            </a:extLst>
          </p:cNvPr>
          <p:cNvSpPr>
            <a:spLocks xmlns:a="http://schemas.openxmlformats.org/drawingml/2006/main" noGrp="1"/>
          </p:cNvSpPr>
          <p:nvPr/>
        </p:nvSpPr>
        <p:spPr>
          <a:xfrm xmlns:a="http://schemas.openxmlformats.org/drawingml/2006/main">
            <a:off x="3124200" y="2305050"/>
            <a:ext cx="1447800" cy="323850"/>
          </a:xfrm>
          <a:prstGeom xmlns:a="http://schemas.openxmlformats.org/drawingml/2006/main" prst="roundRect">
            <a:avLst>
              <a:gd name="adj" fmla="val 23529"/>
            </a:avLst>
          </a:prstGeom>
          <a:solidFill xmlns:a="http://schemas.openxmlformats.org/drawingml/2006/main">
            <a:srgbClr val="0E749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1699BC0-14B9-482C-B58F-B4C4329769A6}"/>
              </a:ext>
            </a:extLst>
          </p:cNvPr>
          <p:cNvSpPr>
            <a:spLocks xmlns:a="http://schemas.openxmlformats.org/drawingml/2006/main" noGrp="1"/>
          </p:cNvSpPr>
          <p:nvPr/>
        </p:nvSpPr>
        <p:spPr>
          <a:xfrm xmlns:a="http://schemas.openxmlformats.org/drawingml/2006/main">
            <a:off x="3200400" y="2333625"/>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FFFFFF"/>
                </a:solidFill>
              </a:defRPr>
            </a:pPr>
            <a:r>
              <a:rPr sz="975" b="1" i="0">
                <a:solidFill>
                  <a:srgbClr val="FFFFFF"/>
                </a:solidFill>
              </a:rPr>
              <a:t>RULES</a:t>
            </a:r>
          </a:p>
        </p:txBody>
      </p:sp>
      <p:sp>
        <p:nvSpPr>
          <p:cNvPr id="15" name="">
            <a:extLst xmlns:a="http://schemas.openxmlformats.org/drawingml/2006/main">
              <a:ext uri="{FF2B5EF4-FFF2-40B4-BE49-F238E27FC236}">
                <a16:creationId xmlns:a16="http://schemas.microsoft.com/office/drawing/2014/main" id="{C391D6C2-FBB2-4AF3-9612-B14FF053A425}"/>
              </a:ext>
            </a:extLst>
          </p:cNvPr>
          <p:cNvSpPr>
            <a:spLocks xmlns:a="http://schemas.openxmlformats.org/drawingml/2006/main" noGrp="1"/>
          </p:cNvSpPr>
          <p:nvPr/>
        </p:nvSpPr>
        <p:spPr>
          <a:xfrm xmlns:a="http://schemas.openxmlformats.org/drawingml/2006/main">
            <a:off x="3124200" y="2857500"/>
            <a:ext cx="1447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0B1F33"/>
                </a:solidFill>
              </a:defRPr>
            </a:pPr>
            <a:r>
              <a:rPr sz="1425" b="1" i="0">
                <a:solidFill>
                  <a:srgbClr val="0B1F33"/>
                </a:solidFill>
              </a:rPr>
              <a:t>Six explainable</a:t>
            </a:r>
          </a:p>
          <a:p xmlns:a="http://schemas.openxmlformats.org/drawingml/2006/main">
            <a:pPr algn="ctr">
              <a:defRPr sz="1425" b="1" i="0">
                <a:solidFill>
                  <a:srgbClr val="0B1F33"/>
                </a:solidFill>
              </a:defRPr>
            </a:pPr>
            <a:r>
              <a:rPr sz="1425" b="1" i="0">
                <a:solidFill>
                  <a:srgbClr val="0B1F33"/>
                </a:solidFill>
              </a:rPr>
              <a:t>monitoring scenarios</a:t>
            </a:r>
          </a:p>
        </p:txBody>
      </p:sp>
      <p:sp>
        <p:nvSpPr>
          <p:cNvPr id="16" name="">
            <a:extLst xmlns:a="http://schemas.openxmlformats.org/drawingml/2006/main">
              <a:ext uri="{FF2B5EF4-FFF2-40B4-BE49-F238E27FC236}">
                <a16:creationId xmlns:a16="http://schemas.microsoft.com/office/drawing/2014/main" id="{9640D05B-B441-47A7-AE68-32B58B423BEA}"/>
              </a:ext>
            </a:extLst>
          </p:cNvPr>
          <p:cNvSpPr>
            <a:spLocks xmlns:a="http://schemas.openxmlformats.org/drawingml/2006/main" noGrp="1"/>
          </p:cNvSpPr>
          <p:nvPr/>
        </p:nvSpPr>
        <p:spPr>
          <a:xfrm xmlns:a="http://schemas.openxmlformats.org/drawingml/2006/main">
            <a:off x="5105400" y="2076450"/>
            <a:ext cx="1905000" cy="171450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A92ED9B-70DE-4345-A08B-39F56D7BCEF4}"/>
              </a:ext>
            </a:extLst>
          </p:cNvPr>
          <p:cNvSpPr>
            <a:spLocks xmlns:a="http://schemas.openxmlformats.org/drawingml/2006/main" noGrp="1"/>
          </p:cNvSpPr>
          <p:nvPr/>
        </p:nvSpPr>
        <p:spPr>
          <a:xfrm xmlns:a="http://schemas.openxmlformats.org/drawingml/2006/main">
            <a:off x="5334000" y="2305050"/>
            <a:ext cx="1447800" cy="323850"/>
          </a:xfrm>
          <a:prstGeom xmlns:a="http://schemas.openxmlformats.org/drawingml/2006/main" prst="roundRect">
            <a:avLst>
              <a:gd name="adj" fmla="val 23529"/>
            </a:avLst>
          </a:prstGeom>
          <a:solidFill xmlns:a="http://schemas.openxmlformats.org/drawingml/2006/main">
            <a:srgbClr val="0E749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90A918D-D129-4E20-92BE-88166CBA094A}"/>
              </a:ext>
            </a:extLst>
          </p:cNvPr>
          <p:cNvSpPr>
            <a:spLocks xmlns:a="http://schemas.openxmlformats.org/drawingml/2006/main" noGrp="1"/>
          </p:cNvSpPr>
          <p:nvPr/>
        </p:nvSpPr>
        <p:spPr>
          <a:xfrm xmlns:a="http://schemas.openxmlformats.org/drawingml/2006/main">
            <a:off x="5410200" y="2333625"/>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FFFFFF"/>
                </a:solidFill>
              </a:defRPr>
            </a:pPr>
            <a:r>
              <a:rPr sz="975" b="1" i="0">
                <a:solidFill>
                  <a:srgbClr val="FFFFFF"/>
                </a:solidFill>
              </a:rPr>
              <a:t>ANOMALY</a:t>
            </a:r>
          </a:p>
        </p:txBody>
      </p:sp>
      <p:sp>
        <p:nvSpPr>
          <p:cNvPr id="19" name="">
            <a:extLst xmlns:a="http://schemas.openxmlformats.org/drawingml/2006/main">
              <a:ext uri="{FF2B5EF4-FFF2-40B4-BE49-F238E27FC236}">
                <a16:creationId xmlns:a16="http://schemas.microsoft.com/office/drawing/2014/main" id="{15D42255-F90E-4A40-AEEC-D38A32724C9A}"/>
              </a:ext>
            </a:extLst>
          </p:cNvPr>
          <p:cNvSpPr>
            <a:spLocks xmlns:a="http://schemas.openxmlformats.org/drawingml/2006/main" noGrp="1"/>
          </p:cNvSpPr>
          <p:nvPr/>
        </p:nvSpPr>
        <p:spPr>
          <a:xfrm xmlns:a="http://schemas.openxmlformats.org/drawingml/2006/main">
            <a:off x="5334000" y="2857500"/>
            <a:ext cx="1447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0B1F33"/>
                </a:solidFill>
              </a:defRPr>
            </a:pPr>
            <a:r>
              <a:rPr sz="1425" b="1" i="0">
                <a:solidFill>
                  <a:srgbClr val="0B1F33"/>
                </a:solidFill>
              </a:rPr>
              <a:t>Eight behavioural</a:t>
            </a:r>
          </a:p>
          <a:p xmlns:a="http://schemas.openxmlformats.org/drawingml/2006/main">
            <a:pPr algn="ctr">
              <a:defRPr sz="1425" b="1" i="0">
                <a:solidFill>
                  <a:srgbClr val="0B1F33"/>
                </a:solidFill>
              </a:defRPr>
            </a:pPr>
            <a:r>
              <a:rPr sz="1425" b="1" i="0">
                <a:solidFill>
                  <a:srgbClr val="0B1F33"/>
                </a:solidFill>
              </a:rPr>
              <a:t>features</a:t>
            </a:r>
          </a:p>
        </p:txBody>
      </p:sp>
      <p:sp>
        <p:nvSpPr>
          <p:cNvPr id="20" name="">
            <a:extLst xmlns:a="http://schemas.openxmlformats.org/drawingml/2006/main">
              <a:ext uri="{FF2B5EF4-FFF2-40B4-BE49-F238E27FC236}">
                <a16:creationId xmlns:a16="http://schemas.microsoft.com/office/drawing/2014/main" id="{68819307-1589-4909-B8D0-769E2C32455C}"/>
              </a:ext>
            </a:extLst>
          </p:cNvPr>
          <p:cNvSpPr>
            <a:spLocks xmlns:a="http://schemas.openxmlformats.org/drawingml/2006/main" noGrp="1"/>
          </p:cNvSpPr>
          <p:nvPr/>
        </p:nvSpPr>
        <p:spPr>
          <a:xfrm xmlns:a="http://schemas.openxmlformats.org/drawingml/2006/main">
            <a:off x="7315200" y="2076450"/>
            <a:ext cx="1905000" cy="171450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B53B5CC-DE48-42A4-AB07-317D3C47DB75}"/>
              </a:ext>
            </a:extLst>
          </p:cNvPr>
          <p:cNvSpPr>
            <a:spLocks xmlns:a="http://schemas.openxmlformats.org/drawingml/2006/main" noGrp="1"/>
          </p:cNvSpPr>
          <p:nvPr/>
        </p:nvSpPr>
        <p:spPr>
          <a:xfrm xmlns:a="http://schemas.openxmlformats.org/drawingml/2006/main">
            <a:off x="7543800" y="2305050"/>
            <a:ext cx="1447800" cy="323850"/>
          </a:xfrm>
          <a:prstGeom xmlns:a="http://schemas.openxmlformats.org/drawingml/2006/main" prst="roundRect">
            <a:avLst>
              <a:gd name="adj" fmla="val 23529"/>
            </a:avLst>
          </a:prstGeom>
          <a:solidFill xmlns:a="http://schemas.openxmlformats.org/drawingml/2006/main">
            <a:srgbClr val="0E749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F3D5BE2-AD75-4A7A-B9EB-BF2CC82D516E}"/>
              </a:ext>
            </a:extLst>
          </p:cNvPr>
          <p:cNvSpPr>
            <a:spLocks xmlns:a="http://schemas.openxmlformats.org/drawingml/2006/main" noGrp="1"/>
          </p:cNvSpPr>
          <p:nvPr/>
        </p:nvSpPr>
        <p:spPr>
          <a:xfrm xmlns:a="http://schemas.openxmlformats.org/drawingml/2006/main">
            <a:off x="7620000" y="2333625"/>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FFFFFF"/>
                </a:solidFill>
              </a:defRPr>
            </a:pPr>
            <a:r>
              <a:rPr sz="975" b="1" i="0">
                <a:solidFill>
                  <a:srgbClr val="FFFFFF"/>
                </a:solidFill>
              </a:rPr>
              <a:t>GRAPH</a:t>
            </a:r>
          </a:p>
        </p:txBody>
      </p:sp>
      <p:sp>
        <p:nvSpPr>
          <p:cNvPr id="23" name="">
            <a:extLst xmlns:a="http://schemas.openxmlformats.org/drawingml/2006/main">
              <a:ext uri="{FF2B5EF4-FFF2-40B4-BE49-F238E27FC236}">
                <a16:creationId xmlns:a16="http://schemas.microsoft.com/office/drawing/2014/main" id="{8DD7F2C9-EBCC-4480-8A95-58360FD4AA0C}"/>
              </a:ext>
            </a:extLst>
          </p:cNvPr>
          <p:cNvSpPr>
            <a:spLocks xmlns:a="http://schemas.openxmlformats.org/drawingml/2006/main" noGrp="1"/>
          </p:cNvSpPr>
          <p:nvPr/>
        </p:nvSpPr>
        <p:spPr>
          <a:xfrm xmlns:a="http://schemas.openxmlformats.org/drawingml/2006/main">
            <a:off x="7543800" y="2857500"/>
            <a:ext cx="1447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0B1F33"/>
                </a:solidFill>
              </a:defRPr>
            </a:pPr>
            <a:r>
              <a:rPr sz="1425" b="1" i="0">
                <a:solidFill>
                  <a:srgbClr val="0B1F33"/>
                </a:solidFill>
              </a:rPr>
              <a:t>Degree, PageRank</a:t>
            </a:r>
          </a:p>
          <a:p xmlns:a="http://schemas.openxmlformats.org/drawingml/2006/main">
            <a:pPr algn="ctr">
              <a:defRPr sz="1425" b="1" i="0">
                <a:solidFill>
                  <a:srgbClr val="0B1F33"/>
                </a:solidFill>
              </a:defRPr>
            </a:pPr>
            <a:r>
              <a:rPr sz="1425" b="1" i="0">
                <a:solidFill>
                  <a:srgbClr val="0B1F33"/>
                </a:solidFill>
              </a:rPr>
              <a:t>and short cycles</a:t>
            </a:r>
          </a:p>
        </p:txBody>
      </p:sp>
      <p:sp>
        <p:nvSpPr>
          <p:cNvPr id="24" name="">
            <a:extLst xmlns:a="http://schemas.openxmlformats.org/drawingml/2006/main">
              <a:ext uri="{FF2B5EF4-FFF2-40B4-BE49-F238E27FC236}">
                <a16:creationId xmlns:a16="http://schemas.microsoft.com/office/drawing/2014/main" id="{0B548E3F-F4DF-4F5D-BD60-432795718A58}"/>
              </a:ext>
            </a:extLst>
          </p:cNvPr>
          <p:cNvSpPr>
            <a:spLocks xmlns:a="http://schemas.openxmlformats.org/drawingml/2006/main" noGrp="1"/>
          </p:cNvSpPr>
          <p:nvPr/>
        </p:nvSpPr>
        <p:spPr>
          <a:xfrm xmlns:a="http://schemas.openxmlformats.org/drawingml/2006/main">
            <a:off x="9372600" y="264795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i="0">
                <a:solidFill>
                  <a:srgbClr val="0E7490"/>
                </a:solidFill>
              </a:defRPr>
            </a:pPr>
            <a:r>
              <a:rPr sz="2700" b="1" i="0">
                <a:solidFill>
                  <a:srgbClr val="0E7490"/>
                </a:solidFill>
              </a:rPr>
              <a:t>→</a:t>
            </a:r>
          </a:p>
        </p:txBody>
      </p:sp>
      <p:sp>
        <p:nvSpPr>
          <p:cNvPr id="25" name="">
            <a:extLst xmlns:a="http://schemas.openxmlformats.org/drawingml/2006/main">
              <a:ext uri="{FF2B5EF4-FFF2-40B4-BE49-F238E27FC236}">
                <a16:creationId xmlns:a16="http://schemas.microsoft.com/office/drawing/2014/main" id="{F38E0BB2-4728-4D2D-B777-679C563106A2}"/>
              </a:ext>
            </a:extLst>
          </p:cNvPr>
          <p:cNvSpPr>
            <a:spLocks xmlns:a="http://schemas.openxmlformats.org/drawingml/2006/main" noGrp="1"/>
          </p:cNvSpPr>
          <p:nvPr/>
        </p:nvSpPr>
        <p:spPr>
          <a:xfrm xmlns:a="http://schemas.openxmlformats.org/drawingml/2006/main">
            <a:off x="9982200" y="2076450"/>
            <a:ext cx="1524000" cy="1714500"/>
          </a:xfrm>
          <a:prstGeom xmlns:a="http://schemas.openxmlformats.org/drawingml/2006/main" prst="rect">
            <a:avLst/>
          </a:prstGeom>
          <a:solidFill xmlns:a="http://schemas.openxmlformats.org/drawingml/2006/main">
            <a:srgbClr val="0B4F6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62DB9E1-FB2C-449A-B1F0-3426D795377B}"/>
              </a:ext>
            </a:extLst>
          </p:cNvPr>
          <p:cNvSpPr>
            <a:spLocks xmlns:a="http://schemas.openxmlformats.org/drawingml/2006/main" noGrp="1"/>
          </p:cNvSpPr>
          <p:nvPr/>
        </p:nvSpPr>
        <p:spPr>
          <a:xfrm xmlns:a="http://schemas.openxmlformats.org/drawingml/2006/main">
            <a:off x="10172700" y="2362200"/>
            <a:ext cx="114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FFFFFF"/>
                </a:solidFill>
              </a:defRPr>
            </a:pPr>
            <a:r>
              <a:rPr sz="1800" b="1" i="0">
                <a:solidFill>
                  <a:srgbClr val="FFFFFF"/>
                </a:solidFill>
              </a:rPr>
              <a:t>CASE</a:t>
            </a:r>
          </a:p>
        </p:txBody>
      </p:sp>
      <p:sp>
        <p:nvSpPr>
          <p:cNvPr id="27" name="">
            <a:extLst xmlns:a="http://schemas.openxmlformats.org/drawingml/2006/main">
              <a:ext uri="{FF2B5EF4-FFF2-40B4-BE49-F238E27FC236}">
                <a16:creationId xmlns:a16="http://schemas.microsoft.com/office/drawing/2014/main" id="{FF59042A-5FFD-4F65-919F-9280D2F1F344}"/>
              </a:ext>
            </a:extLst>
          </p:cNvPr>
          <p:cNvSpPr>
            <a:spLocks xmlns:a="http://schemas.openxmlformats.org/drawingml/2006/main" noGrp="1"/>
          </p:cNvSpPr>
          <p:nvPr/>
        </p:nvSpPr>
        <p:spPr>
          <a:xfrm xmlns:a="http://schemas.openxmlformats.org/drawingml/2006/main">
            <a:off x="10172700" y="2895600"/>
            <a:ext cx="114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FFFFFF"/>
                </a:solidFill>
              </a:defRPr>
            </a:pPr>
            <a:r>
              <a:rPr sz="1350" b="1" i="0">
                <a:solidFill>
                  <a:srgbClr val="FFFFFF"/>
                </a:solidFill>
              </a:rPr>
              <a:t>Human review</a:t>
            </a:r>
          </a:p>
          <a:p xmlns:a="http://schemas.openxmlformats.org/drawingml/2006/main">
            <a:pPr algn="ctr">
              <a:defRPr sz="1350" b="1" i="0">
                <a:solidFill>
                  <a:srgbClr val="FFFFFF"/>
                </a:solidFill>
              </a:defRPr>
            </a:pPr>
            <a:r>
              <a:rPr sz="1350" b="1" i="0">
                <a:solidFill>
                  <a:srgbClr val="FFFFFF"/>
                </a:solidFill>
              </a:rPr>
              <a:t>required</a:t>
            </a:r>
          </a:p>
        </p:txBody>
      </p:sp>
      <p:sp>
        <p:nvSpPr>
          <p:cNvPr id="28" name="">
            <a:extLst xmlns:a="http://schemas.openxmlformats.org/drawingml/2006/main">
              <a:ext uri="{FF2B5EF4-FFF2-40B4-BE49-F238E27FC236}">
                <a16:creationId xmlns:a16="http://schemas.microsoft.com/office/drawing/2014/main" id="{F95520DB-4480-4C34-A3AA-316B51AC22A9}"/>
              </a:ext>
            </a:extLst>
          </p:cNvPr>
          <p:cNvSpPr>
            <a:spLocks xmlns:a="http://schemas.openxmlformats.org/drawingml/2006/main" noGrp="1"/>
          </p:cNvSpPr>
          <p:nvPr/>
        </p:nvSpPr>
        <p:spPr>
          <a:xfrm xmlns:a="http://schemas.openxmlformats.org/drawingml/2006/main">
            <a:off x="685800" y="4267200"/>
            <a:ext cx="108204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2F1BA84-93EF-4BEC-837A-A967845A0D75}"/>
              </a:ext>
            </a:extLst>
          </p:cNvPr>
          <p:cNvSpPr>
            <a:spLocks xmlns:a="http://schemas.openxmlformats.org/drawingml/2006/main" noGrp="1"/>
          </p:cNvSpPr>
          <p:nvPr/>
        </p:nvSpPr>
        <p:spPr>
          <a:xfrm xmlns:a="http://schemas.openxmlformats.org/drawingml/2006/main">
            <a:off x="685800" y="4572000"/>
            <a:ext cx="10820400" cy="990600"/>
          </a:xfrm>
          <a:prstGeom xmlns:a="http://schemas.openxmlformats.org/drawingml/2006/main" prst="rect">
            <a:avLst/>
          </a:prstGeom>
          <a:solidFill xmlns:a="http://schemas.openxmlformats.org/drawingml/2006/main">
            <a:srgbClr val="FFF7E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4597C31-8E50-452F-905D-9DBB4CA6785C}"/>
              </a:ext>
            </a:extLst>
          </p:cNvPr>
          <p:cNvSpPr>
            <a:spLocks xmlns:a="http://schemas.openxmlformats.org/drawingml/2006/main" noGrp="1"/>
          </p:cNvSpPr>
          <p:nvPr/>
        </p:nvSpPr>
        <p:spPr>
          <a:xfrm xmlns:a="http://schemas.openxmlformats.org/drawingml/2006/main">
            <a:off x="990600" y="4724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D97706"/>
                </a:solidFill>
              </a:defRPr>
            </a:pPr>
            <a:r>
              <a:rPr sz="1050" b="1" i="0">
                <a:solidFill>
                  <a:srgbClr val="D97706"/>
                </a:solidFill>
              </a:rPr>
              <a:t>ISOLATED VALIDATION</a:t>
            </a:r>
          </a:p>
        </p:txBody>
      </p:sp>
      <p:sp>
        <p:nvSpPr>
          <p:cNvPr id="31" name="">
            <a:extLst xmlns:a="http://schemas.openxmlformats.org/drawingml/2006/main">
              <a:ext uri="{FF2B5EF4-FFF2-40B4-BE49-F238E27FC236}">
                <a16:creationId xmlns:a16="http://schemas.microsoft.com/office/drawing/2014/main" id="{9959DCC6-9E5E-47EE-B535-2CA05FCCF497}"/>
              </a:ext>
            </a:extLst>
          </p:cNvPr>
          <p:cNvSpPr>
            <a:spLocks xmlns:a="http://schemas.openxmlformats.org/drawingml/2006/main" noGrp="1"/>
          </p:cNvSpPr>
          <p:nvPr/>
        </p:nvSpPr>
        <p:spPr>
          <a:xfrm xmlns:a="http://schemas.openxmlformats.org/drawingml/2006/main">
            <a:off x="990600" y="5048250"/>
            <a:ext cx="9982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i="0">
                <a:solidFill>
                  <a:srgbClr val="0B1F33"/>
                </a:solidFill>
              </a:defRPr>
            </a:pPr>
            <a:r>
              <a:rPr sz="1575" b="1" i="0">
                <a:solidFill>
                  <a:srgbClr val="0B1F33"/>
                </a:solidFill>
              </a:rPr>
              <a:t>Synthetic truth measures retrieval only—it is never a feature and never establishes production effectiveness.</a:t>
            </a:r>
          </a:p>
        </p:txBody>
      </p:sp>
    </p:spTree>
    <p:extLst>
      <p:ext uri="{BB962C8B-B14F-4D97-AF65-F5344CB8AC3E}">
        <p14:creationId xmlns:p14="http://schemas.microsoft.com/office/powerpoint/2010/main" val="16966161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DAA45AF0-FC8D-42DA-851D-76DED781DF26}"/>
              </a:ext>
            </a:extLst>
          </p:cNvPr>
          <p:cNvSpPr>
            <a:spLocks xmlns:a="http://schemas.openxmlformats.org/drawingml/2006/main" noGrp="1"/>
          </p:cNvSpPr>
          <p:nvPr/>
        </p:nvSpPr>
        <p:spPr>
          <a:xfrm xmlns:a="http://schemas.openxmlformats.org/drawingml/2006/main">
            <a:off x="685800" y="26670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B677A"/>
                </a:solidFill>
              </a:defRPr>
            </a:pPr>
            <a:r>
              <a:rPr sz="975" b="1" i="0">
                <a:solidFill>
                  <a:srgbClr val="5B677A"/>
                </a:solidFill>
              </a:rPr>
              <a:t>AURELIA BANK | FINANCIAL CRIME &amp; AML</a:t>
            </a:r>
          </a:p>
        </p:txBody>
      </p:sp>
      <p:sp>
        <p:nvSpPr>
          <p:cNvPr id="2" name="">
            <a:extLst xmlns:a="http://schemas.openxmlformats.org/drawingml/2006/main">
              <a:ext uri="{FF2B5EF4-FFF2-40B4-BE49-F238E27FC236}">
                <a16:creationId xmlns:a16="http://schemas.microsoft.com/office/drawing/2014/main" id="{A456D566-9E83-4991-AED9-E5B7D109452B}"/>
              </a:ext>
            </a:extLst>
          </p:cNvPr>
          <p:cNvSpPr>
            <a:spLocks xmlns:a="http://schemas.openxmlformats.org/drawingml/2006/main" noGrp="1"/>
          </p:cNvSpPr>
          <p:nvPr/>
        </p:nvSpPr>
        <p:spPr>
          <a:xfrm xmlns:a="http://schemas.openxmlformats.org/drawingml/2006/main">
            <a:off x="11049000" y="2667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5B677A"/>
                </a:solidFill>
              </a:defRPr>
            </a:pPr>
            <a:r>
              <a:rPr sz="975" b="1" i="0">
                <a:solidFill>
                  <a:srgbClr val="5B677A"/>
                </a:solidFill>
              </a:rPr>
              <a:t>04</a:t>
            </a:r>
          </a:p>
        </p:txBody>
      </p:sp>
      <p:sp>
        <p:nvSpPr>
          <p:cNvPr id="3" name="">
            <a:extLst xmlns:a="http://schemas.openxmlformats.org/drawingml/2006/main">
              <a:ext uri="{FF2B5EF4-FFF2-40B4-BE49-F238E27FC236}">
                <a16:creationId xmlns:a16="http://schemas.microsoft.com/office/drawing/2014/main" id="{9529B8B9-FC02-45EB-8044-C0AA3F8F18B2}"/>
              </a:ext>
            </a:extLst>
          </p:cNvPr>
          <p:cNvSpPr>
            <a:spLocks xmlns:a="http://schemas.openxmlformats.org/drawingml/2006/main" noGrp="1"/>
          </p:cNvSpPr>
          <p:nvPr/>
        </p:nvSpPr>
        <p:spPr>
          <a:xfrm xmlns:a="http://schemas.openxmlformats.org/drawingml/2006/main">
            <a:off x="685800" y="552450"/>
            <a:ext cx="108204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8499C82-546E-4D46-B915-B1C942DBCD62}"/>
              </a:ext>
            </a:extLst>
          </p:cNvPr>
          <p:cNvSpPr>
            <a:spLocks xmlns:a="http://schemas.openxmlformats.org/drawingml/2006/main" noGrp="1"/>
          </p:cNvSpPr>
          <p:nvPr/>
        </p:nvSpPr>
        <p:spPr>
          <a:xfrm xmlns:a="http://schemas.openxmlformats.org/drawingml/2006/main">
            <a:off x="685800" y="6515100"/>
            <a:ext cx="942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5B677A"/>
                </a:solidFill>
              </a:defRPr>
            </a:pPr>
            <a:r>
              <a:rPr sz="825" b="0" i="0">
                <a:solidFill>
                  <a:srgbClr val="5B677A"/>
                </a:solidFill>
              </a:rPr>
              <a:t>Source: data/demo and artifacts/results/executive_summary.json</a:t>
            </a:r>
          </a:p>
        </p:txBody>
      </p:sp>
      <p:sp>
        <p:nvSpPr>
          <p:cNvPr id="5" name="">
            <a:extLst xmlns:a="http://schemas.openxmlformats.org/drawingml/2006/main">
              <a:ext uri="{FF2B5EF4-FFF2-40B4-BE49-F238E27FC236}">
                <a16:creationId xmlns:a16="http://schemas.microsoft.com/office/drawing/2014/main" id="{4ECE8C07-3F6F-46FB-8C79-3FC3356C7A43}"/>
              </a:ext>
            </a:extLst>
          </p:cNvPr>
          <p:cNvSpPr>
            <a:spLocks xmlns:a="http://schemas.openxmlformats.org/drawingml/2006/main" noGrp="1"/>
          </p:cNvSpPr>
          <p:nvPr/>
        </p:nvSpPr>
        <p:spPr>
          <a:xfrm xmlns:a="http://schemas.openxmlformats.org/drawingml/2006/main">
            <a:off x="10287000" y="6515100"/>
            <a:ext cx="1219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i="0">
                <a:solidFill>
                  <a:srgbClr val="5B677A"/>
                </a:solidFill>
              </a:defRPr>
            </a:pPr>
            <a:r>
              <a:rPr sz="825" b="0" i="0">
                <a:solidFill>
                  <a:srgbClr val="5B677A"/>
                </a:solidFill>
              </a:rPr>
              <a:t>20 AUG 2026</a:t>
            </a:r>
          </a:p>
        </p:txBody>
      </p:sp>
      <p:sp>
        <p:nvSpPr>
          <p:cNvPr id="6" name="">
            <a:extLst xmlns:a="http://schemas.openxmlformats.org/drawingml/2006/main">
              <a:ext uri="{FF2B5EF4-FFF2-40B4-BE49-F238E27FC236}">
                <a16:creationId xmlns:a16="http://schemas.microsoft.com/office/drawing/2014/main" id="{8B515B58-3E40-4012-BE7E-F7153D88AFFE}"/>
              </a:ext>
            </a:extLst>
          </p:cNvPr>
          <p:cNvSpPr>
            <a:spLocks xmlns:a="http://schemas.openxmlformats.org/drawingml/2006/main" noGrp="1"/>
          </p:cNvSpPr>
          <p:nvPr/>
        </p:nvSpPr>
        <p:spPr>
          <a:xfrm xmlns:a="http://schemas.openxmlformats.org/drawingml/2006/main">
            <a:off x="685800" y="7239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0B1F33"/>
                </a:solidFill>
              </a:defRPr>
            </a:pPr>
            <a:r>
              <a:rPr sz="3000" b="1" i="0">
                <a:solidFill>
                  <a:srgbClr val="0B1F33"/>
                </a:solidFill>
              </a:rPr>
              <a:t>The snapshot is broad enough to test the workflow</a:t>
            </a:r>
          </a:p>
        </p:txBody>
      </p:sp>
      <p:sp>
        <p:nvSpPr>
          <p:cNvPr id="7" name="">
            <a:extLst xmlns:a="http://schemas.openxmlformats.org/drawingml/2006/main">
              <a:ext uri="{FF2B5EF4-FFF2-40B4-BE49-F238E27FC236}">
                <a16:creationId xmlns:a16="http://schemas.microsoft.com/office/drawing/2014/main" id="{EE9B2EC8-7C34-4B06-B015-7169F547D157}"/>
              </a:ext>
            </a:extLst>
          </p:cNvPr>
          <p:cNvSpPr>
            <a:spLocks xmlns:a="http://schemas.openxmlformats.org/drawingml/2006/main" noGrp="1"/>
          </p:cNvSpPr>
          <p:nvPr/>
        </p:nvSpPr>
        <p:spPr>
          <a:xfrm xmlns:a="http://schemas.openxmlformats.org/drawingml/2006/main">
            <a:off x="685800" y="12954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5B677A"/>
                </a:solidFill>
              </a:defRPr>
            </a:pPr>
            <a:r>
              <a:rPr sz="1350" b="0" i="0">
                <a:solidFill>
                  <a:srgbClr val="5B677A"/>
                </a:solidFill>
              </a:rPr>
              <a:t>All customer, account, transaction and screening flags are controlled synthetic records.</a:t>
            </a:r>
          </a:p>
        </p:txBody>
      </p:sp>
      <p:sp>
        <p:nvSpPr>
          <p:cNvPr id="8" name="">
            <a:extLst xmlns:a="http://schemas.openxmlformats.org/drawingml/2006/main">
              <a:ext uri="{FF2B5EF4-FFF2-40B4-BE49-F238E27FC236}">
                <a16:creationId xmlns:a16="http://schemas.microsoft.com/office/drawing/2014/main" id="{D4E19697-F7F5-49A5-9637-696977648784}"/>
              </a:ext>
            </a:extLst>
          </p:cNvPr>
          <p:cNvSpPr>
            <a:spLocks xmlns:a="http://schemas.openxmlformats.org/drawingml/2006/main" noGrp="1"/>
          </p:cNvSpPr>
          <p:nvPr/>
        </p:nvSpPr>
        <p:spPr>
          <a:xfrm xmlns:a="http://schemas.openxmlformats.org/drawingml/2006/main">
            <a:off x="685800" y="2019300"/>
            <a:ext cx="2438400" cy="207645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3CC5626-77FC-4C1D-98E8-2D700A622DD9}"/>
              </a:ext>
            </a:extLst>
          </p:cNvPr>
          <p:cNvSpPr>
            <a:spLocks xmlns:a="http://schemas.openxmlformats.org/drawingml/2006/main" noGrp="1"/>
          </p:cNvSpPr>
          <p:nvPr/>
        </p:nvSpPr>
        <p:spPr>
          <a:xfrm xmlns:a="http://schemas.openxmlformats.org/drawingml/2006/main">
            <a:off x="933450" y="2228850"/>
            <a:ext cx="1943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i="0">
                <a:solidFill>
                  <a:srgbClr val="0B1F33"/>
                </a:solidFill>
              </a:defRPr>
            </a:pPr>
            <a:r>
              <a:rPr sz="3150" b="1" i="0">
                <a:solidFill>
                  <a:srgbClr val="0B1F33"/>
                </a:solidFill>
              </a:rPr>
              <a:t>1,800</a:t>
            </a:r>
          </a:p>
        </p:txBody>
      </p:sp>
      <p:sp>
        <p:nvSpPr>
          <p:cNvPr id="10" name="">
            <a:extLst xmlns:a="http://schemas.openxmlformats.org/drawingml/2006/main">
              <a:ext uri="{FF2B5EF4-FFF2-40B4-BE49-F238E27FC236}">
                <a16:creationId xmlns:a16="http://schemas.microsoft.com/office/drawing/2014/main" id="{CC4AA783-5D9B-451B-ACF7-F82483DE5154}"/>
              </a:ext>
            </a:extLst>
          </p:cNvPr>
          <p:cNvSpPr>
            <a:spLocks xmlns:a="http://schemas.openxmlformats.org/drawingml/2006/main" noGrp="1"/>
          </p:cNvSpPr>
          <p:nvPr/>
        </p:nvSpPr>
        <p:spPr>
          <a:xfrm xmlns:a="http://schemas.openxmlformats.org/drawingml/2006/main">
            <a:off x="933450" y="2857500"/>
            <a:ext cx="1943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0B1F33"/>
                </a:solidFill>
              </a:defRPr>
            </a:pPr>
            <a:r>
              <a:rPr sz="1500" b="1" i="0">
                <a:solidFill>
                  <a:srgbClr val="0B1F33"/>
                </a:solidFill>
              </a:rPr>
              <a:t>Customers</a:t>
            </a:r>
          </a:p>
        </p:txBody>
      </p:sp>
      <p:sp>
        <p:nvSpPr>
          <p:cNvPr id="11" name="">
            <a:extLst xmlns:a="http://schemas.openxmlformats.org/drawingml/2006/main">
              <a:ext uri="{FF2B5EF4-FFF2-40B4-BE49-F238E27FC236}">
                <a16:creationId xmlns:a16="http://schemas.microsoft.com/office/drawing/2014/main" id="{EFC9CE3C-497D-4E51-BDA5-3A2BD0A5E8BC}"/>
              </a:ext>
            </a:extLst>
          </p:cNvPr>
          <p:cNvSpPr>
            <a:spLocks xmlns:a="http://schemas.openxmlformats.org/drawingml/2006/main" noGrp="1"/>
          </p:cNvSpPr>
          <p:nvPr/>
        </p:nvSpPr>
        <p:spPr>
          <a:xfrm xmlns:a="http://schemas.openxmlformats.org/drawingml/2006/main">
            <a:off x="933450" y="3305175"/>
            <a:ext cx="19431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1AF1097-0586-45CD-8507-3BB68766DBAF}"/>
              </a:ext>
            </a:extLst>
          </p:cNvPr>
          <p:cNvSpPr>
            <a:spLocks xmlns:a="http://schemas.openxmlformats.org/drawingml/2006/main" noGrp="1"/>
          </p:cNvSpPr>
          <p:nvPr/>
        </p:nvSpPr>
        <p:spPr>
          <a:xfrm xmlns:a="http://schemas.openxmlformats.org/drawingml/2006/main">
            <a:off x="933450" y="3457575"/>
            <a:ext cx="1943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i="0">
                <a:solidFill>
                  <a:srgbClr val="5B677A"/>
                </a:solidFill>
              </a:defRPr>
            </a:pPr>
            <a:r>
              <a:rPr sz="1125" b="0" i="0">
                <a:solidFill>
                  <a:srgbClr val="5B677A"/>
                </a:solidFill>
              </a:rPr>
              <a:t>Individual and corporate profiles</a:t>
            </a:r>
          </a:p>
        </p:txBody>
      </p:sp>
      <p:sp>
        <p:nvSpPr>
          <p:cNvPr id="13" name="">
            <a:extLst xmlns:a="http://schemas.openxmlformats.org/drawingml/2006/main">
              <a:ext uri="{FF2B5EF4-FFF2-40B4-BE49-F238E27FC236}">
                <a16:creationId xmlns:a16="http://schemas.microsoft.com/office/drawing/2014/main" id="{D7C44E81-3C0B-452A-A90F-E08D60606A3C}"/>
              </a:ext>
            </a:extLst>
          </p:cNvPr>
          <p:cNvSpPr>
            <a:spLocks xmlns:a="http://schemas.openxmlformats.org/drawingml/2006/main" noGrp="1"/>
          </p:cNvSpPr>
          <p:nvPr/>
        </p:nvSpPr>
        <p:spPr>
          <a:xfrm xmlns:a="http://schemas.openxmlformats.org/drawingml/2006/main">
            <a:off x="3429000" y="2019300"/>
            <a:ext cx="2438400" cy="207645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1713235-25FF-4A3A-A720-8D78773EB8AD}"/>
              </a:ext>
            </a:extLst>
          </p:cNvPr>
          <p:cNvSpPr>
            <a:spLocks xmlns:a="http://schemas.openxmlformats.org/drawingml/2006/main" noGrp="1"/>
          </p:cNvSpPr>
          <p:nvPr/>
        </p:nvSpPr>
        <p:spPr>
          <a:xfrm xmlns:a="http://schemas.openxmlformats.org/drawingml/2006/main">
            <a:off x="3676650" y="2228850"/>
            <a:ext cx="1943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i="0">
                <a:solidFill>
                  <a:srgbClr val="0B1F33"/>
                </a:solidFill>
              </a:defRPr>
            </a:pPr>
            <a:r>
              <a:rPr sz="3150" b="1" i="0">
                <a:solidFill>
                  <a:srgbClr val="0B1F33"/>
                </a:solidFill>
              </a:rPr>
              <a:t>2,250</a:t>
            </a:r>
          </a:p>
        </p:txBody>
      </p:sp>
      <p:sp>
        <p:nvSpPr>
          <p:cNvPr id="15" name="">
            <a:extLst xmlns:a="http://schemas.openxmlformats.org/drawingml/2006/main">
              <a:ext uri="{FF2B5EF4-FFF2-40B4-BE49-F238E27FC236}">
                <a16:creationId xmlns:a16="http://schemas.microsoft.com/office/drawing/2014/main" id="{FF8B951F-1CB3-412D-AF38-BADA15D32F26}"/>
              </a:ext>
            </a:extLst>
          </p:cNvPr>
          <p:cNvSpPr>
            <a:spLocks xmlns:a="http://schemas.openxmlformats.org/drawingml/2006/main" noGrp="1"/>
          </p:cNvSpPr>
          <p:nvPr/>
        </p:nvSpPr>
        <p:spPr>
          <a:xfrm xmlns:a="http://schemas.openxmlformats.org/drawingml/2006/main">
            <a:off x="3676650" y="2857500"/>
            <a:ext cx="1943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0B1F33"/>
                </a:solidFill>
              </a:defRPr>
            </a:pPr>
            <a:r>
              <a:rPr sz="1500" b="1" i="0">
                <a:solidFill>
                  <a:srgbClr val="0B1F33"/>
                </a:solidFill>
              </a:rPr>
              <a:t>Accounts</a:t>
            </a:r>
          </a:p>
        </p:txBody>
      </p:sp>
      <p:sp>
        <p:nvSpPr>
          <p:cNvPr id="16" name="">
            <a:extLst xmlns:a="http://schemas.openxmlformats.org/drawingml/2006/main">
              <a:ext uri="{FF2B5EF4-FFF2-40B4-BE49-F238E27FC236}">
                <a16:creationId xmlns:a16="http://schemas.microsoft.com/office/drawing/2014/main" id="{1D645D82-9721-4895-8F7B-4E68D93C25CD}"/>
              </a:ext>
            </a:extLst>
          </p:cNvPr>
          <p:cNvSpPr>
            <a:spLocks xmlns:a="http://schemas.openxmlformats.org/drawingml/2006/main" noGrp="1"/>
          </p:cNvSpPr>
          <p:nvPr/>
        </p:nvSpPr>
        <p:spPr>
          <a:xfrm xmlns:a="http://schemas.openxmlformats.org/drawingml/2006/main">
            <a:off x="3676650" y="3305175"/>
            <a:ext cx="19431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9516255-FBCD-4E58-A61F-BD4EE2D8A044}"/>
              </a:ext>
            </a:extLst>
          </p:cNvPr>
          <p:cNvSpPr>
            <a:spLocks xmlns:a="http://schemas.openxmlformats.org/drawingml/2006/main" noGrp="1"/>
          </p:cNvSpPr>
          <p:nvPr/>
        </p:nvSpPr>
        <p:spPr>
          <a:xfrm xmlns:a="http://schemas.openxmlformats.org/drawingml/2006/main">
            <a:off x="3676650" y="3457575"/>
            <a:ext cx="1943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i="0">
                <a:solidFill>
                  <a:srgbClr val="5B677A"/>
                </a:solidFill>
              </a:defRPr>
            </a:pPr>
            <a:r>
              <a:rPr sz="1125" b="0" i="0">
                <a:solidFill>
                  <a:srgbClr val="5B677A"/>
                </a:solidFill>
              </a:rPr>
              <a:t>Current, savings, payment and business</a:t>
            </a:r>
          </a:p>
        </p:txBody>
      </p:sp>
      <p:sp>
        <p:nvSpPr>
          <p:cNvPr id="18" name="">
            <a:extLst xmlns:a="http://schemas.openxmlformats.org/drawingml/2006/main">
              <a:ext uri="{FF2B5EF4-FFF2-40B4-BE49-F238E27FC236}">
                <a16:creationId xmlns:a16="http://schemas.microsoft.com/office/drawing/2014/main" id="{5E0ACB1E-E7E1-4898-BF22-F446F1D34A44}"/>
              </a:ext>
            </a:extLst>
          </p:cNvPr>
          <p:cNvSpPr>
            <a:spLocks xmlns:a="http://schemas.openxmlformats.org/drawingml/2006/main" noGrp="1"/>
          </p:cNvSpPr>
          <p:nvPr/>
        </p:nvSpPr>
        <p:spPr>
          <a:xfrm xmlns:a="http://schemas.openxmlformats.org/drawingml/2006/main">
            <a:off x="6172200" y="2019300"/>
            <a:ext cx="2438400" cy="207645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A8B5D11-97C1-45AE-BFDC-29329D422A87}"/>
              </a:ext>
            </a:extLst>
          </p:cNvPr>
          <p:cNvSpPr>
            <a:spLocks xmlns:a="http://schemas.openxmlformats.org/drawingml/2006/main" noGrp="1"/>
          </p:cNvSpPr>
          <p:nvPr/>
        </p:nvSpPr>
        <p:spPr>
          <a:xfrm xmlns:a="http://schemas.openxmlformats.org/drawingml/2006/main">
            <a:off x="6419850" y="2228850"/>
            <a:ext cx="1943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i="0">
                <a:solidFill>
                  <a:srgbClr val="0B1F33"/>
                </a:solidFill>
              </a:defRPr>
            </a:pPr>
            <a:r>
              <a:rPr sz="3150" b="1" i="0">
                <a:solidFill>
                  <a:srgbClr val="0B1F33"/>
                </a:solidFill>
              </a:rPr>
              <a:t>48,412</a:t>
            </a:r>
          </a:p>
        </p:txBody>
      </p:sp>
      <p:sp>
        <p:nvSpPr>
          <p:cNvPr id="20" name="">
            <a:extLst xmlns:a="http://schemas.openxmlformats.org/drawingml/2006/main">
              <a:ext uri="{FF2B5EF4-FFF2-40B4-BE49-F238E27FC236}">
                <a16:creationId xmlns:a16="http://schemas.microsoft.com/office/drawing/2014/main" id="{173BE682-1CCA-435A-B963-212197CEBF75}"/>
              </a:ext>
            </a:extLst>
          </p:cNvPr>
          <p:cNvSpPr>
            <a:spLocks xmlns:a="http://schemas.openxmlformats.org/drawingml/2006/main" noGrp="1"/>
          </p:cNvSpPr>
          <p:nvPr/>
        </p:nvSpPr>
        <p:spPr>
          <a:xfrm xmlns:a="http://schemas.openxmlformats.org/drawingml/2006/main">
            <a:off x="6419850" y="2857500"/>
            <a:ext cx="1943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0B1F33"/>
                </a:solidFill>
              </a:defRPr>
            </a:pPr>
            <a:r>
              <a:rPr sz="1500" b="1" i="0">
                <a:solidFill>
                  <a:srgbClr val="0B1F33"/>
                </a:solidFill>
              </a:rPr>
              <a:t>Transactions</a:t>
            </a:r>
          </a:p>
        </p:txBody>
      </p:sp>
      <p:sp>
        <p:nvSpPr>
          <p:cNvPr id="21" name="">
            <a:extLst xmlns:a="http://schemas.openxmlformats.org/drawingml/2006/main">
              <a:ext uri="{FF2B5EF4-FFF2-40B4-BE49-F238E27FC236}">
                <a16:creationId xmlns:a16="http://schemas.microsoft.com/office/drawing/2014/main" id="{311224F2-7B8A-4C9C-83EB-2F635EA54859}"/>
              </a:ext>
            </a:extLst>
          </p:cNvPr>
          <p:cNvSpPr>
            <a:spLocks xmlns:a="http://schemas.openxmlformats.org/drawingml/2006/main" noGrp="1"/>
          </p:cNvSpPr>
          <p:nvPr/>
        </p:nvSpPr>
        <p:spPr>
          <a:xfrm xmlns:a="http://schemas.openxmlformats.org/drawingml/2006/main">
            <a:off x="6419850" y="3305175"/>
            <a:ext cx="19431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E4647AD-700F-4D91-8091-03D9C210B549}"/>
              </a:ext>
            </a:extLst>
          </p:cNvPr>
          <p:cNvSpPr>
            <a:spLocks xmlns:a="http://schemas.openxmlformats.org/drawingml/2006/main" noGrp="1"/>
          </p:cNvSpPr>
          <p:nvPr/>
        </p:nvSpPr>
        <p:spPr>
          <a:xfrm xmlns:a="http://schemas.openxmlformats.org/drawingml/2006/main">
            <a:off x="6419850" y="3457575"/>
            <a:ext cx="1943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i="0">
                <a:solidFill>
                  <a:srgbClr val="5B677A"/>
                </a:solidFill>
              </a:defRPr>
            </a:pPr>
            <a:r>
              <a:rPr sz="1125" b="0" i="0">
                <a:solidFill>
                  <a:srgbClr val="5B677A"/>
                </a:solidFill>
              </a:rPr>
              <a:t>90-day observation window</a:t>
            </a:r>
          </a:p>
        </p:txBody>
      </p:sp>
      <p:sp>
        <p:nvSpPr>
          <p:cNvPr id="23" name="">
            <a:extLst xmlns:a="http://schemas.openxmlformats.org/drawingml/2006/main">
              <a:ext uri="{FF2B5EF4-FFF2-40B4-BE49-F238E27FC236}">
                <a16:creationId xmlns:a16="http://schemas.microsoft.com/office/drawing/2014/main" id="{E8E65E1D-DD66-4B64-B56A-CF1EA487142A}"/>
              </a:ext>
            </a:extLst>
          </p:cNvPr>
          <p:cNvSpPr>
            <a:spLocks xmlns:a="http://schemas.openxmlformats.org/drawingml/2006/main" noGrp="1"/>
          </p:cNvSpPr>
          <p:nvPr/>
        </p:nvSpPr>
        <p:spPr>
          <a:xfrm xmlns:a="http://schemas.openxmlformats.org/drawingml/2006/main">
            <a:off x="8915400" y="2019300"/>
            <a:ext cx="2590800" cy="207645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6CE8A03-9993-4F19-89E7-3D2AD931F477}"/>
              </a:ext>
            </a:extLst>
          </p:cNvPr>
          <p:cNvSpPr>
            <a:spLocks xmlns:a="http://schemas.openxmlformats.org/drawingml/2006/main" noGrp="1"/>
          </p:cNvSpPr>
          <p:nvPr/>
        </p:nvSpPr>
        <p:spPr>
          <a:xfrm xmlns:a="http://schemas.openxmlformats.org/drawingml/2006/main">
            <a:off x="9163050" y="2228850"/>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i="0">
                <a:solidFill>
                  <a:srgbClr val="0B1F33"/>
                </a:solidFill>
              </a:defRPr>
            </a:pPr>
            <a:r>
              <a:rPr sz="3150" b="1" i="0">
                <a:solidFill>
                  <a:srgbClr val="0B1F33"/>
                </a:solidFill>
              </a:rPr>
              <a:t>TRY 416.6m</a:t>
            </a:r>
          </a:p>
        </p:txBody>
      </p:sp>
      <p:sp>
        <p:nvSpPr>
          <p:cNvPr id="25" name="">
            <a:extLst xmlns:a="http://schemas.openxmlformats.org/drawingml/2006/main">
              <a:ext uri="{FF2B5EF4-FFF2-40B4-BE49-F238E27FC236}">
                <a16:creationId xmlns:a16="http://schemas.microsoft.com/office/drawing/2014/main" id="{4D76D7DB-9FE6-4AAC-A1DC-A7C83D30E580}"/>
              </a:ext>
            </a:extLst>
          </p:cNvPr>
          <p:cNvSpPr>
            <a:spLocks xmlns:a="http://schemas.openxmlformats.org/drawingml/2006/main" noGrp="1"/>
          </p:cNvSpPr>
          <p:nvPr/>
        </p:nvSpPr>
        <p:spPr>
          <a:xfrm xmlns:a="http://schemas.openxmlformats.org/drawingml/2006/main">
            <a:off x="9163050" y="28575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0B1F33"/>
                </a:solidFill>
              </a:defRPr>
            </a:pPr>
            <a:r>
              <a:rPr sz="1500" b="1" i="0">
                <a:solidFill>
                  <a:srgbClr val="0B1F33"/>
                </a:solidFill>
              </a:rPr>
              <a:t>Transaction value</a:t>
            </a:r>
          </a:p>
        </p:txBody>
      </p:sp>
      <p:sp>
        <p:nvSpPr>
          <p:cNvPr id="26" name="">
            <a:extLst xmlns:a="http://schemas.openxmlformats.org/drawingml/2006/main">
              <a:ext uri="{FF2B5EF4-FFF2-40B4-BE49-F238E27FC236}">
                <a16:creationId xmlns:a16="http://schemas.microsoft.com/office/drawing/2014/main" id="{0CB79605-61BA-4642-8AC2-0B00F03D9EA8}"/>
              </a:ext>
            </a:extLst>
          </p:cNvPr>
          <p:cNvSpPr>
            <a:spLocks xmlns:a="http://schemas.openxmlformats.org/drawingml/2006/main" noGrp="1"/>
          </p:cNvSpPr>
          <p:nvPr/>
        </p:nvSpPr>
        <p:spPr>
          <a:xfrm xmlns:a="http://schemas.openxmlformats.org/drawingml/2006/main">
            <a:off x="9163050" y="3305175"/>
            <a:ext cx="20955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1C7CF2C-9912-448D-BE5B-526A8EDA895B}"/>
              </a:ext>
            </a:extLst>
          </p:cNvPr>
          <p:cNvSpPr>
            <a:spLocks xmlns:a="http://schemas.openxmlformats.org/drawingml/2006/main" noGrp="1"/>
          </p:cNvSpPr>
          <p:nvPr/>
        </p:nvSpPr>
        <p:spPr>
          <a:xfrm xmlns:a="http://schemas.openxmlformats.org/drawingml/2006/main">
            <a:off x="9163050" y="3457575"/>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i="0">
                <a:solidFill>
                  <a:srgbClr val="5B677A"/>
                </a:solidFill>
              </a:defRPr>
            </a:pPr>
            <a:r>
              <a:rPr sz="1125" b="0" i="0">
                <a:solidFill>
                  <a:srgbClr val="5B677A"/>
                </a:solidFill>
              </a:rPr>
              <a:t>TRY-equivalent synthetic value</a:t>
            </a:r>
          </a:p>
        </p:txBody>
      </p:sp>
      <p:sp>
        <p:nvSpPr>
          <p:cNvPr id="28" name="">
            <a:extLst xmlns:a="http://schemas.openxmlformats.org/drawingml/2006/main">
              <a:ext uri="{FF2B5EF4-FFF2-40B4-BE49-F238E27FC236}">
                <a16:creationId xmlns:a16="http://schemas.microsoft.com/office/drawing/2014/main" id="{AF6B7BBA-946A-4FD2-B8EF-DEF71C3AE9F8}"/>
              </a:ext>
            </a:extLst>
          </p:cNvPr>
          <p:cNvSpPr>
            <a:spLocks xmlns:a="http://schemas.openxmlformats.org/drawingml/2006/main" noGrp="1"/>
          </p:cNvSpPr>
          <p:nvPr/>
        </p:nvSpPr>
        <p:spPr>
          <a:xfrm xmlns:a="http://schemas.openxmlformats.org/drawingml/2006/main">
            <a:off x="685800" y="4629150"/>
            <a:ext cx="10820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0B1F33"/>
                </a:solidFill>
              </a:defRPr>
            </a:pPr>
            <a:r>
              <a:rPr sz="1650" b="1" i="0">
                <a:solidFill>
                  <a:srgbClr val="0B1F33"/>
                </a:solidFill>
              </a:rPr>
              <a:t>Data classes stay explicit</a:t>
            </a:r>
          </a:p>
        </p:txBody>
      </p:sp>
      <p:sp>
        <p:nvSpPr>
          <p:cNvPr id="29" name="">
            <a:extLst xmlns:a="http://schemas.openxmlformats.org/drawingml/2006/main">
              <a:ext uri="{FF2B5EF4-FFF2-40B4-BE49-F238E27FC236}">
                <a16:creationId xmlns:a16="http://schemas.microsoft.com/office/drawing/2014/main" id="{6607AD72-41A6-41C8-B504-B8D37EA3F4D9}"/>
              </a:ext>
            </a:extLst>
          </p:cNvPr>
          <p:cNvSpPr>
            <a:spLocks xmlns:a="http://schemas.openxmlformats.org/drawingml/2006/main" noGrp="1"/>
          </p:cNvSpPr>
          <p:nvPr/>
        </p:nvSpPr>
        <p:spPr>
          <a:xfrm xmlns:a="http://schemas.openxmlformats.org/drawingml/2006/main">
            <a:off x="685800" y="5219700"/>
            <a:ext cx="2571750" cy="323850"/>
          </a:xfrm>
          <a:prstGeom xmlns:a="http://schemas.openxmlformats.org/drawingml/2006/main" prst="roundRect">
            <a:avLst>
              <a:gd name="adj" fmla="val 23529"/>
            </a:avLst>
          </a:prstGeom>
          <a:solidFill xmlns:a="http://schemas.openxmlformats.org/drawingml/2006/main">
            <a:srgbClr val="0E7490"/>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FDE0BD6-027D-4851-A514-83CBAB55EF7F}"/>
              </a:ext>
            </a:extLst>
          </p:cNvPr>
          <p:cNvSpPr>
            <a:spLocks xmlns:a="http://schemas.openxmlformats.org/drawingml/2006/main" noGrp="1"/>
          </p:cNvSpPr>
          <p:nvPr/>
        </p:nvSpPr>
        <p:spPr>
          <a:xfrm xmlns:a="http://schemas.openxmlformats.org/drawingml/2006/main">
            <a:off x="762000" y="5248275"/>
            <a:ext cx="2419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FFFFFF"/>
                </a:solidFill>
              </a:defRPr>
            </a:pPr>
            <a:r>
              <a:rPr sz="975" b="1" i="0">
                <a:solidFill>
                  <a:srgbClr val="FFFFFF"/>
                </a:solidFill>
              </a:rPr>
              <a:t>CONTROLLED SYNTHETIC</a:t>
            </a:r>
          </a:p>
        </p:txBody>
      </p:sp>
      <p:sp>
        <p:nvSpPr>
          <p:cNvPr id="31" name="">
            <a:extLst xmlns:a="http://schemas.openxmlformats.org/drawingml/2006/main">
              <a:ext uri="{FF2B5EF4-FFF2-40B4-BE49-F238E27FC236}">
                <a16:creationId xmlns:a16="http://schemas.microsoft.com/office/drawing/2014/main" id="{44F827A4-DE61-4430-B325-146BF9E1E6B6}"/>
              </a:ext>
            </a:extLst>
          </p:cNvPr>
          <p:cNvSpPr>
            <a:spLocks xmlns:a="http://schemas.openxmlformats.org/drawingml/2006/main" noGrp="1"/>
          </p:cNvSpPr>
          <p:nvPr/>
        </p:nvSpPr>
        <p:spPr>
          <a:xfrm xmlns:a="http://schemas.openxmlformats.org/drawingml/2006/main">
            <a:off x="3505200" y="5219700"/>
            <a:ext cx="2571750" cy="323850"/>
          </a:xfrm>
          <a:prstGeom xmlns:a="http://schemas.openxmlformats.org/drawingml/2006/main" prst="roundRect">
            <a:avLst>
              <a:gd name="adj" fmla="val 23529"/>
            </a:avLst>
          </a:prstGeom>
          <a:solidFill xmlns:a="http://schemas.openxmlformats.org/drawingml/2006/main">
            <a:srgbClr val="D9770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5721E34-81C4-4230-B30D-88CD5A006736}"/>
              </a:ext>
            </a:extLst>
          </p:cNvPr>
          <p:cNvSpPr>
            <a:spLocks xmlns:a="http://schemas.openxmlformats.org/drawingml/2006/main" noGrp="1"/>
          </p:cNvSpPr>
          <p:nvPr/>
        </p:nvSpPr>
        <p:spPr>
          <a:xfrm xmlns:a="http://schemas.openxmlformats.org/drawingml/2006/main">
            <a:off x="3581400" y="5248275"/>
            <a:ext cx="2419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FFFFFF"/>
                </a:solidFill>
              </a:defRPr>
            </a:pPr>
            <a:r>
              <a:rPr sz="975" b="1" i="0">
                <a:solidFill>
                  <a:srgbClr val="FFFFFF"/>
                </a:solidFill>
              </a:rPr>
              <a:t>VALIDATION TRUTH</a:t>
            </a:r>
          </a:p>
        </p:txBody>
      </p:sp>
      <p:sp>
        <p:nvSpPr>
          <p:cNvPr id="33" name="">
            <a:extLst xmlns:a="http://schemas.openxmlformats.org/drawingml/2006/main">
              <a:ext uri="{FF2B5EF4-FFF2-40B4-BE49-F238E27FC236}">
                <a16:creationId xmlns:a16="http://schemas.microsoft.com/office/drawing/2014/main" id="{E0A17C06-DEAF-419A-985A-1B4B9294CC04}"/>
              </a:ext>
            </a:extLst>
          </p:cNvPr>
          <p:cNvSpPr>
            <a:spLocks xmlns:a="http://schemas.openxmlformats.org/drawingml/2006/main" noGrp="1"/>
          </p:cNvSpPr>
          <p:nvPr/>
        </p:nvSpPr>
        <p:spPr>
          <a:xfrm xmlns:a="http://schemas.openxmlformats.org/drawingml/2006/main">
            <a:off x="6324600" y="5219700"/>
            <a:ext cx="2571750" cy="323850"/>
          </a:xfrm>
          <a:prstGeom xmlns:a="http://schemas.openxmlformats.org/drawingml/2006/main" prst="roundRect">
            <a:avLst>
              <a:gd name="adj" fmla="val 23529"/>
            </a:avLst>
          </a:prstGeom>
          <a:solidFill xmlns:a="http://schemas.openxmlformats.org/drawingml/2006/main">
            <a:srgbClr val="0B1F33"/>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A4B23CB8-77F2-40F7-95FE-B2A28C50FF26}"/>
              </a:ext>
            </a:extLst>
          </p:cNvPr>
          <p:cNvSpPr>
            <a:spLocks xmlns:a="http://schemas.openxmlformats.org/drawingml/2006/main" noGrp="1"/>
          </p:cNvSpPr>
          <p:nvPr/>
        </p:nvSpPr>
        <p:spPr>
          <a:xfrm xmlns:a="http://schemas.openxmlformats.org/drawingml/2006/main">
            <a:off x="6400800" y="5248275"/>
            <a:ext cx="2419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FFFFFF"/>
                </a:solidFill>
              </a:defRPr>
            </a:pPr>
            <a:r>
              <a:rPr sz="975" b="1" i="0">
                <a:solidFill>
                  <a:srgbClr val="FFFFFF"/>
                </a:solidFill>
              </a:rPr>
              <a:t>OFFICIAL METHODOLOGY</a:t>
            </a:r>
          </a:p>
        </p:txBody>
      </p:sp>
      <p:sp>
        <p:nvSpPr>
          <p:cNvPr id="35" name="">
            <a:extLst xmlns:a="http://schemas.openxmlformats.org/drawingml/2006/main">
              <a:ext uri="{FF2B5EF4-FFF2-40B4-BE49-F238E27FC236}">
                <a16:creationId xmlns:a16="http://schemas.microsoft.com/office/drawing/2014/main" id="{35E3F7F1-8CA8-4328-B4EA-EB534C750E53}"/>
              </a:ext>
            </a:extLst>
          </p:cNvPr>
          <p:cNvSpPr>
            <a:spLocks xmlns:a="http://schemas.openxmlformats.org/drawingml/2006/main" noGrp="1"/>
          </p:cNvSpPr>
          <p:nvPr/>
        </p:nvSpPr>
        <p:spPr>
          <a:xfrm xmlns:a="http://schemas.openxmlformats.org/drawingml/2006/main">
            <a:off x="9144000" y="5219700"/>
            <a:ext cx="2362200" cy="323850"/>
          </a:xfrm>
          <a:prstGeom xmlns:a="http://schemas.openxmlformats.org/drawingml/2006/main" prst="roundRect">
            <a:avLst>
              <a:gd name="adj" fmla="val 23529"/>
            </a:avLst>
          </a:prstGeom>
          <a:solidFill xmlns:a="http://schemas.openxmlformats.org/drawingml/2006/main">
            <a:srgbClr val="15803D"/>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8DEA534-17D9-46DC-A411-FC755B257E3C}"/>
              </a:ext>
            </a:extLst>
          </p:cNvPr>
          <p:cNvSpPr>
            <a:spLocks xmlns:a="http://schemas.openxmlformats.org/drawingml/2006/main" noGrp="1"/>
          </p:cNvSpPr>
          <p:nvPr/>
        </p:nvSpPr>
        <p:spPr>
          <a:xfrm xmlns:a="http://schemas.openxmlformats.org/drawingml/2006/main">
            <a:off x="9220200" y="5248275"/>
            <a:ext cx="2209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FFFFFF"/>
                </a:solidFill>
              </a:defRPr>
            </a:pPr>
            <a:r>
              <a:rPr sz="975" b="1" i="0">
                <a:solidFill>
                  <a:srgbClr val="FFFFFF"/>
                </a:solidFill>
              </a:rPr>
              <a:t>DERIVED ANALYTICS</a:t>
            </a:r>
          </a:p>
        </p:txBody>
      </p:sp>
    </p:spTree>
    <p:extLst>
      <p:ext uri="{BB962C8B-B14F-4D97-AF65-F5344CB8AC3E}">
        <p14:creationId xmlns:p14="http://schemas.microsoft.com/office/powerpoint/2010/main" val="10036451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2BAE9C0-7255-4C4D-84F3-C7EFD054093D}"/>
              </a:ext>
            </a:extLst>
          </p:cNvPr>
          <p:cNvSpPr>
            <a:spLocks xmlns:a="http://schemas.openxmlformats.org/drawingml/2006/main" noGrp="1"/>
          </p:cNvSpPr>
          <p:nvPr/>
        </p:nvSpPr>
        <p:spPr>
          <a:xfrm xmlns:a="http://schemas.openxmlformats.org/drawingml/2006/main">
            <a:off x="685800" y="26670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B677A"/>
                </a:solidFill>
              </a:defRPr>
            </a:pPr>
            <a:r>
              <a:rPr sz="975" b="1" i="0">
                <a:solidFill>
                  <a:srgbClr val="5B677A"/>
                </a:solidFill>
              </a:rPr>
              <a:t>AURELIA BANK | FINANCIAL CRIME &amp; AML</a:t>
            </a:r>
          </a:p>
        </p:txBody>
      </p:sp>
      <p:sp>
        <p:nvSpPr>
          <p:cNvPr id="2" name="">
            <a:extLst xmlns:a="http://schemas.openxmlformats.org/drawingml/2006/main">
              <a:ext uri="{FF2B5EF4-FFF2-40B4-BE49-F238E27FC236}">
                <a16:creationId xmlns:a16="http://schemas.microsoft.com/office/drawing/2014/main" id="{165D1C95-27E8-4585-94F4-AE00DC60BC8E}"/>
              </a:ext>
            </a:extLst>
          </p:cNvPr>
          <p:cNvSpPr>
            <a:spLocks xmlns:a="http://schemas.openxmlformats.org/drawingml/2006/main" noGrp="1"/>
          </p:cNvSpPr>
          <p:nvPr/>
        </p:nvSpPr>
        <p:spPr>
          <a:xfrm xmlns:a="http://schemas.openxmlformats.org/drawingml/2006/main">
            <a:off x="11049000" y="2667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5B677A"/>
                </a:solidFill>
              </a:defRPr>
            </a:pPr>
            <a:r>
              <a:rPr sz="975" b="1" i="0">
                <a:solidFill>
                  <a:srgbClr val="5B677A"/>
                </a:solidFill>
              </a:rPr>
              <a:t>05</a:t>
            </a:r>
          </a:p>
        </p:txBody>
      </p:sp>
      <p:sp>
        <p:nvSpPr>
          <p:cNvPr id="3" name="">
            <a:extLst xmlns:a="http://schemas.openxmlformats.org/drawingml/2006/main">
              <a:ext uri="{FF2B5EF4-FFF2-40B4-BE49-F238E27FC236}">
                <a16:creationId xmlns:a16="http://schemas.microsoft.com/office/drawing/2014/main" id="{D3791551-F6C4-48E1-BF99-BDB703849E43}"/>
              </a:ext>
            </a:extLst>
          </p:cNvPr>
          <p:cNvSpPr>
            <a:spLocks xmlns:a="http://schemas.openxmlformats.org/drawingml/2006/main" noGrp="1"/>
          </p:cNvSpPr>
          <p:nvPr/>
        </p:nvSpPr>
        <p:spPr>
          <a:xfrm xmlns:a="http://schemas.openxmlformats.org/drawingml/2006/main">
            <a:off x="685800" y="552450"/>
            <a:ext cx="108204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34E0CFC-79DE-4B27-A96A-A329079CD018}"/>
              </a:ext>
            </a:extLst>
          </p:cNvPr>
          <p:cNvSpPr>
            <a:spLocks xmlns:a="http://schemas.openxmlformats.org/drawingml/2006/main" noGrp="1"/>
          </p:cNvSpPr>
          <p:nvPr/>
        </p:nvSpPr>
        <p:spPr>
          <a:xfrm xmlns:a="http://schemas.openxmlformats.org/drawingml/2006/main">
            <a:off x="685800" y="6515100"/>
            <a:ext cx="942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5B677A"/>
                </a:solidFill>
              </a:defRPr>
            </a:pPr>
            <a:r>
              <a:rPr sz="825" b="0" i="0">
                <a:solidFill>
                  <a:srgbClr val="5B677A"/>
                </a:solidFill>
              </a:rPr>
              <a:t>Sources: synthetic KYC register; FATF beneficial-ownership guidance</a:t>
            </a:r>
          </a:p>
        </p:txBody>
      </p:sp>
      <p:sp>
        <p:nvSpPr>
          <p:cNvPr id="5" name="">
            <a:extLst xmlns:a="http://schemas.openxmlformats.org/drawingml/2006/main">
              <a:ext uri="{FF2B5EF4-FFF2-40B4-BE49-F238E27FC236}">
                <a16:creationId xmlns:a16="http://schemas.microsoft.com/office/drawing/2014/main" id="{3A86049B-5506-45C5-8F1C-C320E291F577}"/>
              </a:ext>
            </a:extLst>
          </p:cNvPr>
          <p:cNvSpPr>
            <a:spLocks xmlns:a="http://schemas.openxmlformats.org/drawingml/2006/main" noGrp="1"/>
          </p:cNvSpPr>
          <p:nvPr/>
        </p:nvSpPr>
        <p:spPr>
          <a:xfrm xmlns:a="http://schemas.openxmlformats.org/drawingml/2006/main">
            <a:off x="10287000" y="6515100"/>
            <a:ext cx="1219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i="0">
                <a:solidFill>
                  <a:srgbClr val="5B677A"/>
                </a:solidFill>
              </a:defRPr>
            </a:pPr>
            <a:r>
              <a:rPr sz="825" b="0" i="0">
                <a:solidFill>
                  <a:srgbClr val="5B677A"/>
                </a:solidFill>
              </a:rPr>
              <a:t>20 AUG 2026</a:t>
            </a:r>
          </a:p>
        </p:txBody>
      </p:sp>
      <p:sp>
        <p:nvSpPr>
          <p:cNvPr id="6" name="">
            <a:extLst xmlns:a="http://schemas.openxmlformats.org/drawingml/2006/main">
              <a:ext uri="{FF2B5EF4-FFF2-40B4-BE49-F238E27FC236}">
                <a16:creationId xmlns:a16="http://schemas.microsoft.com/office/drawing/2014/main" id="{D47CB038-3946-4CFF-BEAD-E9AF917A164A}"/>
              </a:ext>
            </a:extLst>
          </p:cNvPr>
          <p:cNvSpPr>
            <a:spLocks xmlns:a="http://schemas.openxmlformats.org/drawingml/2006/main" noGrp="1"/>
          </p:cNvSpPr>
          <p:nvPr/>
        </p:nvSpPr>
        <p:spPr>
          <a:xfrm xmlns:a="http://schemas.openxmlformats.org/drawingml/2006/main">
            <a:off x="685800" y="7239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0B1F33"/>
                </a:solidFill>
              </a:defRPr>
            </a:pPr>
            <a:r>
              <a:rPr sz="3000" b="1" i="0">
                <a:solidFill>
                  <a:srgbClr val="0B1F33"/>
                </a:solidFill>
              </a:rPr>
              <a:t>KYC freshness—not alert volume—is the first constraint</a:t>
            </a:r>
          </a:p>
        </p:txBody>
      </p:sp>
      <p:sp>
        <p:nvSpPr>
          <p:cNvPr id="7" name="">
            <a:extLst xmlns:a="http://schemas.openxmlformats.org/drawingml/2006/main">
              <a:ext uri="{FF2B5EF4-FFF2-40B4-BE49-F238E27FC236}">
                <a16:creationId xmlns:a16="http://schemas.microsoft.com/office/drawing/2014/main" id="{5AE6B44F-9C86-438B-B49B-4CA7ECBDF9B5}"/>
              </a:ext>
            </a:extLst>
          </p:cNvPr>
          <p:cNvSpPr>
            <a:spLocks xmlns:a="http://schemas.openxmlformats.org/drawingml/2006/main" noGrp="1"/>
          </p:cNvSpPr>
          <p:nvPr/>
        </p:nvSpPr>
        <p:spPr>
          <a:xfrm xmlns:a="http://schemas.openxmlformats.org/drawingml/2006/main">
            <a:off x="685800" y="12954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5B677A"/>
                </a:solidFill>
              </a:defRPr>
            </a:pPr>
            <a:r>
              <a:rPr sz="1350" b="0" i="0">
                <a:solidFill>
                  <a:srgbClr val="5B677A"/>
                </a:solidFill>
              </a:rPr>
              <a:t>29 customers score High inherent risk; 892 periodic reviews are overdue.</a:t>
            </a:r>
          </a:p>
        </p:txBody>
      </p:sp>
      <p:graphicFrame>
        <p:nvGraphicFramePr>
          <p:cNvPr id="22" name="Chart"/>
          <p:cNvGraphicFramePr/>
          <p:nvPr/>
        </p:nvGraphicFramePr>
        <p:xfrm>
          <a:off xmlns:a="http://schemas.openxmlformats.org/drawingml/2006/main" x="685800" y="1981200"/>
          <a:ext xmlns:a="http://schemas.openxmlformats.org/drawingml/2006/main" cx="6191250" cy="3429000"/>
        </p:xfrm>
        <a:graphic xmlns:a="http://schemas.openxmlformats.org/drawingml/2006/main">
          <a:graphicData uri="http://schemas.openxmlformats.org/drawingml/2006/chart">
            <c:chart xmlns:r="http://schemas.openxmlformats.org/officeDocument/2006/relationships" xmlns:c="http://schemas.openxmlformats.org/drawingml/2006/chart" r:id="R12c79887641b464b"/>
          </a:graphicData>
        </a:graphic>
      </p:graphicFrame>
      <p:sp>
        <p:nvSpPr>
          <p:cNvPr id="9" name="">
            <a:extLst xmlns:a="http://schemas.openxmlformats.org/drawingml/2006/main">
              <a:ext uri="{FF2B5EF4-FFF2-40B4-BE49-F238E27FC236}">
                <a16:creationId xmlns:a16="http://schemas.microsoft.com/office/drawing/2014/main" id="{3B1DDB47-22B6-49EE-A0E9-9D2B8030073F}"/>
              </a:ext>
            </a:extLst>
          </p:cNvPr>
          <p:cNvSpPr>
            <a:spLocks xmlns:a="http://schemas.openxmlformats.org/drawingml/2006/main" noGrp="1"/>
          </p:cNvSpPr>
          <p:nvPr/>
        </p:nvSpPr>
        <p:spPr>
          <a:xfrm xmlns:a="http://schemas.openxmlformats.org/drawingml/2006/main">
            <a:off x="7410450" y="1981200"/>
            <a:ext cx="4095750" cy="1657350"/>
          </a:xfrm>
          <a:prstGeom xmlns:a="http://schemas.openxmlformats.org/drawingml/2006/main" prst="rect">
            <a:avLst/>
          </a:prstGeom>
          <a:solidFill xmlns:a="http://schemas.openxmlformats.org/drawingml/2006/main">
            <a:srgbClr val="FDEC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434350A-15BC-4C51-9EEF-64A6D67934F9}"/>
              </a:ext>
            </a:extLst>
          </p:cNvPr>
          <p:cNvSpPr>
            <a:spLocks xmlns:a="http://schemas.openxmlformats.org/drawingml/2006/main" noGrp="1"/>
          </p:cNvSpPr>
          <p:nvPr/>
        </p:nvSpPr>
        <p:spPr>
          <a:xfrm xmlns:a="http://schemas.openxmlformats.org/drawingml/2006/main">
            <a:off x="7753350" y="2209800"/>
            <a:ext cx="3409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i="0">
                <a:solidFill>
                  <a:srgbClr val="C2413B"/>
                </a:solidFill>
              </a:defRPr>
            </a:pPr>
            <a:r>
              <a:rPr sz="2850" b="1" i="0">
                <a:solidFill>
                  <a:srgbClr val="C2413B"/>
                </a:solidFill>
              </a:rPr>
              <a:t>892 overdue</a:t>
            </a:r>
          </a:p>
        </p:txBody>
      </p:sp>
      <p:sp>
        <p:nvSpPr>
          <p:cNvPr id="11" name="">
            <a:extLst xmlns:a="http://schemas.openxmlformats.org/drawingml/2006/main">
              <a:ext uri="{FF2B5EF4-FFF2-40B4-BE49-F238E27FC236}">
                <a16:creationId xmlns:a16="http://schemas.microsoft.com/office/drawing/2014/main" id="{BB5C8976-EE41-4D64-833A-8FA0164A106C}"/>
              </a:ext>
            </a:extLst>
          </p:cNvPr>
          <p:cNvSpPr>
            <a:spLocks xmlns:a="http://schemas.openxmlformats.org/drawingml/2006/main" noGrp="1"/>
          </p:cNvSpPr>
          <p:nvPr/>
        </p:nvSpPr>
        <p:spPr>
          <a:xfrm xmlns:a="http://schemas.openxmlformats.org/drawingml/2006/main">
            <a:off x="7753350" y="2800350"/>
            <a:ext cx="3409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0B1F33"/>
                </a:solidFill>
              </a:defRPr>
            </a:pPr>
            <a:r>
              <a:rPr sz="1650" b="1" i="0">
                <a:solidFill>
                  <a:srgbClr val="0B1F33"/>
                </a:solidFill>
              </a:rPr>
              <a:t>49.6% vs 35% ceiling</a:t>
            </a:r>
          </a:p>
        </p:txBody>
      </p:sp>
      <p:sp>
        <p:nvSpPr>
          <p:cNvPr id="12" name="">
            <a:extLst xmlns:a="http://schemas.openxmlformats.org/drawingml/2006/main">
              <a:ext uri="{FF2B5EF4-FFF2-40B4-BE49-F238E27FC236}">
                <a16:creationId xmlns:a16="http://schemas.microsoft.com/office/drawing/2014/main" id="{9F768921-F48C-4AF7-B785-93A3FD01DD85}"/>
              </a:ext>
            </a:extLst>
          </p:cNvPr>
          <p:cNvSpPr>
            <a:spLocks xmlns:a="http://schemas.openxmlformats.org/drawingml/2006/main" noGrp="1"/>
          </p:cNvSpPr>
          <p:nvPr/>
        </p:nvSpPr>
        <p:spPr>
          <a:xfrm xmlns:a="http://schemas.openxmlformats.org/drawingml/2006/main">
            <a:off x="7410450" y="3905250"/>
            <a:ext cx="4095750" cy="150495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B6F5C48-B029-48FB-91F6-484A210B17DD}"/>
              </a:ext>
            </a:extLst>
          </p:cNvPr>
          <p:cNvSpPr>
            <a:spLocks xmlns:a="http://schemas.openxmlformats.org/drawingml/2006/main" noGrp="1"/>
          </p:cNvSpPr>
          <p:nvPr/>
        </p:nvSpPr>
        <p:spPr>
          <a:xfrm xmlns:a="http://schemas.openxmlformats.org/drawingml/2006/main">
            <a:off x="7753350" y="4114800"/>
            <a:ext cx="3409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0E7490"/>
                </a:solidFill>
              </a:defRPr>
            </a:pPr>
            <a:r>
              <a:rPr sz="1125" b="1" i="0">
                <a:solidFill>
                  <a:srgbClr val="0E7490"/>
                </a:solidFill>
              </a:rPr>
              <a:t>CLEARANCE ORDER</a:t>
            </a:r>
          </a:p>
        </p:txBody>
      </p:sp>
      <p:sp>
        <p:nvSpPr>
          <p:cNvPr id="14" name="">
            <a:extLst xmlns:a="http://schemas.openxmlformats.org/drawingml/2006/main">
              <a:ext uri="{FF2B5EF4-FFF2-40B4-BE49-F238E27FC236}">
                <a16:creationId xmlns:a16="http://schemas.microsoft.com/office/drawing/2014/main" id="{30A05B04-8507-4B73-9029-AAA6312180B1}"/>
              </a:ext>
            </a:extLst>
          </p:cNvPr>
          <p:cNvSpPr>
            <a:spLocks xmlns:a="http://schemas.openxmlformats.org/drawingml/2006/main" noGrp="1"/>
          </p:cNvSpPr>
          <p:nvPr/>
        </p:nvSpPr>
        <p:spPr>
          <a:xfrm xmlns:a="http://schemas.openxmlformats.org/drawingml/2006/main">
            <a:off x="7753350" y="4552950"/>
            <a:ext cx="3409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0B1F33"/>
                </a:solidFill>
              </a:defRPr>
            </a:pPr>
            <a:r>
              <a:rPr sz="1500" b="1" i="0">
                <a:solidFill>
                  <a:srgbClr val="0B1F33"/>
                </a:solidFill>
              </a:rPr>
              <a:t>1  Alerted + High risk</a:t>
            </a:r>
          </a:p>
          <a:p xmlns:a="http://schemas.openxmlformats.org/drawingml/2006/main">
            <a:pPr algn="l">
              <a:defRPr sz="1500" b="1" i="0">
                <a:solidFill>
                  <a:srgbClr val="0B1F33"/>
                </a:solidFill>
              </a:defRPr>
            </a:pPr>
            <a:r>
              <a:rPr sz="1500" b="1" i="0">
                <a:solidFill>
                  <a:srgbClr val="0B1F33"/>
                </a:solidFill>
              </a:rPr>
              <a:t>2  Alerted + overdue</a:t>
            </a:r>
          </a:p>
          <a:p xmlns:a="http://schemas.openxmlformats.org/drawingml/2006/main">
            <a:pPr algn="l">
              <a:defRPr sz="1500" b="1" i="0">
                <a:solidFill>
                  <a:srgbClr val="0B1F33"/>
                </a:solidFill>
              </a:defRPr>
            </a:pPr>
            <a:r>
              <a:rPr sz="1500" b="1" i="0">
                <a:solidFill>
                  <a:srgbClr val="0B1F33"/>
                </a:solidFill>
              </a:rPr>
              <a:t>3  Remaining risk-ranked backlog</a:t>
            </a:r>
          </a:p>
        </p:txBody>
      </p:sp>
    </p:spTree>
    <p:extLst>
      <p:ext uri="{BB962C8B-B14F-4D97-AF65-F5344CB8AC3E}">
        <p14:creationId xmlns:p14="http://schemas.microsoft.com/office/powerpoint/2010/main" val="4489491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C915128-31DE-4F4C-952E-EA6B9C76A985}"/>
              </a:ext>
            </a:extLst>
          </p:cNvPr>
          <p:cNvSpPr>
            <a:spLocks xmlns:a="http://schemas.openxmlformats.org/drawingml/2006/main" noGrp="1"/>
          </p:cNvSpPr>
          <p:nvPr/>
        </p:nvSpPr>
        <p:spPr>
          <a:xfrm xmlns:a="http://schemas.openxmlformats.org/drawingml/2006/main">
            <a:off x="685800" y="26670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B677A"/>
                </a:solidFill>
              </a:defRPr>
            </a:pPr>
            <a:r>
              <a:rPr sz="975" b="1" i="0">
                <a:solidFill>
                  <a:srgbClr val="5B677A"/>
                </a:solidFill>
              </a:rPr>
              <a:t>AURELIA BANK | FINANCIAL CRIME &amp; AML</a:t>
            </a:r>
          </a:p>
        </p:txBody>
      </p:sp>
      <p:sp>
        <p:nvSpPr>
          <p:cNvPr id="2" name="">
            <a:extLst xmlns:a="http://schemas.openxmlformats.org/drawingml/2006/main">
              <a:ext uri="{FF2B5EF4-FFF2-40B4-BE49-F238E27FC236}">
                <a16:creationId xmlns:a16="http://schemas.microsoft.com/office/drawing/2014/main" id="{697D8E2F-3E08-4DF2-8910-8121B059F74B}"/>
              </a:ext>
            </a:extLst>
          </p:cNvPr>
          <p:cNvSpPr>
            <a:spLocks xmlns:a="http://schemas.openxmlformats.org/drawingml/2006/main" noGrp="1"/>
          </p:cNvSpPr>
          <p:nvPr/>
        </p:nvSpPr>
        <p:spPr>
          <a:xfrm xmlns:a="http://schemas.openxmlformats.org/drawingml/2006/main">
            <a:off x="11049000" y="2667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5B677A"/>
                </a:solidFill>
              </a:defRPr>
            </a:pPr>
            <a:r>
              <a:rPr sz="975" b="1" i="0">
                <a:solidFill>
                  <a:srgbClr val="5B677A"/>
                </a:solidFill>
              </a:rPr>
              <a:t>06</a:t>
            </a:r>
          </a:p>
        </p:txBody>
      </p:sp>
      <p:sp>
        <p:nvSpPr>
          <p:cNvPr id="3" name="">
            <a:extLst xmlns:a="http://schemas.openxmlformats.org/drawingml/2006/main">
              <a:ext uri="{FF2B5EF4-FFF2-40B4-BE49-F238E27FC236}">
                <a16:creationId xmlns:a16="http://schemas.microsoft.com/office/drawing/2014/main" id="{1EB4A29D-8352-490D-B1E6-A2816C4AB04D}"/>
              </a:ext>
            </a:extLst>
          </p:cNvPr>
          <p:cNvSpPr>
            <a:spLocks xmlns:a="http://schemas.openxmlformats.org/drawingml/2006/main" noGrp="1"/>
          </p:cNvSpPr>
          <p:nvPr/>
        </p:nvSpPr>
        <p:spPr>
          <a:xfrm xmlns:a="http://schemas.openxmlformats.org/drawingml/2006/main">
            <a:off x="685800" y="552450"/>
            <a:ext cx="108204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83507CB-B4D9-49AA-BBF7-9BDA482CB954}"/>
              </a:ext>
            </a:extLst>
          </p:cNvPr>
          <p:cNvSpPr>
            <a:spLocks xmlns:a="http://schemas.openxmlformats.org/drawingml/2006/main" noGrp="1"/>
          </p:cNvSpPr>
          <p:nvPr/>
        </p:nvSpPr>
        <p:spPr>
          <a:xfrm xmlns:a="http://schemas.openxmlformats.org/drawingml/2006/main">
            <a:off x="685800" y="6515100"/>
            <a:ext cx="942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5B677A"/>
                </a:solidFill>
              </a:defRPr>
            </a:pPr>
            <a:r>
              <a:rPr sz="825" b="0" i="0">
                <a:solidFill>
                  <a:srgbClr val="5B677A"/>
                </a:solidFill>
              </a:rPr>
              <a:t>Sources: config/scenarios.yml and artifacts/results/alerts.csv</a:t>
            </a:r>
          </a:p>
        </p:txBody>
      </p:sp>
      <p:sp>
        <p:nvSpPr>
          <p:cNvPr id="5" name="">
            <a:extLst xmlns:a="http://schemas.openxmlformats.org/drawingml/2006/main">
              <a:ext uri="{FF2B5EF4-FFF2-40B4-BE49-F238E27FC236}">
                <a16:creationId xmlns:a16="http://schemas.microsoft.com/office/drawing/2014/main" id="{91BD523F-CEAE-4200-8517-C436D1BD8E49}"/>
              </a:ext>
            </a:extLst>
          </p:cNvPr>
          <p:cNvSpPr>
            <a:spLocks xmlns:a="http://schemas.openxmlformats.org/drawingml/2006/main" noGrp="1"/>
          </p:cNvSpPr>
          <p:nvPr/>
        </p:nvSpPr>
        <p:spPr>
          <a:xfrm xmlns:a="http://schemas.openxmlformats.org/drawingml/2006/main">
            <a:off x="10287000" y="6515100"/>
            <a:ext cx="1219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i="0">
                <a:solidFill>
                  <a:srgbClr val="5B677A"/>
                </a:solidFill>
              </a:defRPr>
            </a:pPr>
            <a:r>
              <a:rPr sz="825" b="0" i="0">
                <a:solidFill>
                  <a:srgbClr val="5B677A"/>
                </a:solidFill>
              </a:rPr>
              <a:t>20 AUG 2026</a:t>
            </a:r>
          </a:p>
        </p:txBody>
      </p:sp>
      <p:sp>
        <p:nvSpPr>
          <p:cNvPr id="6" name="">
            <a:extLst xmlns:a="http://schemas.openxmlformats.org/drawingml/2006/main">
              <a:ext uri="{FF2B5EF4-FFF2-40B4-BE49-F238E27FC236}">
                <a16:creationId xmlns:a16="http://schemas.microsoft.com/office/drawing/2014/main" id="{74622214-CD21-455A-AD6F-12EB276A6025}"/>
              </a:ext>
            </a:extLst>
          </p:cNvPr>
          <p:cNvSpPr>
            <a:spLocks xmlns:a="http://schemas.openxmlformats.org/drawingml/2006/main" noGrp="1"/>
          </p:cNvSpPr>
          <p:nvPr/>
        </p:nvSpPr>
        <p:spPr>
          <a:xfrm xmlns:a="http://schemas.openxmlformats.org/drawingml/2006/main">
            <a:off x="685800" y="7239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0B1F33"/>
                </a:solidFill>
              </a:defRPr>
            </a:pPr>
            <a:r>
              <a:rPr sz="3000" b="1" i="0">
                <a:solidFill>
                  <a:srgbClr val="0B1F33"/>
                </a:solidFill>
              </a:rPr>
              <a:t>Six scenarios create a balanced 7.0% alert rate</a:t>
            </a:r>
          </a:p>
        </p:txBody>
      </p:sp>
      <p:sp>
        <p:nvSpPr>
          <p:cNvPr id="7" name="">
            <a:extLst xmlns:a="http://schemas.openxmlformats.org/drawingml/2006/main">
              <a:ext uri="{FF2B5EF4-FFF2-40B4-BE49-F238E27FC236}">
                <a16:creationId xmlns:a16="http://schemas.microsoft.com/office/drawing/2014/main" id="{FAB67BD6-2654-4F54-B736-DF1EE0F23A1F}"/>
              </a:ext>
            </a:extLst>
          </p:cNvPr>
          <p:cNvSpPr>
            <a:spLocks xmlns:a="http://schemas.openxmlformats.org/drawingml/2006/main" noGrp="1"/>
          </p:cNvSpPr>
          <p:nvPr/>
        </p:nvSpPr>
        <p:spPr>
          <a:xfrm xmlns:a="http://schemas.openxmlformats.org/drawingml/2006/main">
            <a:off x="685800" y="12954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5B677A"/>
                </a:solidFill>
              </a:defRPr>
            </a:pPr>
            <a:r>
              <a:rPr sz="1350" b="0" i="0">
                <a:solidFill>
                  <a:srgbClr val="5B677A"/>
                </a:solidFill>
              </a:rPr>
              <a:t>Circular transfer is largest; no single scenario dominates the queue.</a:t>
            </a:r>
          </a:p>
        </p:txBody>
      </p:sp>
      <p:graphicFrame>
        <p:nvGraphicFramePr>
          <p:cNvPr id="21" name="Chart"/>
          <p:cNvGraphicFramePr/>
          <p:nvPr/>
        </p:nvGraphicFramePr>
        <p:xfrm>
          <a:off xmlns:a="http://schemas.openxmlformats.org/drawingml/2006/main" x="685800" y="1924050"/>
          <a:ext xmlns:a="http://schemas.openxmlformats.org/drawingml/2006/main" cx="7239000" cy="3905250"/>
        </p:xfrm>
        <a:graphic xmlns:a="http://schemas.openxmlformats.org/drawingml/2006/main">
          <a:graphicData uri="http://schemas.openxmlformats.org/drawingml/2006/chart">
            <c:chart xmlns:r="http://schemas.openxmlformats.org/officeDocument/2006/relationships" xmlns:c="http://schemas.openxmlformats.org/drawingml/2006/chart" r:id="R641b154ef0a1499b"/>
          </a:graphicData>
        </a:graphic>
      </p:graphicFrame>
      <p:sp>
        <p:nvSpPr>
          <p:cNvPr id="9" name="">
            <a:extLst xmlns:a="http://schemas.openxmlformats.org/drawingml/2006/main">
              <a:ext uri="{FF2B5EF4-FFF2-40B4-BE49-F238E27FC236}">
                <a16:creationId xmlns:a16="http://schemas.microsoft.com/office/drawing/2014/main" id="{ED26B4CE-781A-44C8-B0F0-F90DB225E453}"/>
              </a:ext>
            </a:extLst>
          </p:cNvPr>
          <p:cNvSpPr>
            <a:spLocks xmlns:a="http://schemas.openxmlformats.org/drawingml/2006/main" noGrp="1"/>
          </p:cNvSpPr>
          <p:nvPr/>
        </p:nvSpPr>
        <p:spPr>
          <a:xfrm xmlns:a="http://schemas.openxmlformats.org/drawingml/2006/main">
            <a:off x="8439150" y="1924050"/>
            <a:ext cx="3067050" cy="390525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5FD96AB-E227-4A4C-A6D1-8CAED7F057AF}"/>
              </a:ext>
            </a:extLst>
          </p:cNvPr>
          <p:cNvSpPr>
            <a:spLocks xmlns:a="http://schemas.openxmlformats.org/drawingml/2006/main" noGrp="1"/>
          </p:cNvSpPr>
          <p:nvPr/>
        </p:nvSpPr>
        <p:spPr>
          <a:xfrm xmlns:a="http://schemas.openxmlformats.org/drawingml/2006/main">
            <a:off x="8763000" y="2190750"/>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0E7490"/>
                </a:solidFill>
              </a:defRPr>
            </a:pPr>
            <a:r>
              <a:rPr sz="1125" b="1" i="0">
                <a:solidFill>
                  <a:srgbClr val="0E7490"/>
                </a:solidFill>
              </a:rPr>
              <a:t>PARAMETER DISCIPLINE</a:t>
            </a:r>
          </a:p>
        </p:txBody>
      </p:sp>
      <p:sp>
        <p:nvSpPr>
          <p:cNvPr id="11" name="">
            <a:extLst xmlns:a="http://schemas.openxmlformats.org/drawingml/2006/main">
              <a:ext uri="{FF2B5EF4-FFF2-40B4-BE49-F238E27FC236}">
                <a16:creationId xmlns:a16="http://schemas.microsoft.com/office/drawing/2014/main" id="{5F8D5739-8EA9-41D9-B869-32D4A5734EB9}"/>
              </a:ext>
            </a:extLst>
          </p:cNvPr>
          <p:cNvSpPr>
            <a:spLocks xmlns:a="http://schemas.openxmlformats.org/drawingml/2006/main" noGrp="1"/>
          </p:cNvSpPr>
          <p:nvPr/>
        </p:nvSpPr>
        <p:spPr>
          <a:xfrm xmlns:a="http://schemas.openxmlformats.org/drawingml/2006/main">
            <a:off x="8763000" y="2724150"/>
            <a:ext cx="24193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i="0">
                <a:solidFill>
                  <a:srgbClr val="0B1F33"/>
                </a:solidFill>
              </a:defRPr>
            </a:pPr>
            <a:r>
              <a:rPr sz="1500" b="0" i="0">
                <a:solidFill>
                  <a:srgbClr val="0B1F33"/>
                </a:solidFill>
              </a:rPr>
              <a:t>• every threshold is internal</a:t>
            </a:r>
          </a:p>
          <a:p xmlns:a="http://schemas.openxmlformats.org/drawingml/2006/main">
            <a:r>
              <a:t/>
            </a:r>
          </a:p>
          <a:p xmlns:a="http://schemas.openxmlformats.org/drawingml/2006/main">
            <a:pPr algn="l">
              <a:defRPr sz="1500" b="0" i="0">
                <a:solidFill>
                  <a:srgbClr val="0B1F33"/>
                </a:solidFill>
              </a:defRPr>
            </a:pPr>
            <a:r>
              <a:rPr sz="1500" b="0" i="0">
                <a:solidFill>
                  <a:srgbClr val="0B1F33"/>
                </a:solidFill>
              </a:rPr>
              <a:t>• each hit keeps source IDs</a:t>
            </a:r>
          </a:p>
          <a:p xmlns:a="http://schemas.openxmlformats.org/drawingml/2006/main">
            <a:r>
              <a:t/>
            </a:r>
          </a:p>
          <a:p xmlns:a="http://schemas.openxmlformats.org/drawingml/2006/main">
            <a:pPr algn="l">
              <a:defRPr sz="1500" b="0" i="0">
                <a:solidFill>
                  <a:srgbClr val="0B1F33"/>
                </a:solidFill>
              </a:defRPr>
            </a:pPr>
            <a:r>
              <a:rPr sz="1500" b="0" i="0">
                <a:solidFill>
                  <a:srgbClr val="0B1F33"/>
                </a:solidFill>
              </a:rPr>
              <a:t>• amounts never replace suspicion</a:t>
            </a:r>
          </a:p>
          <a:p xmlns:a="http://schemas.openxmlformats.org/drawingml/2006/main">
            <a:r>
              <a:t/>
            </a:r>
          </a:p>
          <a:p xmlns:a="http://schemas.openxmlformats.org/drawingml/2006/main">
            <a:pPr algn="l">
              <a:defRPr sz="1500" b="0" i="0">
                <a:solidFill>
                  <a:srgbClr val="0B1F33"/>
                </a:solidFill>
              </a:defRPr>
            </a:pPr>
            <a:r>
              <a:rPr sz="1500" b="0" i="0">
                <a:solidFill>
                  <a:srgbClr val="0B1F33"/>
                </a:solidFill>
              </a:rPr>
              <a:t>• tuning requires change control</a:t>
            </a:r>
          </a:p>
        </p:txBody>
      </p:sp>
      <p:sp>
        <p:nvSpPr>
          <p:cNvPr id="12" name="">
            <a:extLst xmlns:a="http://schemas.openxmlformats.org/drawingml/2006/main">
              <a:ext uri="{FF2B5EF4-FFF2-40B4-BE49-F238E27FC236}">
                <a16:creationId xmlns:a16="http://schemas.microsoft.com/office/drawing/2014/main" id="{1164F634-5A79-4D78-BE12-C5117A47BE17}"/>
              </a:ext>
            </a:extLst>
          </p:cNvPr>
          <p:cNvSpPr>
            <a:spLocks xmlns:a="http://schemas.openxmlformats.org/drawingml/2006/main" noGrp="1"/>
          </p:cNvSpPr>
          <p:nvPr/>
        </p:nvSpPr>
        <p:spPr>
          <a:xfrm xmlns:a="http://schemas.openxmlformats.org/drawingml/2006/main">
            <a:off x="8763000" y="5029200"/>
            <a:ext cx="2419350" cy="323850"/>
          </a:xfrm>
          <a:prstGeom xmlns:a="http://schemas.openxmlformats.org/drawingml/2006/main" prst="roundRect">
            <a:avLst>
              <a:gd name="adj" fmla="val 23529"/>
            </a:avLst>
          </a:prstGeom>
          <a:solidFill xmlns:a="http://schemas.openxmlformats.org/drawingml/2006/main">
            <a:srgbClr val="0B1F3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7D633AA-B305-4963-9A57-7B50995D4DC2}"/>
              </a:ext>
            </a:extLst>
          </p:cNvPr>
          <p:cNvSpPr>
            <a:spLocks xmlns:a="http://schemas.openxmlformats.org/drawingml/2006/main" noGrp="1"/>
          </p:cNvSpPr>
          <p:nvPr/>
        </p:nvSpPr>
        <p:spPr>
          <a:xfrm xmlns:a="http://schemas.openxmlformats.org/drawingml/2006/main">
            <a:off x="8839200" y="5057775"/>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i="0">
                <a:solidFill>
                  <a:srgbClr val="FFFFFF"/>
                </a:solidFill>
              </a:defRPr>
            </a:pPr>
            <a:r>
              <a:rPr sz="975" b="1" i="0">
                <a:solidFill>
                  <a:srgbClr val="FFFFFF"/>
                </a:solidFill>
              </a:rPr>
              <a:t>HUMAN REVIEW</a:t>
            </a:r>
          </a:p>
        </p:txBody>
      </p:sp>
    </p:spTree>
    <p:extLst>
      <p:ext uri="{BB962C8B-B14F-4D97-AF65-F5344CB8AC3E}">
        <p14:creationId xmlns:p14="http://schemas.microsoft.com/office/powerpoint/2010/main" val="7289840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F2AEA79-532B-4F8D-B7AC-BF809F49CCCA}"/>
              </a:ext>
            </a:extLst>
          </p:cNvPr>
          <p:cNvSpPr>
            <a:spLocks xmlns:a="http://schemas.openxmlformats.org/drawingml/2006/main" noGrp="1"/>
          </p:cNvSpPr>
          <p:nvPr/>
        </p:nvSpPr>
        <p:spPr>
          <a:xfrm xmlns:a="http://schemas.openxmlformats.org/drawingml/2006/main">
            <a:off x="685800" y="26670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B677A"/>
                </a:solidFill>
              </a:defRPr>
            </a:pPr>
            <a:r>
              <a:rPr sz="975" b="1" i="0">
                <a:solidFill>
                  <a:srgbClr val="5B677A"/>
                </a:solidFill>
              </a:rPr>
              <a:t>AURELIA BANK | FINANCIAL CRIME &amp; AML</a:t>
            </a:r>
          </a:p>
        </p:txBody>
      </p:sp>
      <p:sp>
        <p:nvSpPr>
          <p:cNvPr id="2" name="">
            <a:extLst xmlns:a="http://schemas.openxmlformats.org/drawingml/2006/main">
              <a:ext uri="{FF2B5EF4-FFF2-40B4-BE49-F238E27FC236}">
                <a16:creationId xmlns:a16="http://schemas.microsoft.com/office/drawing/2014/main" id="{7B4AF8B9-6249-40C2-A6C8-8FCA53CDBD43}"/>
              </a:ext>
            </a:extLst>
          </p:cNvPr>
          <p:cNvSpPr>
            <a:spLocks xmlns:a="http://schemas.openxmlformats.org/drawingml/2006/main" noGrp="1"/>
          </p:cNvSpPr>
          <p:nvPr/>
        </p:nvSpPr>
        <p:spPr>
          <a:xfrm xmlns:a="http://schemas.openxmlformats.org/drawingml/2006/main">
            <a:off x="11049000" y="2667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5B677A"/>
                </a:solidFill>
              </a:defRPr>
            </a:pPr>
            <a:r>
              <a:rPr sz="975" b="1" i="0">
                <a:solidFill>
                  <a:srgbClr val="5B677A"/>
                </a:solidFill>
              </a:rPr>
              <a:t>07</a:t>
            </a:r>
          </a:p>
        </p:txBody>
      </p:sp>
      <p:sp>
        <p:nvSpPr>
          <p:cNvPr id="3" name="">
            <a:extLst xmlns:a="http://schemas.openxmlformats.org/drawingml/2006/main">
              <a:ext uri="{FF2B5EF4-FFF2-40B4-BE49-F238E27FC236}">
                <a16:creationId xmlns:a16="http://schemas.microsoft.com/office/drawing/2014/main" id="{489699F7-6127-4724-B05A-72B48A47B1C6}"/>
              </a:ext>
            </a:extLst>
          </p:cNvPr>
          <p:cNvSpPr>
            <a:spLocks xmlns:a="http://schemas.openxmlformats.org/drawingml/2006/main" noGrp="1"/>
          </p:cNvSpPr>
          <p:nvPr/>
        </p:nvSpPr>
        <p:spPr>
          <a:xfrm xmlns:a="http://schemas.openxmlformats.org/drawingml/2006/main">
            <a:off x="685800" y="552450"/>
            <a:ext cx="108204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3230AA5-1EA8-4FA3-9219-7AFA57E9CF3D}"/>
              </a:ext>
            </a:extLst>
          </p:cNvPr>
          <p:cNvSpPr>
            <a:spLocks xmlns:a="http://schemas.openxmlformats.org/drawingml/2006/main" noGrp="1"/>
          </p:cNvSpPr>
          <p:nvPr/>
        </p:nvSpPr>
        <p:spPr>
          <a:xfrm xmlns:a="http://schemas.openxmlformats.org/drawingml/2006/main">
            <a:off x="685800" y="6515100"/>
            <a:ext cx="942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5B677A"/>
                </a:solidFill>
              </a:defRPr>
            </a:pPr>
            <a:r>
              <a:rPr sz="825" b="0" i="0">
                <a:solidFill>
                  <a:srgbClr val="5B677A"/>
                </a:solidFill>
              </a:rPr>
              <a:t>Source: isolated synthetic validation truth and artifacts/results/performance.csv</a:t>
            </a:r>
          </a:p>
        </p:txBody>
      </p:sp>
      <p:sp>
        <p:nvSpPr>
          <p:cNvPr id="5" name="">
            <a:extLst xmlns:a="http://schemas.openxmlformats.org/drawingml/2006/main">
              <a:ext uri="{FF2B5EF4-FFF2-40B4-BE49-F238E27FC236}">
                <a16:creationId xmlns:a16="http://schemas.microsoft.com/office/drawing/2014/main" id="{4FB8C824-6F0A-46F0-A211-F69520A891B6}"/>
              </a:ext>
            </a:extLst>
          </p:cNvPr>
          <p:cNvSpPr>
            <a:spLocks xmlns:a="http://schemas.openxmlformats.org/drawingml/2006/main" noGrp="1"/>
          </p:cNvSpPr>
          <p:nvPr/>
        </p:nvSpPr>
        <p:spPr>
          <a:xfrm xmlns:a="http://schemas.openxmlformats.org/drawingml/2006/main">
            <a:off x="10287000" y="6515100"/>
            <a:ext cx="1219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i="0">
                <a:solidFill>
                  <a:srgbClr val="5B677A"/>
                </a:solidFill>
              </a:defRPr>
            </a:pPr>
            <a:r>
              <a:rPr sz="825" b="0" i="0">
                <a:solidFill>
                  <a:srgbClr val="5B677A"/>
                </a:solidFill>
              </a:rPr>
              <a:t>20 AUG 2026</a:t>
            </a:r>
          </a:p>
        </p:txBody>
      </p:sp>
      <p:sp>
        <p:nvSpPr>
          <p:cNvPr id="6" name="">
            <a:extLst xmlns:a="http://schemas.openxmlformats.org/drawingml/2006/main">
              <a:ext uri="{FF2B5EF4-FFF2-40B4-BE49-F238E27FC236}">
                <a16:creationId xmlns:a16="http://schemas.microsoft.com/office/drawing/2014/main" id="{6E83CE7F-99B5-4515-B3F1-B94A1058922E}"/>
              </a:ext>
            </a:extLst>
          </p:cNvPr>
          <p:cNvSpPr>
            <a:spLocks xmlns:a="http://schemas.openxmlformats.org/drawingml/2006/main" noGrp="1"/>
          </p:cNvSpPr>
          <p:nvPr/>
        </p:nvSpPr>
        <p:spPr>
          <a:xfrm xmlns:a="http://schemas.openxmlformats.org/drawingml/2006/main">
            <a:off x="685800" y="7239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0B1F33"/>
                </a:solidFill>
              </a:defRPr>
            </a:pPr>
            <a:r>
              <a:rPr sz="3000" b="1" i="0">
                <a:solidFill>
                  <a:srgbClr val="0B1F33"/>
                </a:solidFill>
              </a:rPr>
              <a:t>Lookalikes keep precision honest</a:t>
            </a:r>
          </a:p>
        </p:txBody>
      </p:sp>
      <p:sp>
        <p:nvSpPr>
          <p:cNvPr id="7" name="">
            <a:extLst xmlns:a="http://schemas.openxmlformats.org/drawingml/2006/main">
              <a:ext uri="{FF2B5EF4-FFF2-40B4-BE49-F238E27FC236}">
                <a16:creationId xmlns:a16="http://schemas.microsoft.com/office/drawing/2014/main" id="{26D9389F-A56E-4D84-B741-80687B1F6391}"/>
              </a:ext>
            </a:extLst>
          </p:cNvPr>
          <p:cNvSpPr>
            <a:spLocks xmlns:a="http://schemas.openxmlformats.org/drawingml/2006/main" noGrp="1"/>
          </p:cNvSpPr>
          <p:nvPr/>
        </p:nvSpPr>
        <p:spPr>
          <a:xfrm xmlns:a="http://schemas.openxmlformats.org/drawingml/2006/main">
            <a:off x="685800" y="12954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5B677A"/>
                </a:solidFill>
              </a:defRPr>
            </a:pPr>
            <a:r>
              <a:rPr sz="1350" b="0" i="0">
                <a:solidFill>
                  <a:srgbClr val="5B677A"/>
                </a:solidFill>
              </a:rPr>
              <a:t>Overall synthetic precision is 67.9%; recall is 98.9%; Funnel/Mule retains one false negative.</a:t>
            </a:r>
          </a:p>
        </p:txBody>
      </p:sp>
      <p:graphicFrame>
        <p:nvGraphicFramePr>
          <p:cNvPr id="24" name="Chart"/>
          <p:cNvGraphicFramePr/>
          <p:nvPr/>
        </p:nvGraphicFramePr>
        <p:xfrm>
          <a:off xmlns:a="http://schemas.openxmlformats.org/drawingml/2006/main" x="685800" y="1952625"/>
          <a:ext xmlns:a="http://schemas.openxmlformats.org/drawingml/2006/main" cx="7429500" cy="3762375"/>
        </p:xfrm>
        <a:graphic xmlns:a="http://schemas.openxmlformats.org/drawingml/2006/main">
          <a:graphicData uri="http://schemas.openxmlformats.org/drawingml/2006/chart">
            <c:chart xmlns:r="http://schemas.openxmlformats.org/officeDocument/2006/relationships" xmlns:c="http://schemas.openxmlformats.org/drawingml/2006/chart" r:id="R7a2e83b6949d4665"/>
          </a:graphicData>
        </a:graphic>
      </p:graphicFrame>
      <p:sp>
        <p:nvSpPr>
          <p:cNvPr id="9" name="">
            <a:extLst xmlns:a="http://schemas.openxmlformats.org/drawingml/2006/main">
              <a:ext uri="{FF2B5EF4-FFF2-40B4-BE49-F238E27FC236}">
                <a16:creationId xmlns:a16="http://schemas.microsoft.com/office/drawing/2014/main" id="{008BC6CA-40CC-4C78-89C6-62B99939F181}"/>
              </a:ext>
            </a:extLst>
          </p:cNvPr>
          <p:cNvSpPr>
            <a:spLocks xmlns:a="http://schemas.openxmlformats.org/drawingml/2006/main" noGrp="1"/>
          </p:cNvSpPr>
          <p:nvPr/>
        </p:nvSpPr>
        <p:spPr>
          <a:xfrm xmlns:a="http://schemas.openxmlformats.org/drawingml/2006/main">
            <a:off x="8591550" y="1952625"/>
            <a:ext cx="2914650" cy="2076450"/>
          </a:xfrm>
          <a:prstGeom xmlns:a="http://schemas.openxmlformats.org/drawingml/2006/main" prst="rect">
            <a:avLst/>
          </a:prstGeom>
          <a:solidFill xmlns:a="http://schemas.openxmlformats.org/drawingml/2006/main">
            <a:srgbClr val="FFF7E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D9433B8-4FA5-451B-9746-64578C50470C}"/>
              </a:ext>
            </a:extLst>
          </p:cNvPr>
          <p:cNvSpPr>
            <a:spLocks xmlns:a="http://schemas.openxmlformats.org/drawingml/2006/main" noGrp="1"/>
          </p:cNvSpPr>
          <p:nvPr/>
        </p:nvSpPr>
        <p:spPr>
          <a:xfrm xmlns:a="http://schemas.openxmlformats.org/drawingml/2006/main">
            <a:off x="8839200" y="2162175"/>
            <a:ext cx="2419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i="0">
                <a:solidFill>
                  <a:srgbClr val="D97706"/>
                </a:solidFill>
              </a:defRPr>
            </a:pPr>
            <a:r>
              <a:rPr sz="3150" b="1" i="0">
                <a:solidFill>
                  <a:srgbClr val="D97706"/>
                </a:solidFill>
              </a:rPr>
              <a:t>43</a:t>
            </a:r>
          </a:p>
        </p:txBody>
      </p:sp>
      <p:sp>
        <p:nvSpPr>
          <p:cNvPr id="11" name="">
            <a:extLst xmlns:a="http://schemas.openxmlformats.org/drawingml/2006/main">
              <a:ext uri="{FF2B5EF4-FFF2-40B4-BE49-F238E27FC236}">
                <a16:creationId xmlns:a16="http://schemas.microsoft.com/office/drawing/2014/main" id="{76430410-B317-4F48-8553-0FBC739FC555}"/>
              </a:ext>
            </a:extLst>
          </p:cNvPr>
          <p:cNvSpPr>
            <a:spLocks xmlns:a="http://schemas.openxmlformats.org/drawingml/2006/main" noGrp="1"/>
          </p:cNvSpPr>
          <p:nvPr/>
        </p:nvSpPr>
        <p:spPr>
          <a:xfrm xmlns:a="http://schemas.openxmlformats.org/drawingml/2006/main">
            <a:off x="8839200" y="2790825"/>
            <a:ext cx="2419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0B1F33"/>
                </a:solidFill>
              </a:defRPr>
            </a:pPr>
            <a:r>
              <a:rPr sz="1500" b="1" i="0">
                <a:solidFill>
                  <a:srgbClr val="0B1F33"/>
                </a:solidFill>
              </a:rPr>
              <a:t>False positives</a:t>
            </a:r>
          </a:p>
        </p:txBody>
      </p:sp>
      <p:sp>
        <p:nvSpPr>
          <p:cNvPr id="12" name="">
            <a:extLst xmlns:a="http://schemas.openxmlformats.org/drawingml/2006/main">
              <a:ext uri="{FF2B5EF4-FFF2-40B4-BE49-F238E27FC236}">
                <a16:creationId xmlns:a16="http://schemas.microsoft.com/office/drawing/2014/main" id="{2484E73A-A062-405B-A74B-974916257B48}"/>
              </a:ext>
            </a:extLst>
          </p:cNvPr>
          <p:cNvSpPr>
            <a:spLocks xmlns:a="http://schemas.openxmlformats.org/drawingml/2006/main" noGrp="1"/>
          </p:cNvSpPr>
          <p:nvPr/>
        </p:nvSpPr>
        <p:spPr>
          <a:xfrm xmlns:a="http://schemas.openxmlformats.org/drawingml/2006/main">
            <a:off x="8839200" y="3238500"/>
            <a:ext cx="241935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F6CAEFE-6D28-4DD9-9B18-26B60FCB32BD}"/>
              </a:ext>
            </a:extLst>
          </p:cNvPr>
          <p:cNvSpPr>
            <a:spLocks xmlns:a="http://schemas.openxmlformats.org/drawingml/2006/main" noGrp="1"/>
          </p:cNvSpPr>
          <p:nvPr/>
        </p:nvSpPr>
        <p:spPr>
          <a:xfrm xmlns:a="http://schemas.openxmlformats.org/drawingml/2006/main">
            <a:off x="8839200" y="3390900"/>
            <a:ext cx="2419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i="0">
                <a:solidFill>
                  <a:srgbClr val="5B677A"/>
                </a:solidFill>
              </a:defRPr>
            </a:pPr>
            <a:r>
              <a:rPr sz="1125" b="0" i="0">
                <a:solidFill>
                  <a:srgbClr val="5B677A"/>
                </a:solidFill>
              </a:rPr>
              <a:t>Deliberate synthetic lookalikes</a:t>
            </a:r>
          </a:p>
        </p:txBody>
      </p:sp>
      <p:sp>
        <p:nvSpPr>
          <p:cNvPr id="14" name="">
            <a:extLst xmlns:a="http://schemas.openxmlformats.org/drawingml/2006/main">
              <a:ext uri="{FF2B5EF4-FFF2-40B4-BE49-F238E27FC236}">
                <a16:creationId xmlns:a16="http://schemas.microsoft.com/office/drawing/2014/main" id="{61F7570C-6E49-41E7-B5FB-1F8F7C0BDE94}"/>
              </a:ext>
            </a:extLst>
          </p:cNvPr>
          <p:cNvSpPr>
            <a:spLocks xmlns:a="http://schemas.openxmlformats.org/drawingml/2006/main" noGrp="1"/>
          </p:cNvSpPr>
          <p:nvPr/>
        </p:nvSpPr>
        <p:spPr>
          <a:xfrm xmlns:a="http://schemas.openxmlformats.org/drawingml/2006/main">
            <a:off x="8591550" y="4305300"/>
            <a:ext cx="2914650" cy="140970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B1D0473-7CBF-4EFD-863D-08CB3E8E811F}"/>
              </a:ext>
            </a:extLst>
          </p:cNvPr>
          <p:cNvSpPr>
            <a:spLocks xmlns:a="http://schemas.openxmlformats.org/drawingml/2006/main" noGrp="1"/>
          </p:cNvSpPr>
          <p:nvPr/>
        </p:nvSpPr>
        <p:spPr>
          <a:xfrm xmlns:a="http://schemas.openxmlformats.org/drawingml/2006/main">
            <a:off x="8877300" y="4514850"/>
            <a:ext cx="234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C2413B"/>
                </a:solidFill>
              </a:defRPr>
            </a:pPr>
            <a:r>
              <a:rPr sz="1050" b="1" i="0">
                <a:solidFill>
                  <a:srgbClr val="C2413B"/>
                </a:solidFill>
              </a:rPr>
              <a:t>VALIDATION LIMIT</a:t>
            </a:r>
          </a:p>
        </p:txBody>
      </p:sp>
      <p:sp>
        <p:nvSpPr>
          <p:cNvPr id="16" name="">
            <a:extLst xmlns:a="http://schemas.openxmlformats.org/drawingml/2006/main">
              <a:ext uri="{FF2B5EF4-FFF2-40B4-BE49-F238E27FC236}">
                <a16:creationId xmlns:a16="http://schemas.microsoft.com/office/drawing/2014/main" id="{28393610-54B7-4FC3-9DE3-59615A0A6014}"/>
              </a:ext>
            </a:extLst>
          </p:cNvPr>
          <p:cNvSpPr>
            <a:spLocks xmlns:a="http://schemas.openxmlformats.org/drawingml/2006/main" noGrp="1"/>
          </p:cNvSpPr>
          <p:nvPr/>
        </p:nvSpPr>
        <p:spPr>
          <a:xfrm xmlns:a="http://schemas.openxmlformats.org/drawingml/2006/main">
            <a:off x="8877300" y="4914900"/>
            <a:ext cx="23431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0B1F33"/>
                </a:solidFill>
              </a:defRPr>
            </a:pPr>
            <a:r>
              <a:rPr sz="1500" b="1" i="0">
                <a:solidFill>
                  <a:srgbClr val="0B1F33"/>
                </a:solidFill>
              </a:rPr>
              <a:t>Synthetic retrieval cannot predict production performance.</a:t>
            </a:r>
          </a:p>
        </p:txBody>
      </p:sp>
    </p:spTree>
    <p:extLst>
      <p:ext uri="{BB962C8B-B14F-4D97-AF65-F5344CB8AC3E}">
        <p14:creationId xmlns:p14="http://schemas.microsoft.com/office/powerpoint/2010/main" val="210739112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C17AED8-B407-4D69-811F-542C3143EF25}"/>
              </a:ext>
            </a:extLst>
          </p:cNvPr>
          <p:cNvSpPr>
            <a:spLocks xmlns:a="http://schemas.openxmlformats.org/drawingml/2006/main" noGrp="1"/>
          </p:cNvSpPr>
          <p:nvPr/>
        </p:nvSpPr>
        <p:spPr>
          <a:xfrm xmlns:a="http://schemas.openxmlformats.org/drawingml/2006/main">
            <a:off x="685800" y="26670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B677A"/>
                </a:solidFill>
              </a:defRPr>
            </a:pPr>
            <a:r>
              <a:rPr sz="975" b="1" i="0">
                <a:solidFill>
                  <a:srgbClr val="5B677A"/>
                </a:solidFill>
              </a:rPr>
              <a:t>AURELIA BANK | FINANCIAL CRIME &amp; AML</a:t>
            </a:r>
          </a:p>
        </p:txBody>
      </p:sp>
      <p:sp>
        <p:nvSpPr>
          <p:cNvPr id="2" name="">
            <a:extLst xmlns:a="http://schemas.openxmlformats.org/drawingml/2006/main">
              <a:ext uri="{FF2B5EF4-FFF2-40B4-BE49-F238E27FC236}">
                <a16:creationId xmlns:a16="http://schemas.microsoft.com/office/drawing/2014/main" id="{E0F29A1A-17E2-4293-9A24-ADE65ECA0005}"/>
              </a:ext>
            </a:extLst>
          </p:cNvPr>
          <p:cNvSpPr>
            <a:spLocks xmlns:a="http://schemas.openxmlformats.org/drawingml/2006/main" noGrp="1"/>
          </p:cNvSpPr>
          <p:nvPr/>
        </p:nvSpPr>
        <p:spPr>
          <a:xfrm xmlns:a="http://schemas.openxmlformats.org/drawingml/2006/main">
            <a:off x="11049000" y="2667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5B677A"/>
                </a:solidFill>
              </a:defRPr>
            </a:pPr>
            <a:r>
              <a:rPr sz="975" b="1" i="0">
                <a:solidFill>
                  <a:srgbClr val="5B677A"/>
                </a:solidFill>
              </a:rPr>
              <a:t>08</a:t>
            </a:r>
          </a:p>
        </p:txBody>
      </p:sp>
      <p:sp>
        <p:nvSpPr>
          <p:cNvPr id="3" name="">
            <a:extLst xmlns:a="http://schemas.openxmlformats.org/drawingml/2006/main">
              <a:ext uri="{FF2B5EF4-FFF2-40B4-BE49-F238E27FC236}">
                <a16:creationId xmlns:a16="http://schemas.microsoft.com/office/drawing/2014/main" id="{9E577A01-0D98-4D4C-9BB6-22D75D95E5B2}"/>
              </a:ext>
            </a:extLst>
          </p:cNvPr>
          <p:cNvSpPr>
            <a:spLocks xmlns:a="http://schemas.openxmlformats.org/drawingml/2006/main" noGrp="1"/>
          </p:cNvSpPr>
          <p:nvPr/>
        </p:nvSpPr>
        <p:spPr>
          <a:xfrm xmlns:a="http://schemas.openxmlformats.org/drawingml/2006/main">
            <a:off x="685800" y="552450"/>
            <a:ext cx="108204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8C6E10A-AAC2-4134-AEA3-A3535C1E283B}"/>
              </a:ext>
            </a:extLst>
          </p:cNvPr>
          <p:cNvSpPr>
            <a:spLocks xmlns:a="http://schemas.openxmlformats.org/drawingml/2006/main" noGrp="1"/>
          </p:cNvSpPr>
          <p:nvPr/>
        </p:nvSpPr>
        <p:spPr>
          <a:xfrm xmlns:a="http://schemas.openxmlformats.org/drawingml/2006/main">
            <a:off x="685800" y="6515100"/>
            <a:ext cx="942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5B677A"/>
                </a:solidFill>
              </a:defRPr>
            </a:pPr>
            <a:r>
              <a:rPr sz="825" b="0" i="0">
                <a:solidFill>
                  <a:srgbClr val="5B677A"/>
                </a:solidFill>
              </a:rPr>
              <a:t>Sources: Isolation Forest features, NetworkX graph metrics and model card</a:t>
            </a:r>
          </a:p>
        </p:txBody>
      </p:sp>
      <p:sp>
        <p:nvSpPr>
          <p:cNvPr id="5" name="">
            <a:extLst xmlns:a="http://schemas.openxmlformats.org/drawingml/2006/main">
              <a:ext uri="{FF2B5EF4-FFF2-40B4-BE49-F238E27FC236}">
                <a16:creationId xmlns:a16="http://schemas.microsoft.com/office/drawing/2014/main" id="{E29426CD-01DF-447E-99DB-AF2026185CDE}"/>
              </a:ext>
            </a:extLst>
          </p:cNvPr>
          <p:cNvSpPr>
            <a:spLocks xmlns:a="http://schemas.openxmlformats.org/drawingml/2006/main" noGrp="1"/>
          </p:cNvSpPr>
          <p:nvPr/>
        </p:nvSpPr>
        <p:spPr>
          <a:xfrm xmlns:a="http://schemas.openxmlformats.org/drawingml/2006/main">
            <a:off x="10287000" y="6515100"/>
            <a:ext cx="1219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i="0">
                <a:solidFill>
                  <a:srgbClr val="5B677A"/>
                </a:solidFill>
              </a:defRPr>
            </a:pPr>
            <a:r>
              <a:rPr sz="825" b="0" i="0">
                <a:solidFill>
                  <a:srgbClr val="5B677A"/>
                </a:solidFill>
              </a:rPr>
              <a:t>20 AUG 2026</a:t>
            </a:r>
          </a:p>
        </p:txBody>
      </p:sp>
      <p:sp>
        <p:nvSpPr>
          <p:cNvPr id="6" name="">
            <a:extLst xmlns:a="http://schemas.openxmlformats.org/drawingml/2006/main">
              <a:ext uri="{FF2B5EF4-FFF2-40B4-BE49-F238E27FC236}">
                <a16:creationId xmlns:a16="http://schemas.microsoft.com/office/drawing/2014/main" id="{D3A867C8-3B6E-42A0-A817-29011665E1AC}"/>
              </a:ext>
            </a:extLst>
          </p:cNvPr>
          <p:cNvSpPr>
            <a:spLocks xmlns:a="http://schemas.openxmlformats.org/drawingml/2006/main" noGrp="1"/>
          </p:cNvSpPr>
          <p:nvPr/>
        </p:nvSpPr>
        <p:spPr>
          <a:xfrm xmlns:a="http://schemas.openxmlformats.org/drawingml/2006/main">
            <a:off x="685800" y="7239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0B1F33"/>
                </a:solidFill>
              </a:defRPr>
            </a:pPr>
            <a:r>
              <a:rPr sz="3000" b="1" i="0">
                <a:solidFill>
                  <a:srgbClr val="0B1F33"/>
                </a:solidFill>
              </a:rPr>
              <a:t>Anomaly and graph signals rank—not convict</a:t>
            </a:r>
          </a:p>
        </p:txBody>
      </p:sp>
      <p:sp>
        <p:nvSpPr>
          <p:cNvPr id="7" name="">
            <a:extLst xmlns:a="http://schemas.openxmlformats.org/drawingml/2006/main">
              <a:ext uri="{FF2B5EF4-FFF2-40B4-BE49-F238E27FC236}">
                <a16:creationId xmlns:a16="http://schemas.microsoft.com/office/drawing/2014/main" id="{DFD5AA79-B2C2-425F-B132-DA39415F47C7}"/>
              </a:ext>
            </a:extLst>
          </p:cNvPr>
          <p:cNvSpPr>
            <a:spLocks xmlns:a="http://schemas.openxmlformats.org/drawingml/2006/main" noGrp="1"/>
          </p:cNvSpPr>
          <p:nvPr/>
        </p:nvSpPr>
        <p:spPr>
          <a:xfrm xmlns:a="http://schemas.openxmlformats.org/drawingml/2006/main">
            <a:off x="685800" y="12954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5B677A"/>
                </a:solidFill>
              </a:defRPr>
            </a:pPr>
            <a:r>
              <a:rPr sz="1350" b="0" i="0">
                <a:solidFill>
                  <a:srgbClr val="5B677A"/>
                </a:solidFill>
              </a:rPr>
              <a:t>Independent context contributes 24% of the alert score; deterministic rule severity remains dominant.</a:t>
            </a:r>
          </a:p>
        </p:txBody>
      </p:sp>
      <p:sp>
        <p:nvSpPr>
          <p:cNvPr id="8" name="">
            <a:extLst xmlns:a="http://schemas.openxmlformats.org/drawingml/2006/main">
              <a:ext uri="{FF2B5EF4-FFF2-40B4-BE49-F238E27FC236}">
                <a16:creationId xmlns:a16="http://schemas.microsoft.com/office/drawing/2014/main" id="{BE3A0519-5810-4391-A27C-0F769F031087}"/>
              </a:ext>
            </a:extLst>
          </p:cNvPr>
          <p:cNvSpPr>
            <a:spLocks xmlns:a="http://schemas.openxmlformats.org/drawingml/2006/main" noGrp="1"/>
          </p:cNvSpPr>
          <p:nvPr/>
        </p:nvSpPr>
        <p:spPr>
          <a:xfrm xmlns:a="http://schemas.openxmlformats.org/drawingml/2006/main">
            <a:off x="685800" y="2095500"/>
            <a:ext cx="6492240" cy="685800"/>
          </a:xfrm>
          <a:prstGeom xmlns:a="http://schemas.openxmlformats.org/drawingml/2006/main" prst="rect">
            <a:avLst/>
          </a:prstGeom>
          <a:solidFill xmlns:a="http://schemas.openxmlformats.org/drawingml/2006/main">
            <a:srgbClr val="0E749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376317A-3525-42CF-B3AE-B0973C128896}"/>
              </a:ext>
            </a:extLst>
          </p:cNvPr>
          <p:cNvSpPr>
            <a:spLocks xmlns:a="http://schemas.openxmlformats.org/drawingml/2006/main" noGrp="1"/>
          </p:cNvSpPr>
          <p:nvPr/>
        </p:nvSpPr>
        <p:spPr>
          <a:xfrm xmlns:a="http://schemas.openxmlformats.org/drawingml/2006/main">
            <a:off x="762000" y="2209800"/>
            <a:ext cx="633984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FFFFFF"/>
                </a:solidFill>
              </a:defRPr>
            </a:pPr>
            <a:r>
              <a:rPr sz="1200" b="1" i="0">
                <a:solidFill>
                  <a:srgbClr val="FFFFFF"/>
                </a:solidFill>
              </a:rPr>
              <a:t>RULE SEVERITY</a:t>
            </a:r>
          </a:p>
          <a:p xmlns:a="http://schemas.openxmlformats.org/drawingml/2006/main">
            <a:pPr algn="ctr">
              <a:defRPr sz="1200" b="1" i="0">
                <a:solidFill>
                  <a:srgbClr val="FFFFFF"/>
                </a:solidFill>
              </a:defRPr>
            </a:pPr>
            <a:r>
              <a:rPr sz="1200" b="1" i="0">
                <a:solidFill>
                  <a:srgbClr val="FFFFFF"/>
                </a:solidFill>
              </a:rPr>
              <a:t>60%</a:t>
            </a:r>
          </a:p>
        </p:txBody>
      </p:sp>
      <p:sp>
        <p:nvSpPr>
          <p:cNvPr id="10" name="">
            <a:extLst xmlns:a="http://schemas.openxmlformats.org/drawingml/2006/main">
              <a:ext uri="{FF2B5EF4-FFF2-40B4-BE49-F238E27FC236}">
                <a16:creationId xmlns:a16="http://schemas.microsoft.com/office/drawing/2014/main" id="{87FF0C36-00BE-4A59-98E3-F9BE18E00D12}"/>
              </a:ext>
            </a:extLst>
          </p:cNvPr>
          <p:cNvSpPr>
            <a:spLocks xmlns:a="http://schemas.openxmlformats.org/drawingml/2006/main" noGrp="1"/>
          </p:cNvSpPr>
          <p:nvPr/>
        </p:nvSpPr>
        <p:spPr>
          <a:xfrm xmlns:a="http://schemas.openxmlformats.org/drawingml/2006/main">
            <a:off x="7178040" y="2095500"/>
            <a:ext cx="1731264" cy="685800"/>
          </a:xfrm>
          <a:prstGeom xmlns:a="http://schemas.openxmlformats.org/drawingml/2006/main" prst="rect">
            <a:avLst/>
          </a:prstGeom>
          <a:solidFill xmlns:a="http://schemas.openxmlformats.org/drawingml/2006/main">
            <a:srgbClr val="0B4F6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498FB48-1CC3-4759-942F-8CD648AC8CAD}"/>
              </a:ext>
            </a:extLst>
          </p:cNvPr>
          <p:cNvSpPr>
            <a:spLocks xmlns:a="http://schemas.openxmlformats.org/drawingml/2006/main" noGrp="1"/>
          </p:cNvSpPr>
          <p:nvPr/>
        </p:nvSpPr>
        <p:spPr>
          <a:xfrm xmlns:a="http://schemas.openxmlformats.org/drawingml/2006/main">
            <a:off x="7254240" y="2209800"/>
            <a:ext cx="1578864"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FFFFFF"/>
                </a:solidFill>
              </a:defRPr>
            </a:pPr>
            <a:r>
              <a:rPr sz="1200" b="1" i="0">
                <a:solidFill>
                  <a:srgbClr val="FFFFFF"/>
                </a:solidFill>
              </a:rPr>
              <a:t>KYC</a:t>
            </a:r>
          </a:p>
          <a:p xmlns:a="http://schemas.openxmlformats.org/drawingml/2006/main">
            <a:pPr algn="ctr">
              <a:defRPr sz="1200" b="1" i="0">
                <a:solidFill>
                  <a:srgbClr val="FFFFFF"/>
                </a:solidFill>
              </a:defRPr>
            </a:pPr>
            <a:r>
              <a:rPr sz="1200" b="1" i="0">
                <a:solidFill>
                  <a:srgbClr val="FFFFFF"/>
                </a:solidFill>
              </a:rPr>
              <a:t>16%</a:t>
            </a:r>
          </a:p>
        </p:txBody>
      </p:sp>
      <p:sp>
        <p:nvSpPr>
          <p:cNvPr id="12" name="">
            <a:extLst xmlns:a="http://schemas.openxmlformats.org/drawingml/2006/main">
              <a:ext uri="{FF2B5EF4-FFF2-40B4-BE49-F238E27FC236}">
                <a16:creationId xmlns:a16="http://schemas.microsoft.com/office/drawing/2014/main" id="{D42D2237-A8BB-4933-AB6C-34E310D3E81E}"/>
              </a:ext>
            </a:extLst>
          </p:cNvPr>
          <p:cNvSpPr>
            <a:spLocks xmlns:a="http://schemas.openxmlformats.org/drawingml/2006/main" noGrp="1"/>
          </p:cNvSpPr>
          <p:nvPr/>
        </p:nvSpPr>
        <p:spPr>
          <a:xfrm xmlns:a="http://schemas.openxmlformats.org/drawingml/2006/main">
            <a:off x="8909304" y="2095500"/>
            <a:ext cx="1514856" cy="685800"/>
          </a:xfrm>
          <a:prstGeom xmlns:a="http://schemas.openxmlformats.org/drawingml/2006/main" prst="rect">
            <a:avLst/>
          </a:prstGeom>
          <a:solidFill xmlns:a="http://schemas.openxmlformats.org/drawingml/2006/main">
            <a:srgbClr val="D9770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B4E0339-5E4B-4167-A81D-BD696C8A3676}"/>
              </a:ext>
            </a:extLst>
          </p:cNvPr>
          <p:cNvSpPr>
            <a:spLocks xmlns:a="http://schemas.openxmlformats.org/drawingml/2006/main" noGrp="1"/>
          </p:cNvSpPr>
          <p:nvPr/>
        </p:nvSpPr>
        <p:spPr>
          <a:xfrm xmlns:a="http://schemas.openxmlformats.org/drawingml/2006/main">
            <a:off x="8985504" y="2209800"/>
            <a:ext cx="1362456"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FFFFFF"/>
                </a:solidFill>
              </a:defRPr>
            </a:pPr>
            <a:r>
              <a:rPr sz="1200" b="1" i="0">
                <a:solidFill>
                  <a:srgbClr val="FFFFFF"/>
                </a:solidFill>
              </a:rPr>
              <a:t>ANOMALY</a:t>
            </a:r>
          </a:p>
          <a:p xmlns:a="http://schemas.openxmlformats.org/drawingml/2006/main">
            <a:pPr algn="ctr">
              <a:defRPr sz="1200" b="1" i="0">
                <a:solidFill>
                  <a:srgbClr val="FFFFFF"/>
                </a:solidFill>
              </a:defRPr>
            </a:pPr>
            <a:r>
              <a:rPr sz="1200" b="1" i="0">
                <a:solidFill>
                  <a:srgbClr val="FFFFFF"/>
                </a:solidFill>
              </a:rPr>
              <a:t>14%</a:t>
            </a:r>
          </a:p>
        </p:txBody>
      </p:sp>
      <p:sp>
        <p:nvSpPr>
          <p:cNvPr id="14" name="">
            <a:extLst xmlns:a="http://schemas.openxmlformats.org/drawingml/2006/main">
              <a:ext uri="{FF2B5EF4-FFF2-40B4-BE49-F238E27FC236}">
                <a16:creationId xmlns:a16="http://schemas.microsoft.com/office/drawing/2014/main" id="{1D448B78-A52B-4C85-8663-3D908F65DC43}"/>
              </a:ext>
            </a:extLst>
          </p:cNvPr>
          <p:cNvSpPr>
            <a:spLocks xmlns:a="http://schemas.openxmlformats.org/drawingml/2006/main" noGrp="1"/>
          </p:cNvSpPr>
          <p:nvPr/>
        </p:nvSpPr>
        <p:spPr>
          <a:xfrm xmlns:a="http://schemas.openxmlformats.org/drawingml/2006/main">
            <a:off x="10424160" y="2095500"/>
            <a:ext cx="1082040" cy="685800"/>
          </a:xfrm>
          <a:prstGeom xmlns:a="http://schemas.openxmlformats.org/drawingml/2006/main" prst="rect">
            <a:avLst/>
          </a:prstGeom>
          <a:solidFill xmlns:a="http://schemas.openxmlformats.org/drawingml/2006/main">
            <a:srgbClr val="C2413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BB43347-40AF-46C4-ACBA-07E4D7696DF1}"/>
              </a:ext>
            </a:extLst>
          </p:cNvPr>
          <p:cNvSpPr>
            <a:spLocks xmlns:a="http://schemas.openxmlformats.org/drawingml/2006/main" noGrp="1"/>
          </p:cNvSpPr>
          <p:nvPr/>
        </p:nvSpPr>
        <p:spPr>
          <a:xfrm xmlns:a="http://schemas.openxmlformats.org/drawingml/2006/main">
            <a:off x="10500360" y="2209800"/>
            <a:ext cx="92964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i="0">
                <a:solidFill>
                  <a:srgbClr val="FFFFFF"/>
                </a:solidFill>
              </a:defRPr>
            </a:pPr>
            <a:r>
              <a:rPr sz="1200" b="1" i="0">
                <a:solidFill>
                  <a:srgbClr val="FFFFFF"/>
                </a:solidFill>
              </a:rPr>
              <a:t>GRAPH</a:t>
            </a:r>
          </a:p>
          <a:p xmlns:a="http://schemas.openxmlformats.org/drawingml/2006/main">
            <a:pPr algn="ctr">
              <a:defRPr sz="1200" b="1" i="0">
                <a:solidFill>
                  <a:srgbClr val="FFFFFF"/>
                </a:solidFill>
              </a:defRPr>
            </a:pPr>
            <a:r>
              <a:rPr sz="1200" b="1" i="0">
                <a:solidFill>
                  <a:srgbClr val="FFFFFF"/>
                </a:solidFill>
              </a:rPr>
              <a:t>10%</a:t>
            </a:r>
          </a:p>
        </p:txBody>
      </p:sp>
      <p:sp>
        <p:nvSpPr>
          <p:cNvPr id="16" name="">
            <a:extLst xmlns:a="http://schemas.openxmlformats.org/drawingml/2006/main">
              <a:ext uri="{FF2B5EF4-FFF2-40B4-BE49-F238E27FC236}">
                <a16:creationId xmlns:a16="http://schemas.microsoft.com/office/drawing/2014/main" id="{ADA78EE2-1A70-41CE-9C7A-3B2D950CC632}"/>
              </a:ext>
            </a:extLst>
          </p:cNvPr>
          <p:cNvSpPr>
            <a:spLocks xmlns:a="http://schemas.openxmlformats.org/drawingml/2006/main" noGrp="1"/>
          </p:cNvSpPr>
          <p:nvPr/>
        </p:nvSpPr>
        <p:spPr>
          <a:xfrm xmlns:a="http://schemas.openxmlformats.org/drawingml/2006/main">
            <a:off x="685800" y="3276600"/>
            <a:ext cx="5276850" cy="200025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19AD64F-75B7-4AC4-B2F5-CD81B26E06F1}"/>
              </a:ext>
            </a:extLst>
          </p:cNvPr>
          <p:cNvSpPr>
            <a:spLocks xmlns:a="http://schemas.openxmlformats.org/drawingml/2006/main" noGrp="1"/>
          </p:cNvSpPr>
          <p:nvPr/>
        </p:nvSpPr>
        <p:spPr>
          <a:xfrm xmlns:a="http://schemas.openxmlformats.org/drawingml/2006/main">
            <a:off x="971550" y="3524250"/>
            <a:ext cx="470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0E7490"/>
                </a:solidFill>
              </a:defRPr>
            </a:pPr>
            <a:r>
              <a:rPr sz="1125" b="1" i="0">
                <a:solidFill>
                  <a:srgbClr val="0E7490"/>
                </a:solidFill>
              </a:rPr>
              <a:t>ANOMALY</a:t>
            </a:r>
          </a:p>
        </p:txBody>
      </p:sp>
      <p:sp>
        <p:nvSpPr>
          <p:cNvPr id="18" name="">
            <a:extLst xmlns:a="http://schemas.openxmlformats.org/drawingml/2006/main">
              <a:ext uri="{FF2B5EF4-FFF2-40B4-BE49-F238E27FC236}">
                <a16:creationId xmlns:a16="http://schemas.microsoft.com/office/drawing/2014/main" id="{211CA68D-DE97-4C34-B7F7-B3E644D40E54}"/>
              </a:ext>
            </a:extLst>
          </p:cNvPr>
          <p:cNvSpPr>
            <a:spLocks xmlns:a="http://schemas.openxmlformats.org/drawingml/2006/main" noGrp="1"/>
          </p:cNvSpPr>
          <p:nvPr/>
        </p:nvSpPr>
        <p:spPr>
          <a:xfrm xmlns:a="http://schemas.openxmlformats.org/drawingml/2006/main">
            <a:off x="971550" y="3962400"/>
            <a:ext cx="47053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i="0">
                <a:solidFill>
                  <a:srgbClr val="0B1F33"/>
                </a:solidFill>
              </a:defRPr>
            </a:pPr>
            <a:r>
              <a:rPr sz="1575" b="1" i="0">
                <a:solidFill>
                  <a:srgbClr val="0B1F33"/>
                </a:solidFill>
              </a:rPr>
              <a:t>Transaction count | value | counterparties | max transaction | turnover deviation | cash ratio | geography ratio | out/in ratio</a:t>
            </a:r>
          </a:p>
        </p:txBody>
      </p:sp>
      <p:sp>
        <p:nvSpPr>
          <p:cNvPr id="19" name="">
            <a:extLst xmlns:a="http://schemas.openxmlformats.org/drawingml/2006/main">
              <a:ext uri="{FF2B5EF4-FFF2-40B4-BE49-F238E27FC236}">
                <a16:creationId xmlns:a16="http://schemas.microsoft.com/office/drawing/2014/main" id="{476B17C6-CD5A-4CF2-B552-B810BD2E67C2}"/>
              </a:ext>
            </a:extLst>
          </p:cNvPr>
          <p:cNvSpPr>
            <a:spLocks xmlns:a="http://schemas.openxmlformats.org/drawingml/2006/main" noGrp="1"/>
          </p:cNvSpPr>
          <p:nvPr/>
        </p:nvSpPr>
        <p:spPr>
          <a:xfrm xmlns:a="http://schemas.openxmlformats.org/drawingml/2006/main">
            <a:off x="6229350" y="3276600"/>
            <a:ext cx="5276850" cy="200025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AC37DEA-199B-47FA-AED4-09B692B06426}"/>
              </a:ext>
            </a:extLst>
          </p:cNvPr>
          <p:cNvSpPr>
            <a:spLocks xmlns:a="http://schemas.openxmlformats.org/drawingml/2006/main" noGrp="1"/>
          </p:cNvSpPr>
          <p:nvPr/>
        </p:nvSpPr>
        <p:spPr>
          <a:xfrm xmlns:a="http://schemas.openxmlformats.org/drawingml/2006/main">
            <a:off x="6515100" y="3524250"/>
            <a:ext cx="470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0E7490"/>
                </a:solidFill>
              </a:defRPr>
            </a:pPr>
            <a:r>
              <a:rPr sz="1125" b="1" i="0">
                <a:solidFill>
                  <a:srgbClr val="0E7490"/>
                </a:solidFill>
              </a:rPr>
              <a:t>GRAPH</a:t>
            </a:r>
          </a:p>
        </p:txBody>
      </p:sp>
      <p:sp>
        <p:nvSpPr>
          <p:cNvPr id="21" name="">
            <a:extLst xmlns:a="http://schemas.openxmlformats.org/drawingml/2006/main">
              <a:ext uri="{FF2B5EF4-FFF2-40B4-BE49-F238E27FC236}">
                <a16:creationId xmlns:a16="http://schemas.microsoft.com/office/drawing/2014/main" id="{F1CCB745-1CE4-46E5-B53F-BAE420065678}"/>
              </a:ext>
            </a:extLst>
          </p:cNvPr>
          <p:cNvSpPr>
            <a:spLocks xmlns:a="http://schemas.openxmlformats.org/drawingml/2006/main" noGrp="1"/>
          </p:cNvSpPr>
          <p:nvPr/>
        </p:nvSpPr>
        <p:spPr>
          <a:xfrm xmlns:a="http://schemas.openxmlformats.org/drawingml/2006/main">
            <a:off x="6515100" y="3962400"/>
            <a:ext cx="47053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i="0">
                <a:solidFill>
                  <a:srgbClr val="0B1F33"/>
                </a:solidFill>
              </a:defRPr>
            </a:pPr>
            <a:r>
              <a:rPr sz="1575" b="1" i="0">
                <a:solidFill>
                  <a:srgbClr val="0B1F33"/>
                </a:solidFill>
              </a:rPr>
              <a:t>In/out degree | weighted PageRank | component size | three/four-node high-value cycles</a:t>
            </a:r>
          </a:p>
        </p:txBody>
      </p:sp>
      <p:sp>
        <p:nvSpPr>
          <p:cNvPr id="22" name="">
            <a:extLst xmlns:a="http://schemas.openxmlformats.org/drawingml/2006/main">
              <a:ext uri="{FF2B5EF4-FFF2-40B4-BE49-F238E27FC236}">
                <a16:creationId xmlns:a16="http://schemas.microsoft.com/office/drawing/2014/main" id="{7BBE0BAF-7467-43DC-893D-B54B18201D35}"/>
              </a:ext>
            </a:extLst>
          </p:cNvPr>
          <p:cNvSpPr>
            <a:spLocks xmlns:a="http://schemas.openxmlformats.org/drawingml/2006/main" noGrp="1"/>
          </p:cNvSpPr>
          <p:nvPr/>
        </p:nvSpPr>
        <p:spPr>
          <a:xfrm xmlns:a="http://schemas.openxmlformats.org/drawingml/2006/main">
            <a:off x="685800" y="5619750"/>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C2413B"/>
                </a:solidFill>
              </a:defRPr>
            </a:pPr>
            <a:r>
              <a:rPr sz="1500" b="1" i="0">
                <a:solidFill>
                  <a:srgbClr val="C2413B"/>
                </a:solidFill>
              </a:rPr>
              <a:t>Guardrail | A central node or anomalous profile may be legitimate; analysts must document contradictory evidence.</a:t>
            </a:r>
          </a:p>
        </p:txBody>
      </p:sp>
    </p:spTree>
    <p:extLst>
      <p:ext uri="{BB962C8B-B14F-4D97-AF65-F5344CB8AC3E}">
        <p14:creationId xmlns:p14="http://schemas.microsoft.com/office/powerpoint/2010/main" val="163758065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AA1979F-1B28-4D04-8228-2C28B29B52B0}"/>
              </a:ext>
            </a:extLst>
          </p:cNvPr>
          <p:cNvSpPr>
            <a:spLocks xmlns:a="http://schemas.openxmlformats.org/drawingml/2006/main" noGrp="1"/>
          </p:cNvSpPr>
          <p:nvPr/>
        </p:nvSpPr>
        <p:spPr>
          <a:xfrm xmlns:a="http://schemas.openxmlformats.org/drawingml/2006/main">
            <a:off x="685800" y="26670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B677A"/>
                </a:solidFill>
              </a:defRPr>
            </a:pPr>
            <a:r>
              <a:rPr sz="975" b="1" i="0">
                <a:solidFill>
                  <a:srgbClr val="5B677A"/>
                </a:solidFill>
              </a:rPr>
              <a:t>AURELIA BANK | FINANCIAL CRIME &amp; AML</a:t>
            </a:r>
          </a:p>
        </p:txBody>
      </p:sp>
      <p:sp>
        <p:nvSpPr>
          <p:cNvPr id="2" name="">
            <a:extLst xmlns:a="http://schemas.openxmlformats.org/drawingml/2006/main">
              <a:ext uri="{FF2B5EF4-FFF2-40B4-BE49-F238E27FC236}">
                <a16:creationId xmlns:a16="http://schemas.microsoft.com/office/drawing/2014/main" id="{B401DAEB-FF7D-4144-860C-731C2FA4D92F}"/>
              </a:ext>
            </a:extLst>
          </p:cNvPr>
          <p:cNvSpPr>
            <a:spLocks xmlns:a="http://schemas.openxmlformats.org/drawingml/2006/main" noGrp="1"/>
          </p:cNvSpPr>
          <p:nvPr/>
        </p:nvSpPr>
        <p:spPr>
          <a:xfrm xmlns:a="http://schemas.openxmlformats.org/drawingml/2006/main">
            <a:off x="11049000" y="2667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5B677A"/>
                </a:solidFill>
              </a:defRPr>
            </a:pPr>
            <a:r>
              <a:rPr sz="975" b="1" i="0">
                <a:solidFill>
                  <a:srgbClr val="5B677A"/>
                </a:solidFill>
              </a:rPr>
              <a:t>09</a:t>
            </a:r>
          </a:p>
        </p:txBody>
      </p:sp>
      <p:sp>
        <p:nvSpPr>
          <p:cNvPr id="3" name="">
            <a:extLst xmlns:a="http://schemas.openxmlformats.org/drawingml/2006/main">
              <a:ext uri="{FF2B5EF4-FFF2-40B4-BE49-F238E27FC236}">
                <a16:creationId xmlns:a16="http://schemas.microsoft.com/office/drawing/2014/main" id="{CBFAF822-E5D4-481F-8DBA-0017D0254DB0}"/>
              </a:ext>
            </a:extLst>
          </p:cNvPr>
          <p:cNvSpPr>
            <a:spLocks xmlns:a="http://schemas.openxmlformats.org/drawingml/2006/main" noGrp="1"/>
          </p:cNvSpPr>
          <p:nvPr/>
        </p:nvSpPr>
        <p:spPr>
          <a:xfrm xmlns:a="http://schemas.openxmlformats.org/drawingml/2006/main">
            <a:off x="685800" y="552450"/>
            <a:ext cx="108204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DF434A5-549B-4819-BE9D-D94561C352AA}"/>
              </a:ext>
            </a:extLst>
          </p:cNvPr>
          <p:cNvSpPr>
            <a:spLocks xmlns:a="http://schemas.openxmlformats.org/drawingml/2006/main" noGrp="1"/>
          </p:cNvSpPr>
          <p:nvPr/>
        </p:nvSpPr>
        <p:spPr>
          <a:xfrm xmlns:a="http://schemas.openxmlformats.org/drawingml/2006/main">
            <a:off x="685800" y="6515100"/>
            <a:ext cx="942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5B677A"/>
                </a:solidFill>
              </a:defRPr>
            </a:pPr>
            <a:r>
              <a:rPr sz="825" b="0" i="0">
                <a:solidFill>
                  <a:srgbClr val="5B677A"/>
                </a:solidFill>
              </a:rPr>
              <a:t>Source: artifacts/results/cases.csv and internal SLA settings</a:t>
            </a:r>
          </a:p>
        </p:txBody>
      </p:sp>
      <p:sp>
        <p:nvSpPr>
          <p:cNvPr id="5" name="">
            <a:extLst xmlns:a="http://schemas.openxmlformats.org/drawingml/2006/main">
              <a:ext uri="{FF2B5EF4-FFF2-40B4-BE49-F238E27FC236}">
                <a16:creationId xmlns:a16="http://schemas.microsoft.com/office/drawing/2014/main" id="{D2393B03-0686-4DEF-9031-E75991A20CD5}"/>
              </a:ext>
            </a:extLst>
          </p:cNvPr>
          <p:cNvSpPr>
            <a:spLocks xmlns:a="http://schemas.openxmlformats.org/drawingml/2006/main" noGrp="1"/>
          </p:cNvSpPr>
          <p:nvPr/>
        </p:nvSpPr>
        <p:spPr>
          <a:xfrm xmlns:a="http://schemas.openxmlformats.org/drawingml/2006/main">
            <a:off x="10287000" y="6515100"/>
            <a:ext cx="1219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i="0">
                <a:solidFill>
                  <a:srgbClr val="5B677A"/>
                </a:solidFill>
              </a:defRPr>
            </a:pPr>
            <a:r>
              <a:rPr sz="825" b="0" i="0">
                <a:solidFill>
                  <a:srgbClr val="5B677A"/>
                </a:solidFill>
              </a:rPr>
              <a:t>20 AUG 2026</a:t>
            </a:r>
          </a:p>
        </p:txBody>
      </p:sp>
      <p:sp>
        <p:nvSpPr>
          <p:cNvPr id="6" name="">
            <a:extLst xmlns:a="http://schemas.openxmlformats.org/drawingml/2006/main">
              <a:ext uri="{FF2B5EF4-FFF2-40B4-BE49-F238E27FC236}">
                <a16:creationId xmlns:a16="http://schemas.microsoft.com/office/drawing/2014/main" id="{9F612857-6BAF-4900-AECD-ABEAA2224D59}"/>
              </a:ext>
            </a:extLst>
          </p:cNvPr>
          <p:cNvSpPr>
            <a:spLocks xmlns:a="http://schemas.openxmlformats.org/drawingml/2006/main" noGrp="1"/>
          </p:cNvSpPr>
          <p:nvPr/>
        </p:nvSpPr>
        <p:spPr>
          <a:xfrm xmlns:a="http://schemas.openxmlformats.org/drawingml/2006/main">
            <a:off x="685800" y="7239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0B1F33"/>
                </a:solidFill>
              </a:defRPr>
            </a:pPr>
            <a:r>
              <a:rPr sz="3000" b="1" i="0">
                <a:solidFill>
                  <a:srgbClr val="0B1F33"/>
                </a:solidFill>
              </a:rPr>
              <a:t>The queue is controlled—but remediation will consume capacity</a:t>
            </a:r>
          </a:p>
        </p:txBody>
      </p:sp>
      <p:sp>
        <p:nvSpPr>
          <p:cNvPr id="7" name="">
            <a:extLst xmlns:a="http://schemas.openxmlformats.org/drawingml/2006/main">
              <a:ext uri="{FF2B5EF4-FFF2-40B4-BE49-F238E27FC236}">
                <a16:creationId xmlns:a16="http://schemas.microsoft.com/office/drawing/2014/main" id="{3C642791-EEF6-47D7-8746-BA7FD04D2696}"/>
              </a:ext>
            </a:extLst>
          </p:cNvPr>
          <p:cNvSpPr>
            <a:spLocks xmlns:a="http://schemas.openxmlformats.org/drawingml/2006/main" noGrp="1"/>
          </p:cNvSpPr>
          <p:nvPr/>
        </p:nvSpPr>
        <p:spPr>
          <a:xfrm xmlns:a="http://schemas.openxmlformats.org/drawingml/2006/main">
            <a:off x="685800" y="12954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5B677A"/>
                </a:solidFill>
              </a:defRPr>
            </a:pPr>
            <a:r>
              <a:rPr sz="1350" b="0" i="0">
                <a:solidFill>
                  <a:srgbClr val="5B677A"/>
                </a:solidFill>
              </a:rPr>
              <a:t>126 cases: 76 closed, 25 in review and 25 open; all require human review.</a:t>
            </a:r>
          </a:p>
        </p:txBody>
      </p:sp>
      <p:graphicFrame>
        <p:nvGraphicFramePr>
          <p:cNvPr id="29" name="Chart"/>
          <p:cNvGraphicFramePr/>
          <p:nvPr/>
        </p:nvGraphicFramePr>
        <p:xfrm>
          <a:off xmlns:a="http://schemas.openxmlformats.org/drawingml/2006/main" x="685800" y="2000250"/>
          <a:ext xmlns:a="http://schemas.openxmlformats.org/drawingml/2006/main" cx="6191250" cy="3333750"/>
        </p:xfrm>
        <a:graphic xmlns:a="http://schemas.openxmlformats.org/drawingml/2006/main">
          <a:graphicData uri="http://schemas.openxmlformats.org/drawingml/2006/chart">
            <c:chart xmlns:r="http://schemas.openxmlformats.org/officeDocument/2006/relationships" xmlns:c="http://schemas.openxmlformats.org/drawingml/2006/chart" r:id="Rda719f452102444a"/>
          </a:graphicData>
        </a:graphic>
      </p:graphicFrame>
      <p:sp>
        <p:nvSpPr>
          <p:cNvPr id="9" name="">
            <a:extLst xmlns:a="http://schemas.openxmlformats.org/drawingml/2006/main">
              <a:ext uri="{FF2B5EF4-FFF2-40B4-BE49-F238E27FC236}">
                <a16:creationId xmlns:a16="http://schemas.microsoft.com/office/drawing/2014/main" id="{19F5D79E-D826-4EE0-B37A-675D2C7D93BF}"/>
              </a:ext>
            </a:extLst>
          </p:cNvPr>
          <p:cNvSpPr>
            <a:spLocks xmlns:a="http://schemas.openxmlformats.org/drawingml/2006/main" noGrp="1"/>
          </p:cNvSpPr>
          <p:nvPr/>
        </p:nvSpPr>
        <p:spPr>
          <a:xfrm xmlns:a="http://schemas.openxmlformats.org/drawingml/2006/main">
            <a:off x="7429500" y="2000250"/>
            <a:ext cx="4076700" cy="333375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3ED10CC-8F86-4C40-8E27-69F7C040A9A0}"/>
              </a:ext>
            </a:extLst>
          </p:cNvPr>
          <p:cNvSpPr>
            <a:spLocks xmlns:a="http://schemas.openxmlformats.org/drawingml/2006/main" noGrp="1"/>
          </p:cNvSpPr>
          <p:nvPr/>
        </p:nvSpPr>
        <p:spPr>
          <a:xfrm xmlns:a="http://schemas.openxmlformats.org/drawingml/2006/main">
            <a:off x="7772400" y="2266950"/>
            <a:ext cx="3390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0E7490"/>
                </a:solidFill>
              </a:defRPr>
            </a:pPr>
            <a:r>
              <a:rPr sz="1125" b="1" i="0">
                <a:solidFill>
                  <a:srgbClr val="0E7490"/>
                </a:solidFill>
              </a:rPr>
              <a:t>OPERATING CONTROL</a:t>
            </a:r>
          </a:p>
        </p:txBody>
      </p:sp>
      <p:sp>
        <p:nvSpPr>
          <p:cNvPr id="11" name="">
            <a:extLst xmlns:a="http://schemas.openxmlformats.org/drawingml/2006/main">
              <a:ext uri="{FF2B5EF4-FFF2-40B4-BE49-F238E27FC236}">
                <a16:creationId xmlns:a16="http://schemas.microsoft.com/office/drawing/2014/main" id="{E4BE6924-E830-496D-856F-53E9CA8E9FF3}"/>
              </a:ext>
            </a:extLst>
          </p:cNvPr>
          <p:cNvSpPr>
            <a:spLocks xmlns:a="http://schemas.openxmlformats.org/drawingml/2006/main" noGrp="1"/>
          </p:cNvSpPr>
          <p:nvPr/>
        </p:nvSpPr>
        <p:spPr>
          <a:xfrm xmlns:a="http://schemas.openxmlformats.org/drawingml/2006/main">
            <a:off x="7772400" y="2800350"/>
            <a:ext cx="1562100" cy="207645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5FD536B-489F-44DC-8A56-ADAAF99EEDAB}"/>
              </a:ext>
            </a:extLst>
          </p:cNvPr>
          <p:cNvSpPr>
            <a:spLocks xmlns:a="http://schemas.openxmlformats.org/drawingml/2006/main" noGrp="1"/>
          </p:cNvSpPr>
          <p:nvPr/>
        </p:nvSpPr>
        <p:spPr>
          <a:xfrm xmlns:a="http://schemas.openxmlformats.org/drawingml/2006/main">
            <a:off x="8020050" y="3009900"/>
            <a:ext cx="1066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i="0">
                <a:solidFill>
                  <a:srgbClr val="0B1F33"/>
                </a:solidFill>
              </a:defRPr>
            </a:pPr>
            <a:r>
              <a:rPr sz="3150" b="1" i="0">
                <a:solidFill>
                  <a:srgbClr val="0B1F33"/>
                </a:solidFill>
              </a:rPr>
              <a:t>50</a:t>
            </a:r>
          </a:p>
        </p:txBody>
      </p:sp>
      <p:sp>
        <p:nvSpPr>
          <p:cNvPr id="13" name="">
            <a:extLst xmlns:a="http://schemas.openxmlformats.org/drawingml/2006/main">
              <a:ext uri="{FF2B5EF4-FFF2-40B4-BE49-F238E27FC236}">
                <a16:creationId xmlns:a16="http://schemas.microsoft.com/office/drawing/2014/main" id="{3CDA17CB-0A76-44F5-99A7-0AA98662B444}"/>
              </a:ext>
            </a:extLst>
          </p:cNvPr>
          <p:cNvSpPr>
            <a:spLocks xmlns:a="http://schemas.openxmlformats.org/drawingml/2006/main" noGrp="1"/>
          </p:cNvSpPr>
          <p:nvPr/>
        </p:nvSpPr>
        <p:spPr>
          <a:xfrm xmlns:a="http://schemas.openxmlformats.org/drawingml/2006/main">
            <a:off x="8020050" y="36385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0B1F33"/>
                </a:solidFill>
              </a:defRPr>
            </a:pPr>
            <a:r>
              <a:rPr sz="1500" b="1" i="0">
                <a:solidFill>
                  <a:srgbClr val="0B1F33"/>
                </a:solidFill>
              </a:rPr>
              <a:t>Active</a:t>
            </a:r>
          </a:p>
        </p:txBody>
      </p:sp>
      <p:sp>
        <p:nvSpPr>
          <p:cNvPr id="14" name="">
            <a:extLst xmlns:a="http://schemas.openxmlformats.org/drawingml/2006/main">
              <a:ext uri="{FF2B5EF4-FFF2-40B4-BE49-F238E27FC236}">
                <a16:creationId xmlns:a16="http://schemas.microsoft.com/office/drawing/2014/main" id="{93506A0E-6123-4713-A34A-BF7A5D8996E5}"/>
              </a:ext>
            </a:extLst>
          </p:cNvPr>
          <p:cNvSpPr>
            <a:spLocks xmlns:a="http://schemas.openxmlformats.org/drawingml/2006/main" noGrp="1"/>
          </p:cNvSpPr>
          <p:nvPr/>
        </p:nvSpPr>
        <p:spPr>
          <a:xfrm xmlns:a="http://schemas.openxmlformats.org/drawingml/2006/main">
            <a:off x="8020050" y="4086225"/>
            <a:ext cx="10668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EA9155F-11DD-448E-9126-DDC63CB2991A}"/>
              </a:ext>
            </a:extLst>
          </p:cNvPr>
          <p:cNvSpPr>
            <a:spLocks xmlns:a="http://schemas.openxmlformats.org/drawingml/2006/main" noGrp="1"/>
          </p:cNvSpPr>
          <p:nvPr/>
        </p:nvSpPr>
        <p:spPr>
          <a:xfrm xmlns:a="http://schemas.openxmlformats.org/drawingml/2006/main">
            <a:off x="8020050" y="4238625"/>
            <a:ext cx="1066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i="0">
                <a:solidFill>
                  <a:srgbClr val="5B677A"/>
                </a:solidFill>
              </a:defRPr>
            </a:pPr>
            <a:r>
              <a:rPr sz="1125" b="0" i="0">
                <a:solidFill>
                  <a:srgbClr val="5B677A"/>
                </a:solidFill>
              </a:rPr>
              <a:t>Open + review</a:t>
            </a:r>
          </a:p>
        </p:txBody>
      </p:sp>
      <p:sp>
        <p:nvSpPr>
          <p:cNvPr id="16" name="">
            <a:extLst xmlns:a="http://schemas.openxmlformats.org/drawingml/2006/main">
              <a:ext uri="{FF2B5EF4-FFF2-40B4-BE49-F238E27FC236}">
                <a16:creationId xmlns:a16="http://schemas.microsoft.com/office/drawing/2014/main" id="{4B6B72C7-9162-48E6-9FFA-E6C0BCF01809}"/>
              </a:ext>
            </a:extLst>
          </p:cNvPr>
          <p:cNvSpPr>
            <a:spLocks xmlns:a="http://schemas.openxmlformats.org/drawingml/2006/main" noGrp="1"/>
          </p:cNvSpPr>
          <p:nvPr/>
        </p:nvSpPr>
        <p:spPr>
          <a:xfrm xmlns:a="http://schemas.openxmlformats.org/drawingml/2006/main">
            <a:off x="9601200" y="2800350"/>
            <a:ext cx="1562100" cy="2076450"/>
          </a:xfrm>
          <a:prstGeom xmlns:a="http://schemas.openxmlformats.org/drawingml/2006/main" prst="rect">
            <a:avLst/>
          </a:prstGeom>
          <a:solidFill xmlns:a="http://schemas.openxmlformats.org/drawingml/2006/main">
            <a:srgbClr val="E8F5E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C2230FD-F743-4064-A89B-0E22E3B02E16}"/>
              </a:ext>
            </a:extLst>
          </p:cNvPr>
          <p:cNvSpPr>
            <a:spLocks xmlns:a="http://schemas.openxmlformats.org/drawingml/2006/main" noGrp="1"/>
          </p:cNvSpPr>
          <p:nvPr/>
        </p:nvSpPr>
        <p:spPr>
          <a:xfrm xmlns:a="http://schemas.openxmlformats.org/drawingml/2006/main">
            <a:off x="9848850" y="3009900"/>
            <a:ext cx="1066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i="0">
                <a:solidFill>
                  <a:srgbClr val="15803D"/>
                </a:solidFill>
              </a:defRPr>
            </a:pPr>
            <a:r>
              <a:rPr sz="3150" b="1" i="0">
                <a:solidFill>
                  <a:srgbClr val="15803D"/>
                </a:solidFill>
              </a:rPr>
              <a:t>0</a:t>
            </a:r>
          </a:p>
        </p:txBody>
      </p:sp>
      <p:sp>
        <p:nvSpPr>
          <p:cNvPr id="18" name="">
            <a:extLst xmlns:a="http://schemas.openxmlformats.org/drawingml/2006/main">
              <a:ext uri="{FF2B5EF4-FFF2-40B4-BE49-F238E27FC236}">
                <a16:creationId xmlns:a16="http://schemas.microsoft.com/office/drawing/2014/main" id="{3A1027F4-326E-48C7-9C18-027BDE2E5BE7}"/>
              </a:ext>
            </a:extLst>
          </p:cNvPr>
          <p:cNvSpPr>
            <a:spLocks xmlns:a="http://schemas.openxmlformats.org/drawingml/2006/main" noGrp="1"/>
          </p:cNvSpPr>
          <p:nvPr/>
        </p:nvSpPr>
        <p:spPr>
          <a:xfrm xmlns:a="http://schemas.openxmlformats.org/drawingml/2006/main">
            <a:off x="9848850" y="36385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0B1F33"/>
                </a:solidFill>
              </a:defRPr>
            </a:pPr>
            <a:r>
              <a:rPr sz="1500" b="1" i="0">
                <a:solidFill>
                  <a:srgbClr val="0B1F33"/>
                </a:solidFill>
              </a:rPr>
              <a:t>Breached</a:t>
            </a:r>
          </a:p>
        </p:txBody>
      </p:sp>
      <p:sp>
        <p:nvSpPr>
          <p:cNvPr id="19" name="">
            <a:extLst xmlns:a="http://schemas.openxmlformats.org/drawingml/2006/main">
              <a:ext uri="{FF2B5EF4-FFF2-40B4-BE49-F238E27FC236}">
                <a16:creationId xmlns:a16="http://schemas.microsoft.com/office/drawing/2014/main" id="{AB8DB86A-4724-4204-AA37-8B1EB2AE8602}"/>
              </a:ext>
            </a:extLst>
          </p:cNvPr>
          <p:cNvSpPr>
            <a:spLocks xmlns:a="http://schemas.openxmlformats.org/drawingml/2006/main" noGrp="1"/>
          </p:cNvSpPr>
          <p:nvPr/>
        </p:nvSpPr>
        <p:spPr>
          <a:xfrm xmlns:a="http://schemas.openxmlformats.org/drawingml/2006/main">
            <a:off x="9848850" y="4086225"/>
            <a:ext cx="10668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1AD63E0-949A-4D54-B8DA-A36E5BF0810A}"/>
              </a:ext>
            </a:extLst>
          </p:cNvPr>
          <p:cNvSpPr>
            <a:spLocks xmlns:a="http://schemas.openxmlformats.org/drawingml/2006/main" noGrp="1"/>
          </p:cNvSpPr>
          <p:nvPr/>
        </p:nvSpPr>
        <p:spPr>
          <a:xfrm xmlns:a="http://schemas.openxmlformats.org/drawingml/2006/main">
            <a:off x="9848850" y="4238625"/>
            <a:ext cx="1066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i="0">
                <a:solidFill>
                  <a:srgbClr val="5B677A"/>
                </a:solidFill>
              </a:defRPr>
            </a:pPr>
            <a:r>
              <a:rPr sz="1125" b="0" i="0">
                <a:solidFill>
                  <a:srgbClr val="5B677A"/>
                </a:solidFill>
              </a:rPr>
              <a:t>Open SLA</a:t>
            </a:r>
          </a:p>
        </p:txBody>
      </p:sp>
      <p:sp>
        <p:nvSpPr>
          <p:cNvPr id="21" name="">
            <a:extLst xmlns:a="http://schemas.openxmlformats.org/drawingml/2006/main">
              <a:ext uri="{FF2B5EF4-FFF2-40B4-BE49-F238E27FC236}">
                <a16:creationId xmlns:a16="http://schemas.microsoft.com/office/drawing/2014/main" id="{5D1654DE-0AFC-42DC-94E7-3622AFE4334C}"/>
              </a:ext>
            </a:extLst>
          </p:cNvPr>
          <p:cNvSpPr>
            <a:spLocks xmlns:a="http://schemas.openxmlformats.org/drawingml/2006/main" noGrp="1"/>
          </p:cNvSpPr>
          <p:nvPr/>
        </p:nvSpPr>
        <p:spPr>
          <a:xfrm xmlns:a="http://schemas.openxmlformats.org/drawingml/2006/main">
            <a:off x="685800" y="5619750"/>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0B1F33"/>
                </a:solidFill>
              </a:defRPr>
            </a:pPr>
            <a:r>
              <a:rPr sz="1650" b="1" i="0">
                <a:solidFill>
                  <a:srgbClr val="0B1F33"/>
                </a:solidFill>
              </a:rPr>
              <a:t>Capacity rule | Allocate KYC remediation separately or reforecast analyst demand before launch.</a:t>
            </a:r>
          </a:p>
        </p:txBody>
      </p:sp>
    </p:spTree>
    <p:extLst>
      <p:ext uri="{BB962C8B-B14F-4D97-AF65-F5344CB8AC3E}">
        <p14:creationId xmlns:p14="http://schemas.microsoft.com/office/powerpoint/2010/main" val="4716456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0BF102D9-8AC2-4271-BA46-81708CC8ADBD}"/>
              </a:ext>
            </a:extLst>
          </p:cNvPr>
          <p:cNvSpPr>
            <a:spLocks xmlns:a="http://schemas.openxmlformats.org/drawingml/2006/main" noGrp="1"/>
          </p:cNvSpPr>
          <p:nvPr/>
        </p:nvSpPr>
        <p:spPr>
          <a:xfrm xmlns:a="http://schemas.openxmlformats.org/drawingml/2006/main">
            <a:off x="685800" y="26670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B677A"/>
                </a:solidFill>
              </a:defRPr>
            </a:pPr>
            <a:r>
              <a:rPr sz="975" b="1" i="0">
                <a:solidFill>
                  <a:srgbClr val="5B677A"/>
                </a:solidFill>
              </a:rPr>
              <a:t>AURELIA BANK | FINANCIAL CRIME &amp; AML</a:t>
            </a:r>
          </a:p>
        </p:txBody>
      </p:sp>
      <p:sp>
        <p:nvSpPr>
          <p:cNvPr id="2" name="">
            <a:extLst xmlns:a="http://schemas.openxmlformats.org/drawingml/2006/main">
              <a:ext uri="{FF2B5EF4-FFF2-40B4-BE49-F238E27FC236}">
                <a16:creationId xmlns:a16="http://schemas.microsoft.com/office/drawing/2014/main" id="{62EC0356-59A3-457A-9534-1767CD65CB43}"/>
              </a:ext>
            </a:extLst>
          </p:cNvPr>
          <p:cNvSpPr>
            <a:spLocks xmlns:a="http://schemas.openxmlformats.org/drawingml/2006/main" noGrp="1"/>
          </p:cNvSpPr>
          <p:nvPr/>
        </p:nvSpPr>
        <p:spPr>
          <a:xfrm xmlns:a="http://schemas.openxmlformats.org/drawingml/2006/main">
            <a:off x="11049000" y="2667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5B677A"/>
                </a:solidFill>
              </a:defRPr>
            </a:pPr>
            <a:r>
              <a:rPr sz="975" b="1" i="0">
                <a:solidFill>
                  <a:srgbClr val="5B677A"/>
                </a:solidFill>
              </a:rPr>
              <a:t>10</a:t>
            </a:r>
          </a:p>
        </p:txBody>
      </p:sp>
      <p:sp>
        <p:nvSpPr>
          <p:cNvPr id="3" name="">
            <a:extLst xmlns:a="http://schemas.openxmlformats.org/drawingml/2006/main">
              <a:ext uri="{FF2B5EF4-FFF2-40B4-BE49-F238E27FC236}">
                <a16:creationId xmlns:a16="http://schemas.microsoft.com/office/drawing/2014/main" id="{684F558F-32D9-4222-9057-4DF8335A9EF4}"/>
              </a:ext>
            </a:extLst>
          </p:cNvPr>
          <p:cNvSpPr>
            <a:spLocks xmlns:a="http://schemas.openxmlformats.org/drawingml/2006/main" noGrp="1"/>
          </p:cNvSpPr>
          <p:nvPr/>
        </p:nvSpPr>
        <p:spPr>
          <a:xfrm xmlns:a="http://schemas.openxmlformats.org/drawingml/2006/main">
            <a:off x="685800" y="552450"/>
            <a:ext cx="108204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ACABBCF-CB9E-433C-BDE5-B255A37EC446}"/>
              </a:ext>
            </a:extLst>
          </p:cNvPr>
          <p:cNvSpPr>
            <a:spLocks xmlns:a="http://schemas.openxmlformats.org/drawingml/2006/main" noGrp="1"/>
          </p:cNvSpPr>
          <p:nvPr/>
        </p:nvSpPr>
        <p:spPr>
          <a:xfrm xmlns:a="http://schemas.openxmlformats.org/drawingml/2006/main">
            <a:off x="685800" y="6515100"/>
            <a:ext cx="942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5B677A"/>
                </a:solidFill>
              </a:defRPr>
            </a:pPr>
            <a:r>
              <a:rPr sz="825" b="0" i="0">
                <a:solidFill>
                  <a:srgbClr val="5B677A"/>
                </a:solidFill>
              </a:rPr>
              <a:t>Source: alert AL000001 and linked synthetic transaction evidence</a:t>
            </a:r>
          </a:p>
        </p:txBody>
      </p:sp>
      <p:sp>
        <p:nvSpPr>
          <p:cNvPr id="5" name="">
            <a:extLst xmlns:a="http://schemas.openxmlformats.org/drawingml/2006/main">
              <a:ext uri="{FF2B5EF4-FFF2-40B4-BE49-F238E27FC236}">
                <a16:creationId xmlns:a16="http://schemas.microsoft.com/office/drawing/2014/main" id="{0242208F-FE65-431C-883D-36E842487464}"/>
              </a:ext>
            </a:extLst>
          </p:cNvPr>
          <p:cNvSpPr>
            <a:spLocks xmlns:a="http://schemas.openxmlformats.org/drawingml/2006/main" noGrp="1"/>
          </p:cNvSpPr>
          <p:nvPr/>
        </p:nvSpPr>
        <p:spPr>
          <a:xfrm xmlns:a="http://schemas.openxmlformats.org/drawingml/2006/main">
            <a:off x="10287000" y="6515100"/>
            <a:ext cx="1219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i="0">
                <a:solidFill>
                  <a:srgbClr val="5B677A"/>
                </a:solidFill>
              </a:defRPr>
            </a:pPr>
            <a:r>
              <a:rPr sz="825" b="0" i="0">
                <a:solidFill>
                  <a:srgbClr val="5B677A"/>
                </a:solidFill>
              </a:rPr>
              <a:t>20 AUG 2026</a:t>
            </a:r>
          </a:p>
        </p:txBody>
      </p:sp>
      <p:sp>
        <p:nvSpPr>
          <p:cNvPr id="6" name="">
            <a:extLst xmlns:a="http://schemas.openxmlformats.org/drawingml/2006/main">
              <a:ext uri="{FF2B5EF4-FFF2-40B4-BE49-F238E27FC236}">
                <a16:creationId xmlns:a16="http://schemas.microsoft.com/office/drawing/2014/main" id="{96DDD4E6-2773-4FA0-8B36-8B365D0CD56F}"/>
              </a:ext>
            </a:extLst>
          </p:cNvPr>
          <p:cNvSpPr>
            <a:spLocks xmlns:a="http://schemas.openxmlformats.org/drawingml/2006/main" noGrp="1"/>
          </p:cNvSpPr>
          <p:nvPr/>
        </p:nvSpPr>
        <p:spPr>
          <a:xfrm xmlns:a="http://schemas.openxmlformats.org/drawingml/2006/main">
            <a:off x="685800" y="7239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0B1F33"/>
                </a:solidFill>
              </a:defRPr>
            </a:pPr>
            <a:r>
              <a:rPr sz="3000" b="1" i="0">
                <a:solidFill>
                  <a:srgbClr val="0B1F33"/>
                </a:solidFill>
              </a:rPr>
              <a:t>One alert can be explained end to end</a:t>
            </a:r>
          </a:p>
        </p:txBody>
      </p:sp>
      <p:sp>
        <p:nvSpPr>
          <p:cNvPr id="7" name="">
            <a:extLst xmlns:a="http://schemas.openxmlformats.org/drawingml/2006/main">
              <a:ext uri="{FF2B5EF4-FFF2-40B4-BE49-F238E27FC236}">
                <a16:creationId xmlns:a16="http://schemas.microsoft.com/office/drawing/2014/main" id="{8E46C63F-5332-448D-B0CA-93D996944F54}"/>
              </a:ext>
            </a:extLst>
          </p:cNvPr>
          <p:cNvSpPr>
            <a:spLocks xmlns:a="http://schemas.openxmlformats.org/drawingml/2006/main" noGrp="1"/>
          </p:cNvSpPr>
          <p:nvPr/>
        </p:nvSpPr>
        <p:spPr>
          <a:xfrm xmlns:a="http://schemas.openxmlformats.org/drawingml/2006/main">
            <a:off x="685800" y="12954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5B677A"/>
                </a:solidFill>
              </a:defRPr>
            </a:pPr>
            <a:r>
              <a:rPr sz="1350" b="0" i="0">
                <a:solidFill>
                  <a:srgbClr val="5B677A"/>
                </a:solidFill>
              </a:rPr>
              <a:t>AL000001 is a synthetic circular-transfer lead; the evidence remains observational.</a:t>
            </a:r>
          </a:p>
        </p:txBody>
      </p:sp>
      <p:sp>
        <p:nvSpPr>
          <p:cNvPr id="8" name="">
            <a:extLst xmlns:a="http://schemas.openxmlformats.org/drawingml/2006/main">
              <a:ext uri="{FF2B5EF4-FFF2-40B4-BE49-F238E27FC236}">
                <a16:creationId xmlns:a16="http://schemas.microsoft.com/office/drawing/2014/main" id="{3159F471-625A-4E6D-9FDC-676A22CAE148}"/>
              </a:ext>
            </a:extLst>
          </p:cNvPr>
          <p:cNvSpPr>
            <a:spLocks xmlns:a="http://schemas.openxmlformats.org/drawingml/2006/main" noGrp="1"/>
          </p:cNvSpPr>
          <p:nvPr/>
        </p:nvSpPr>
        <p:spPr>
          <a:xfrm xmlns:a="http://schemas.openxmlformats.org/drawingml/2006/main">
            <a:off x="685800" y="19812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B677A"/>
                </a:solidFill>
              </a:defRPr>
            </a:pPr>
            <a:r>
              <a:rPr sz="975" b="1" i="0">
                <a:solidFill>
                  <a:srgbClr val="5B677A"/>
                </a:solidFill>
              </a:rPr>
              <a:t>01</a:t>
            </a:r>
          </a:p>
        </p:txBody>
      </p:sp>
      <p:sp>
        <p:nvSpPr>
          <p:cNvPr id="9" name="">
            <a:extLst xmlns:a="http://schemas.openxmlformats.org/drawingml/2006/main">
              <a:ext uri="{FF2B5EF4-FFF2-40B4-BE49-F238E27FC236}">
                <a16:creationId xmlns:a16="http://schemas.microsoft.com/office/drawing/2014/main" id="{B20E2AC6-4CD8-4A3A-8CF3-3F8C2440110E}"/>
              </a:ext>
            </a:extLst>
          </p:cNvPr>
          <p:cNvSpPr>
            <a:spLocks xmlns:a="http://schemas.openxmlformats.org/drawingml/2006/main" noGrp="1"/>
          </p:cNvSpPr>
          <p:nvPr/>
        </p:nvSpPr>
        <p:spPr>
          <a:xfrm xmlns:a="http://schemas.openxmlformats.org/drawingml/2006/main">
            <a:off x="685800" y="2343150"/>
            <a:ext cx="1905000" cy="167640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A9C6C7E-9A4E-49DE-91C0-84B292D5ACEC}"/>
              </a:ext>
            </a:extLst>
          </p:cNvPr>
          <p:cNvSpPr>
            <a:spLocks xmlns:a="http://schemas.openxmlformats.org/drawingml/2006/main" noGrp="1"/>
          </p:cNvSpPr>
          <p:nvPr/>
        </p:nvSpPr>
        <p:spPr>
          <a:xfrm xmlns:a="http://schemas.openxmlformats.org/drawingml/2006/main">
            <a:off x="895350" y="25336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0E7490"/>
                </a:solidFill>
              </a:defRPr>
            </a:pPr>
            <a:r>
              <a:rPr sz="1050" b="1" i="0">
                <a:solidFill>
                  <a:srgbClr val="0E7490"/>
                </a:solidFill>
              </a:rPr>
              <a:t>RULE</a:t>
            </a:r>
          </a:p>
        </p:txBody>
      </p:sp>
      <p:sp>
        <p:nvSpPr>
          <p:cNvPr id="11" name="">
            <a:extLst xmlns:a="http://schemas.openxmlformats.org/drawingml/2006/main">
              <a:ext uri="{FF2B5EF4-FFF2-40B4-BE49-F238E27FC236}">
                <a16:creationId xmlns:a16="http://schemas.microsoft.com/office/drawing/2014/main" id="{1F9E5380-4AE7-4313-804B-303B9BEC5342}"/>
              </a:ext>
            </a:extLst>
          </p:cNvPr>
          <p:cNvSpPr>
            <a:spLocks xmlns:a="http://schemas.openxmlformats.org/drawingml/2006/main" noGrp="1"/>
          </p:cNvSpPr>
          <p:nvPr/>
        </p:nvSpPr>
        <p:spPr>
          <a:xfrm xmlns:a="http://schemas.openxmlformats.org/drawingml/2006/main">
            <a:off x="895350" y="3028950"/>
            <a:ext cx="1485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0B1F33"/>
                </a:solidFill>
              </a:defRPr>
            </a:pPr>
            <a:r>
              <a:rPr sz="1650" b="1" i="0">
                <a:solidFill>
                  <a:srgbClr val="0B1F33"/>
                </a:solidFill>
              </a:rPr>
              <a:t>3-node cycle</a:t>
            </a:r>
          </a:p>
          <a:p xmlns:a="http://schemas.openxmlformats.org/drawingml/2006/main">
            <a:pPr algn="ctr">
              <a:defRPr sz="1650" b="1" i="0">
                <a:solidFill>
                  <a:srgbClr val="0B1F33"/>
                </a:solidFill>
              </a:defRPr>
            </a:pPr>
            <a:r>
              <a:rPr sz="1650" b="1" i="0">
                <a:solidFill>
                  <a:srgbClr val="0B1F33"/>
                </a:solidFill>
              </a:rPr>
              <a:t>TRY 445.9k</a:t>
            </a:r>
          </a:p>
        </p:txBody>
      </p:sp>
      <p:sp>
        <p:nvSpPr>
          <p:cNvPr id="12" name="">
            <a:extLst xmlns:a="http://schemas.openxmlformats.org/drawingml/2006/main">
              <a:ext uri="{FF2B5EF4-FFF2-40B4-BE49-F238E27FC236}">
                <a16:creationId xmlns:a16="http://schemas.microsoft.com/office/drawing/2014/main" id="{E02D8D1C-A97A-4F69-AB90-22BC570D7E23}"/>
              </a:ext>
            </a:extLst>
          </p:cNvPr>
          <p:cNvSpPr>
            <a:spLocks xmlns:a="http://schemas.openxmlformats.org/drawingml/2006/main" noGrp="1"/>
          </p:cNvSpPr>
          <p:nvPr/>
        </p:nvSpPr>
        <p:spPr>
          <a:xfrm xmlns:a="http://schemas.openxmlformats.org/drawingml/2006/main">
            <a:off x="2895600" y="19812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B677A"/>
                </a:solidFill>
              </a:defRPr>
            </a:pPr>
            <a:r>
              <a:rPr sz="975" b="1" i="0">
                <a:solidFill>
                  <a:srgbClr val="5B677A"/>
                </a:solidFill>
              </a:rPr>
              <a:t>02</a:t>
            </a:r>
          </a:p>
        </p:txBody>
      </p:sp>
      <p:sp>
        <p:nvSpPr>
          <p:cNvPr id="13" name="">
            <a:extLst xmlns:a="http://schemas.openxmlformats.org/drawingml/2006/main">
              <a:ext uri="{FF2B5EF4-FFF2-40B4-BE49-F238E27FC236}">
                <a16:creationId xmlns:a16="http://schemas.microsoft.com/office/drawing/2014/main" id="{D88FCF06-813A-42F6-9691-2558B500710B}"/>
              </a:ext>
            </a:extLst>
          </p:cNvPr>
          <p:cNvSpPr>
            <a:spLocks xmlns:a="http://schemas.openxmlformats.org/drawingml/2006/main" noGrp="1"/>
          </p:cNvSpPr>
          <p:nvPr/>
        </p:nvSpPr>
        <p:spPr>
          <a:xfrm xmlns:a="http://schemas.openxmlformats.org/drawingml/2006/main">
            <a:off x="2895600" y="2343150"/>
            <a:ext cx="1905000" cy="167640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2E4F73C-59B8-47C3-869B-9D5BF91F8A41}"/>
              </a:ext>
            </a:extLst>
          </p:cNvPr>
          <p:cNvSpPr>
            <a:spLocks xmlns:a="http://schemas.openxmlformats.org/drawingml/2006/main" noGrp="1"/>
          </p:cNvSpPr>
          <p:nvPr/>
        </p:nvSpPr>
        <p:spPr>
          <a:xfrm xmlns:a="http://schemas.openxmlformats.org/drawingml/2006/main">
            <a:off x="3105150" y="25336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0E7490"/>
                </a:solidFill>
              </a:defRPr>
            </a:pPr>
            <a:r>
              <a:rPr sz="1050" b="1" i="0">
                <a:solidFill>
                  <a:srgbClr val="0E7490"/>
                </a:solidFill>
              </a:rPr>
              <a:t>KYC</a:t>
            </a:r>
          </a:p>
        </p:txBody>
      </p:sp>
      <p:sp>
        <p:nvSpPr>
          <p:cNvPr id="15" name="">
            <a:extLst xmlns:a="http://schemas.openxmlformats.org/drawingml/2006/main">
              <a:ext uri="{FF2B5EF4-FFF2-40B4-BE49-F238E27FC236}">
                <a16:creationId xmlns:a16="http://schemas.microsoft.com/office/drawing/2014/main" id="{5D48313D-D5E9-4944-9BEF-7FE26B2C434B}"/>
              </a:ext>
            </a:extLst>
          </p:cNvPr>
          <p:cNvSpPr>
            <a:spLocks xmlns:a="http://schemas.openxmlformats.org/drawingml/2006/main" noGrp="1"/>
          </p:cNvSpPr>
          <p:nvPr/>
        </p:nvSpPr>
        <p:spPr>
          <a:xfrm xmlns:a="http://schemas.openxmlformats.org/drawingml/2006/main">
            <a:off x="3105150" y="3028950"/>
            <a:ext cx="1485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0B1F33"/>
                </a:solidFill>
              </a:defRPr>
            </a:pPr>
            <a:r>
              <a:rPr sz="1650" b="1" i="0">
                <a:solidFill>
                  <a:srgbClr val="0B1F33"/>
                </a:solidFill>
              </a:rPr>
              <a:t>Score 22</a:t>
            </a:r>
          </a:p>
          <a:p xmlns:a="http://schemas.openxmlformats.org/drawingml/2006/main">
            <a:pPr algn="ctr">
              <a:defRPr sz="1650" b="1" i="0">
                <a:solidFill>
                  <a:srgbClr val="0B1F33"/>
                </a:solidFill>
              </a:defRPr>
            </a:pPr>
            <a:r>
              <a:rPr sz="1650" b="1" i="0">
                <a:solidFill>
                  <a:srgbClr val="0B1F33"/>
                </a:solidFill>
              </a:rPr>
              <a:t>Low band</a:t>
            </a:r>
          </a:p>
        </p:txBody>
      </p:sp>
      <p:sp>
        <p:nvSpPr>
          <p:cNvPr id="16" name="">
            <a:extLst xmlns:a="http://schemas.openxmlformats.org/drawingml/2006/main">
              <a:ext uri="{FF2B5EF4-FFF2-40B4-BE49-F238E27FC236}">
                <a16:creationId xmlns:a16="http://schemas.microsoft.com/office/drawing/2014/main" id="{0C4D8EB3-48C2-4C5E-85CB-6CE072B96EE1}"/>
              </a:ext>
            </a:extLst>
          </p:cNvPr>
          <p:cNvSpPr>
            <a:spLocks xmlns:a="http://schemas.openxmlformats.org/drawingml/2006/main" noGrp="1"/>
          </p:cNvSpPr>
          <p:nvPr/>
        </p:nvSpPr>
        <p:spPr>
          <a:xfrm xmlns:a="http://schemas.openxmlformats.org/drawingml/2006/main">
            <a:off x="5105400" y="19812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B677A"/>
                </a:solidFill>
              </a:defRPr>
            </a:pPr>
            <a:r>
              <a:rPr sz="975" b="1" i="0">
                <a:solidFill>
                  <a:srgbClr val="5B677A"/>
                </a:solidFill>
              </a:rPr>
              <a:t>03</a:t>
            </a:r>
          </a:p>
        </p:txBody>
      </p:sp>
      <p:sp>
        <p:nvSpPr>
          <p:cNvPr id="17" name="">
            <a:extLst xmlns:a="http://schemas.openxmlformats.org/drawingml/2006/main">
              <a:ext uri="{FF2B5EF4-FFF2-40B4-BE49-F238E27FC236}">
                <a16:creationId xmlns:a16="http://schemas.microsoft.com/office/drawing/2014/main" id="{6B2879B0-A6C5-4F4C-B0B6-47916C67FE60}"/>
              </a:ext>
            </a:extLst>
          </p:cNvPr>
          <p:cNvSpPr>
            <a:spLocks xmlns:a="http://schemas.openxmlformats.org/drawingml/2006/main" noGrp="1"/>
          </p:cNvSpPr>
          <p:nvPr/>
        </p:nvSpPr>
        <p:spPr>
          <a:xfrm xmlns:a="http://schemas.openxmlformats.org/drawingml/2006/main">
            <a:off x="5105400" y="2343150"/>
            <a:ext cx="1905000" cy="167640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9736490-D207-4AF3-ABCD-E31E7577AEDF}"/>
              </a:ext>
            </a:extLst>
          </p:cNvPr>
          <p:cNvSpPr>
            <a:spLocks xmlns:a="http://schemas.openxmlformats.org/drawingml/2006/main" noGrp="1"/>
          </p:cNvSpPr>
          <p:nvPr/>
        </p:nvSpPr>
        <p:spPr>
          <a:xfrm xmlns:a="http://schemas.openxmlformats.org/drawingml/2006/main">
            <a:off x="5314950" y="25336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0E7490"/>
                </a:solidFill>
              </a:defRPr>
            </a:pPr>
            <a:r>
              <a:rPr sz="1050" b="1" i="0">
                <a:solidFill>
                  <a:srgbClr val="0E7490"/>
                </a:solidFill>
              </a:rPr>
              <a:t>ANOMALY</a:t>
            </a:r>
          </a:p>
        </p:txBody>
      </p:sp>
      <p:sp>
        <p:nvSpPr>
          <p:cNvPr id="19" name="">
            <a:extLst xmlns:a="http://schemas.openxmlformats.org/drawingml/2006/main">
              <a:ext uri="{FF2B5EF4-FFF2-40B4-BE49-F238E27FC236}">
                <a16:creationId xmlns:a16="http://schemas.microsoft.com/office/drawing/2014/main" id="{10A5B93B-EEB4-4E4B-A327-82C53D2AF73F}"/>
              </a:ext>
            </a:extLst>
          </p:cNvPr>
          <p:cNvSpPr>
            <a:spLocks xmlns:a="http://schemas.openxmlformats.org/drawingml/2006/main" noGrp="1"/>
          </p:cNvSpPr>
          <p:nvPr/>
        </p:nvSpPr>
        <p:spPr>
          <a:xfrm xmlns:a="http://schemas.openxmlformats.org/drawingml/2006/main">
            <a:off x="5314950" y="3028950"/>
            <a:ext cx="1485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0B1F33"/>
                </a:solidFill>
              </a:defRPr>
            </a:pPr>
            <a:r>
              <a:rPr sz="1650" b="1" i="0">
                <a:solidFill>
                  <a:srgbClr val="0B1F33"/>
                </a:solidFill>
              </a:rPr>
              <a:t>98.3</a:t>
            </a:r>
          </a:p>
          <a:p xmlns:a="http://schemas.openxmlformats.org/drawingml/2006/main">
            <a:pPr algn="ctr">
              <a:defRPr sz="1650" b="1" i="0">
                <a:solidFill>
                  <a:srgbClr val="0B1F33"/>
                </a:solidFill>
              </a:defRPr>
            </a:pPr>
            <a:r>
              <a:rPr sz="1650" b="1" i="0">
                <a:solidFill>
                  <a:srgbClr val="0B1F33"/>
                </a:solidFill>
              </a:rPr>
              <a:t>Flagged</a:t>
            </a:r>
          </a:p>
        </p:txBody>
      </p:sp>
      <p:sp>
        <p:nvSpPr>
          <p:cNvPr id="20" name="">
            <a:extLst xmlns:a="http://schemas.openxmlformats.org/drawingml/2006/main">
              <a:ext uri="{FF2B5EF4-FFF2-40B4-BE49-F238E27FC236}">
                <a16:creationId xmlns:a16="http://schemas.microsoft.com/office/drawing/2014/main" id="{3BF79C11-08B4-49DF-819B-E8C745AA55D4}"/>
              </a:ext>
            </a:extLst>
          </p:cNvPr>
          <p:cNvSpPr>
            <a:spLocks xmlns:a="http://schemas.openxmlformats.org/drawingml/2006/main" noGrp="1"/>
          </p:cNvSpPr>
          <p:nvPr/>
        </p:nvSpPr>
        <p:spPr>
          <a:xfrm xmlns:a="http://schemas.openxmlformats.org/drawingml/2006/main">
            <a:off x="7315200" y="19812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B677A"/>
                </a:solidFill>
              </a:defRPr>
            </a:pPr>
            <a:r>
              <a:rPr sz="975" b="1" i="0">
                <a:solidFill>
                  <a:srgbClr val="5B677A"/>
                </a:solidFill>
              </a:rPr>
              <a:t>04</a:t>
            </a:r>
          </a:p>
        </p:txBody>
      </p:sp>
      <p:sp>
        <p:nvSpPr>
          <p:cNvPr id="21" name="">
            <a:extLst xmlns:a="http://schemas.openxmlformats.org/drawingml/2006/main">
              <a:ext uri="{FF2B5EF4-FFF2-40B4-BE49-F238E27FC236}">
                <a16:creationId xmlns:a16="http://schemas.microsoft.com/office/drawing/2014/main" id="{16BC4F70-8381-4069-B1A2-20F2D80BC785}"/>
              </a:ext>
            </a:extLst>
          </p:cNvPr>
          <p:cNvSpPr>
            <a:spLocks xmlns:a="http://schemas.openxmlformats.org/drawingml/2006/main" noGrp="1"/>
          </p:cNvSpPr>
          <p:nvPr/>
        </p:nvSpPr>
        <p:spPr>
          <a:xfrm xmlns:a="http://schemas.openxmlformats.org/drawingml/2006/main">
            <a:off x="7315200" y="2343150"/>
            <a:ext cx="1905000" cy="167640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B1440CE-E699-4F48-9452-0E31EA51FDCC}"/>
              </a:ext>
            </a:extLst>
          </p:cNvPr>
          <p:cNvSpPr>
            <a:spLocks xmlns:a="http://schemas.openxmlformats.org/drawingml/2006/main" noGrp="1"/>
          </p:cNvSpPr>
          <p:nvPr/>
        </p:nvSpPr>
        <p:spPr>
          <a:xfrm xmlns:a="http://schemas.openxmlformats.org/drawingml/2006/main">
            <a:off x="7524750" y="25336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0E7490"/>
                </a:solidFill>
              </a:defRPr>
            </a:pPr>
            <a:r>
              <a:rPr sz="1050" b="1" i="0">
                <a:solidFill>
                  <a:srgbClr val="0E7490"/>
                </a:solidFill>
              </a:rPr>
              <a:t>GRAPH</a:t>
            </a:r>
          </a:p>
        </p:txBody>
      </p:sp>
      <p:sp>
        <p:nvSpPr>
          <p:cNvPr id="23" name="">
            <a:extLst xmlns:a="http://schemas.openxmlformats.org/drawingml/2006/main">
              <a:ext uri="{FF2B5EF4-FFF2-40B4-BE49-F238E27FC236}">
                <a16:creationId xmlns:a16="http://schemas.microsoft.com/office/drawing/2014/main" id="{03A4E4E9-7A9E-46CD-AF5D-6EF78D98CC75}"/>
              </a:ext>
            </a:extLst>
          </p:cNvPr>
          <p:cNvSpPr>
            <a:spLocks xmlns:a="http://schemas.openxmlformats.org/drawingml/2006/main" noGrp="1"/>
          </p:cNvSpPr>
          <p:nvPr/>
        </p:nvSpPr>
        <p:spPr>
          <a:xfrm xmlns:a="http://schemas.openxmlformats.org/drawingml/2006/main">
            <a:off x="7524750" y="3028950"/>
            <a:ext cx="1485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0B1F33"/>
                </a:solidFill>
              </a:defRPr>
            </a:pPr>
            <a:r>
              <a:rPr sz="1650" b="1" i="0">
                <a:solidFill>
                  <a:srgbClr val="0B1F33"/>
                </a:solidFill>
              </a:rPr>
              <a:t>90.4</a:t>
            </a:r>
          </a:p>
          <a:p xmlns:a="http://schemas.openxmlformats.org/drawingml/2006/main">
            <a:pPr algn="ctr">
              <a:defRPr sz="1650" b="1" i="0">
                <a:solidFill>
                  <a:srgbClr val="0B1F33"/>
                </a:solidFill>
              </a:defRPr>
            </a:pPr>
            <a:r>
              <a:rPr sz="1650" b="1" i="0">
                <a:solidFill>
                  <a:srgbClr val="0B1F33"/>
                </a:solidFill>
              </a:rPr>
              <a:t>Cycle member</a:t>
            </a:r>
          </a:p>
        </p:txBody>
      </p:sp>
      <p:sp>
        <p:nvSpPr>
          <p:cNvPr id="24" name="">
            <a:extLst xmlns:a="http://schemas.openxmlformats.org/drawingml/2006/main">
              <a:ext uri="{FF2B5EF4-FFF2-40B4-BE49-F238E27FC236}">
                <a16:creationId xmlns:a16="http://schemas.microsoft.com/office/drawing/2014/main" id="{0C3BAF37-9218-4C5B-BF9D-2C86F7BF7ED6}"/>
              </a:ext>
            </a:extLst>
          </p:cNvPr>
          <p:cNvSpPr>
            <a:spLocks xmlns:a="http://schemas.openxmlformats.org/drawingml/2006/main" noGrp="1"/>
          </p:cNvSpPr>
          <p:nvPr/>
        </p:nvSpPr>
        <p:spPr>
          <a:xfrm xmlns:a="http://schemas.openxmlformats.org/drawingml/2006/main">
            <a:off x="9525000" y="19812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B677A"/>
                </a:solidFill>
              </a:defRPr>
            </a:pPr>
            <a:r>
              <a:rPr sz="975" b="1" i="0">
                <a:solidFill>
                  <a:srgbClr val="5B677A"/>
                </a:solidFill>
              </a:rPr>
              <a:t>05</a:t>
            </a:r>
          </a:p>
        </p:txBody>
      </p:sp>
      <p:sp>
        <p:nvSpPr>
          <p:cNvPr id="25" name="">
            <a:extLst xmlns:a="http://schemas.openxmlformats.org/drawingml/2006/main">
              <a:ext uri="{FF2B5EF4-FFF2-40B4-BE49-F238E27FC236}">
                <a16:creationId xmlns:a16="http://schemas.microsoft.com/office/drawing/2014/main" id="{9818BF8A-7ECE-46DF-A8BC-159C73536FFF}"/>
              </a:ext>
            </a:extLst>
          </p:cNvPr>
          <p:cNvSpPr>
            <a:spLocks xmlns:a="http://schemas.openxmlformats.org/drawingml/2006/main" noGrp="1"/>
          </p:cNvSpPr>
          <p:nvPr/>
        </p:nvSpPr>
        <p:spPr>
          <a:xfrm xmlns:a="http://schemas.openxmlformats.org/drawingml/2006/main">
            <a:off x="9525000" y="2343150"/>
            <a:ext cx="1905000" cy="1676400"/>
          </a:xfrm>
          <a:prstGeom xmlns:a="http://schemas.openxmlformats.org/drawingml/2006/main" prst="rect">
            <a:avLst/>
          </a:prstGeom>
          <a:solidFill xmlns:a="http://schemas.openxmlformats.org/drawingml/2006/main">
            <a:srgbClr val="FDECEC"/>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0013F2E-7485-4F1E-BD9F-8891670986C3}"/>
              </a:ext>
            </a:extLst>
          </p:cNvPr>
          <p:cNvSpPr>
            <a:spLocks xmlns:a="http://schemas.openxmlformats.org/drawingml/2006/main" noGrp="1"/>
          </p:cNvSpPr>
          <p:nvPr/>
        </p:nvSpPr>
        <p:spPr>
          <a:xfrm xmlns:a="http://schemas.openxmlformats.org/drawingml/2006/main">
            <a:off x="9734550" y="25336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C2413B"/>
                </a:solidFill>
              </a:defRPr>
            </a:pPr>
            <a:r>
              <a:rPr sz="1050" b="1" i="0">
                <a:solidFill>
                  <a:srgbClr val="C2413B"/>
                </a:solidFill>
              </a:rPr>
              <a:t>PRIORITY</a:t>
            </a:r>
          </a:p>
        </p:txBody>
      </p:sp>
      <p:sp>
        <p:nvSpPr>
          <p:cNvPr id="27" name="">
            <a:extLst xmlns:a="http://schemas.openxmlformats.org/drawingml/2006/main">
              <a:ext uri="{FF2B5EF4-FFF2-40B4-BE49-F238E27FC236}">
                <a16:creationId xmlns:a16="http://schemas.microsoft.com/office/drawing/2014/main" id="{2C8892BE-2458-45B7-B85E-2386A1D0CFBE}"/>
              </a:ext>
            </a:extLst>
          </p:cNvPr>
          <p:cNvSpPr>
            <a:spLocks xmlns:a="http://schemas.openxmlformats.org/drawingml/2006/main" noGrp="1"/>
          </p:cNvSpPr>
          <p:nvPr/>
        </p:nvSpPr>
        <p:spPr>
          <a:xfrm xmlns:a="http://schemas.openxmlformats.org/drawingml/2006/main">
            <a:off x="9734550" y="3028950"/>
            <a:ext cx="1485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0B1F33"/>
                </a:solidFill>
              </a:defRPr>
            </a:pPr>
            <a:r>
              <a:rPr sz="1650" b="1" i="0">
                <a:solidFill>
                  <a:srgbClr val="0B1F33"/>
                </a:solidFill>
              </a:rPr>
              <a:t>83.3</a:t>
            </a:r>
          </a:p>
          <a:p xmlns:a="http://schemas.openxmlformats.org/drawingml/2006/main">
            <a:pPr algn="ctr">
              <a:defRPr sz="1650" b="1" i="0">
                <a:solidFill>
                  <a:srgbClr val="0B1F33"/>
                </a:solidFill>
              </a:defRPr>
            </a:pPr>
            <a:r>
              <a:rPr sz="1650" b="1" i="0">
                <a:solidFill>
                  <a:srgbClr val="0B1F33"/>
                </a:solidFill>
              </a:rPr>
              <a:t>High</a:t>
            </a:r>
          </a:p>
        </p:txBody>
      </p:sp>
      <p:sp>
        <p:nvSpPr>
          <p:cNvPr id="28" name="">
            <a:extLst xmlns:a="http://schemas.openxmlformats.org/drawingml/2006/main">
              <a:ext uri="{FF2B5EF4-FFF2-40B4-BE49-F238E27FC236}">
                <a16:creationId xmlns:a16="http://schemas.microsoft.com/office/drawing/2014/main" id="{CCC73711-BE92-4AF1-B6E5-534F7E3DDFEC}"/>
              </a:ext>
            </a:extLst>
          </p:cNvPr>
          <p:cNvSpPr>
            <a:spLocks xmlns:a="http://schemas.openxmlformats.org/drawingml/2006/main" noGrp="1"/>
          </p:cNvSpPr>
          <p:nvPr/>
        </p:nvSpPr>
        <p:spPr>
          <a:xfrm xmlns:a="http://schemas.openxmlformats.org/drawingml/2006/main">
            <a:off x="685800" y="4457700"/>
            <a:ext cx="10820400" cy="1085850"/>
          </a:xfrm>
          <a:prstGeom xmlns:a="http://schemas.openxmlformats.org/drawingml/2006/main" prst="rect">
            <a:avLst/>
          </a:prstGeom>
          <a:solidFill xmlns:a="http://schemas.openxmlformats.org/drawingml/2006/main">
            <a:srgbClr val="0B1F33"/>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B257A01-BE2F-4116-85CD-AA492650A789}"/>
              </a:ext>
            </a:extLst>
          </p:cNvPr>
          <p:cNvSpPr>
            <a:spLocks xmlns:a="http://schemas.openxmlformats.org/drawingml/2006/main" noGrp="1"/>
          </p:cNvSpPr>
          <p:nvPr/>
        </p:nvSpPr>
        <p:spPr>
          <a:xfrm xmlns:a="http://schemas.openxmlformats.org/drawingml/2006/main">
            <a:off x="990600" y="46291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i="0">
                <a:solidFill>
                  <a:srgbClr val="32B7C7"/>
                </a:solidFill>
              </a:defRPr>
            </a:pPr>
            <a:r>
              <a:rPr sz="1050" b="1" i="0">
                <a:solidFill>
                  <a:srgbClr val="32B7C7"/>
                </a:solidFill>
              </a:rPr>
              <a:t>HUMAN QUESTION</a:t>
            </a:r>
          </a:p>
        </p:txBody>
      </p:sp>
      <p:sp>
        <p:nvSpPr>
          <p:cNvPr id="30" name="">
            <a:extLst xmlns:a="http://schemas.openxmlformats.org/drawingml/2006/main">
              <a:ext uri="{FF2B5EF4-FFF2-40B4-BE49-F238E27FC236}">
                <a16:creationId xmlns:a16="http://schemas.microsoft.com/office/drawing/2014/main" id="{A202FD8C-91B0-47DA-AAE9-3DA6A521251C}"/>
              </a:ext>
            </a:extLst>
          </p:cNvPr>
          <p:cNvSpPr>
            <a:spLocks xmlns:a="http://schemas.openxmlformats.org/drawingml/2006/main" noGrp="1"/>
          </p:cNvSpPr>
          <p:nvPr/>
        </p:nvSpPr>
        <p:spPr>
          <a:xfrm xmlns:a="http://schemas.openxmlformats.org/drawingml/2006/main">
            <a:off x="990600" y="497205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i="0">
                <a:solidFill>
                  <a:srgbClr val="FFFFFF"/>
                </a:solidFill>
              </a:defRPr>
            </a:pPr>
            <a:r>
              <a:rPr sz="1875" b="1" i="0">
                <a:solidFill>
                  <a:srgbClr val="FFFFFF"/>
                </a:solidFill>
              </a:rPr>
              <a:t>Is the cycle consistent with related-party treasury, invoicing or another legitimate purpose?</a:t>
            </a:r>
          </a:p>
        </p:txBody>
      </p:sp>
      <p:sp>
        <p:nvSpPr>
          <p:cNvPr id="31" name="">
            <a:extLst xmlns:a="http://schemas.openxmlformats.org/drawingml/2006/main">
              <a:ext uri="{FF2B5EF4-FFF2-40B4-BE49-F238E27FC236}">
                <a16:creationId xmlns:a16="http://schemas.microsoft.com/office/drawing/2014/main" id="{76242558-327B-4FD0-8EB5-EBF7B773548B}"/>
              </a:ext>
            </a:extLst>
          </p:cNvPr>
          <p:cNvSpPr>
            <a:spLocks xmlns:a="http://schemas.openxmlformats.org/drawingml/2006/main" noGrp="1"/>
          </p:cNvSpPr>
          <p:nvPr/>
        </p:nvSpPr>
        <p:spPr>
          <a:xfrm xmlns:a="http://schemas.openxmlformats.org/drawingml/2006/main">
            <a:off x="685800" y="5772150"/>
            <a:ext cx="1082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C2413B"/>
                </a:solidFill>
              </a:defRPr>
            </a:pPr>
            <a:r>
              <a:rPr sz="1500" b="1" i="0">
                <a:solidFill>
                  <a:srgbClr val="C2413B"/>
                </a:solidFill>
              </a:rPr>
              <a:t>No criminal conclusion. No automated ŞİB/STR. No automated customer restriction.</a:t>
            </a:r>
          </a:p>
        </p:txBody>
      </p:sp>
    </p:spTree>
    <p:extLst>
      <p:ext uri="{BB962C8B-B14F-4D97-AF65-F5344CB8AC3E}">
        <p14:creationId xmlns:p14="http://schemas.microsoft.com/office/powerpoint/2010/main" val="106538278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5CF0BAB-494F-4453-A28E-73B6E46F5552}"/>
              </a:ext>
            </a:extLst>
          </p:cNvPr>
          <p:cNvSpPr>
            <a:spLocks xmlns:a="http://schemas.openxmlformats.org/drawingml/2006/main" noGrp="1"/>
          </p:cNvSpPr>
          <p:nvPr/>
        </p:nvSpPr>
        <p:spPr>
          <a:xfrm xmlns:a="http://schemas.openxmlformats.org/drawingml/2006/main">
            <a:off x="685800" y="26670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B677A"/>
                </a:solidFill>
              </a:defRPr>
            </a:pPr>
            <a:r>
              <a:rPr sz="975" b="1" i="0">
                <a:solidFill>
                  <a:srgbClr val="5B677A"/>
                </a:solidFill>
              </a:rPr>
              <a:t>AURELIA BANK | FINANCIAL CRIME &amp; AML</a:t>
            </a:r>
          </a:p>
        </p:txBody>
      </p:sp>
      <p:sp>
        <p:nvSpPr>
          <p:cNvPr id="2" name="">
            <a:extLst xmlns:a="http://schemas.openxmlformats.org/drawingml/2006/main">
              <a:ext uri="{FF2B5EF4-FFF2-40B4-BE49-F238E27FC236}">
                <a16:creationId xmlns:a16="http://schemas.microsoft.com/office/drawing/2014/main" id="{EB83F091-7FF0-4563-B7E8-FF50CDC39536}"/>
              </a:ext>
            </a:extLst>
          </p:cNvPr>
          <p:cNvSpPr>
            <a:spLocks xmlns:a="http://schemas.openxmlformats.org/drawingml/2006/main" noGrp="1"/>
          </p:cNvSpPr>
          <p:nvPr/>
        </p:nvSpPr>
        <p:spPr>
          <a:xfrm xmlns:a="http://schemas.openxmlformats.org/drawingml/2006/main">
            <a:off x="11049000" y="2667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5B677A"/>
                </a:solidFill>
              </a:defRPr>
            </a:pPr>
            <a:r>
              <a:rPr sz="975" b="1" i="0">
                <a:solidFill>
                  <a:srgbClr val="5B677A"/>
                </a:solidFill>
              </a:rPr>
              <a:t>11</a:t>
            </a:r>
          </a:p>
        </p:txBody>
      </p:sp>
      <p:sp>
        <p:nvSpPr>
          <p:cNvPr id="3" name="">
            <a:extLst xmlns:a="http://schemas.openxmlformats.org/drawingml/2006/main">
              <a:ext uri="{FF2B5EF4-FFF2-40B4-BE49-F238E27FC236}">
                <a16:creationId xmlns:a16="http://schemas.microsoft.com/office/drawing/2014/main" id="{487F4412-EE17-4440-983C-33B17DF84A59}"/>
              </a:ext>
            </a:extLst>
          </p:cNvPr>
          <p:cNvSpPr>
            <a:spLocks xmlns:a="http://schemas.openxmlformats.org/drawingml/2006/main" noGrp="1"/>
          </p:cNvSpPr>
          <p:nvPr/>
        </p:nvSpPr>
        <p:spPr>
          <a:xfrm xmlns:a="http://schemas.openxmlformats.org/drawingml/2006/main">
            <a:off x="685800" y="552450"/>
            <a:ext cx="108204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8CF18B2-BFAC-423C-85C4-B4A268833D0D}"/>
              </a:ext>
            </a:extLst>
          </p:cNvPr>
          <p:cNvSpPr>
            <a:spLocks xmlns:a="http://schemas.openxmlformats.org/drawingml/2006/main" noGrp="1"/>
          </p:cNvSpPr>
          <p:nvPr/>
        </p:nvSpPr>
        <p:spPr>
          <a:xfrm xmlns:a="http://schemas.openxmlformats.org/drawingml/2006/main">
            <a:off x="685800" y="6515100"/>
            <a:ext cx="942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5B677A"/>
                </a:solidFill>
              </a:defRPr>
            </a:pPr>
            <a:r>
              <a:rPr sz="825" b="0" i="0">
                <a:solidFill>
                  <a:srgbClr val="5B677A"/>
                </a:solidFill>
              </a:rPr>
              <a:t>Sources: MASAK, FATF and UN official materials; repository governance controls</a:t>
            </a:r>
          </a:p>
        </p:txBody>
      </p:sp>
      <p:sp>
        <p:nvSpPr>
          <p:cNvPr id="5" name="">
            <a:extLst xmlns:a="http://schemas.openxmlformats.org/drawingml/2006/main">
              <a:ext uri="{FF2B5EF4-FFF2-40B4-BE49-F238E27FC236}">
                <a16:creationId xmlns:a16="http://schemas.microsoft.com/office/drawing/2014/main" id="{A479851D-219A-4226-B01A-43E71C733819}"/>
              </a:ext>
            </a:extLst>
          </p:cNvPr>
          <p:cNvSpPr>
            <a:spLocks xmlns:a="http://schemas.openxmlformats.org/drawingml/2006/main" noGrp="1"/>
          </p:cNvSpPr>
          <p:nvPr/>
        </p:nvSpPr>
        <p:spPr>
          <a:xfrm xmlns:a="http://schemas.openxmlformats.org/drawingml/2006/main">
            <a:off x="10287000" y="6515100"/>
            <a:ext cx="1219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i="0">
                <a:solidFill>
                  <a:srgbClr val="5B677A"/>
                </a:solidFill>
              </a:defRPr>
            </a:pPr>
            <a:r>
              <a:rPr sz="825" b="0" i="0">
                <a:solidFill>
                  <a:srgbClr val="5B677A"/>
                </a:solidFill>
              </a:rPr>
              <a:t>20 AUG 2026</a:t>
            </a:r>
          </a:p>
        </p:txBody>
      </p:sp>
      <p:sp>
        <p:nvSpPr>
          <p:cNvPr id="6" name="">
            <a:extLst xmlns:a="http://schemas.openxmlformats.org/drawingml/2006/main">
              <a:ext uri="{FF2B5EF4-FFF2-40B4-BE49-F238E27FC236}">
                <a16:creationId xmlns:a16="http://schemas.microsoft.com/office/drawing/2014/main" id="{A94712C9-A7D2-4D65-B270-2E83F029E848}"/>
              </a:ext>
            </a:extLst>
          </p:cNvPr>
          <p:cNvSpPr>
            <a:spLocks xmlns:a="http://schemas.openxmlformats.org/drawingml/2006/main" noGrp="1"/>
          </p:cNvSpPr>
          <p:nvPr/>
        </p:nvSpPr>
        <p:spPr>
          <a:xfrm xmlns:a="http://schemas.openxmlformats.org/drawingml/2006/main">
            <a:off x="685800" y="7239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0B1F33"/>
                </a:solidFill>
              </a:defRPr>
            </a:pPr>
            <a:r>
              <a:rPr sz="3000" b="1" i="0">
                <a:solidFill>
                  <a:srgbClr val="0B1F33"/>
                </a:solidFill>
              </a:rPr>
              <a:t>Governance is a feature—not a disclaimer</a:t>
            </a:r>
          </a:p>
        </p:txBody>
      </p:sp>
      <p:sp>
        <p:nvSpPr>
          <p:cNvPr id="7" name="">
            <a:extLst xmlns:a="http://schemas.openxmlformats.org/drawingml/2006/main">
              <a:ext uri="{FF2B5EF4-FFF2-40B4-BE49-F238E27FC236}">
                <a16:creationId xmlns:a16="http://schemas.microsoft.com/office/drawing/2014/main" id="{BB40782D-D4B7-4068-924A-3E983DC08145}"/>
              </a:ext>
            </a:extLst>
          </p:cNvPr>
          <p:cNvSpPr>
            <a:spLocks xmlns:a="http://schemas.openxmlformats.org/drawingml/2006/main" noGrp="1"/>
          </p:cNvSpPr>
          <p:nvPr/>
        </p:nvSpPr>
        <p:spPr>
          <a:xfrm xmlns:a="http://schemas.openxmlformats.org/drawingml/2006/main">
            <a:off x="685800" y="12954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5B677A"/>
                </a:solidFill>
              </a:defRPr>
            </a:pPr>
            <a:r>
              <a:rPr sz="1350" b="0" i="0">
                <a:solidFill>
                  <a:srgbClr val="5B677A"/>
                </a:solidFill>
              </a:rPr>
              <a:t>The design translates official principles into explicit technical and operational controls.</a:t>
            </a:r>
          </a:p>
        </p:txBody>
      </p:sp>
      <p:sp>
        <p:nvSpPr>
          <p:cNvPr id="8" name="">
            <a:extLst xmlns:a="http://schemas.openxmlformats.org/drawingml/2006/main">
              <a:ext uri="{FF2B5EF4-FFF2-40B4-BE49-F238E27FC236}">
                <a16:creationId xmlns:a16="http://schemas.microsoft.com/office/drawing/2014/main" id="{DE29E69E-5F2C-4939-9E83-83CBB137270C}"/>
              </a:ext>
            </a:extLst>
          </p:cNvPr>
          <p:cNvSpPr>
            <a:spLocks xmlns:a="http://schemas.openxmlformats.org/drawingml/2006/main" noGrp="1"/>
          </p:cNvSpPr>
          <p:nvPr/>
        </p:nvSpPr>
        <p:spPr>
          <a:xfrm xmlns:a="http://schemas.openxmlformats.org/drawingml/2006/main">
            <a:off x="685800" y="1943100"/>
            <a:ext cx="10820400" cy="60960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7D42D4B-CE1F-48BD-AE37-C77B2B8F669C}"/>
              </a:ext>
            </a:extLst>
          </p:cNvPr>
          <p:cNvSpPr>
            <a:spLocks xmlns:a="http://schemas.openxmlformats.org/drawingml/2006/main" noGrp="1"/>
          </p:cNvSpPr>
          <p:nvPr/>
        </p:nvSpPr>
        <p:spPr>
          <a:xfrm xmlns:a="http://schemas.openxmlformats.org/drawingml/2006/main">
            <a:off x="914400" y="203835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i="0">
                <a:solidFill>
                  <a:srgbClr val="0E7490"/>
                </a:solidFill>
              </a:defRPr>
            </a:pPr>
            <a:r>
              <a:rPr sz="1200" b="1" i="0">
                <a:solidFill>
                  <a:srgbClr val="0E7490"/>
                </a:solidFill>
              </a:rPr>
              <a:t>RISK-BASED APPROACH</a:t>
            </a:r>
          </a:p>
        </p:txBody>
      </p:sp>
      <p:sp>
        <p:nvSpPr>
          <p:cNvPr id="10" name="">
            <a:extLst xmlns:a="http://schemas.openxmlformats.org/drawingml/2006/main">
              <a:ext uri="{FF2B5EF4-FFF2-40B4-BE49-F238E27FC236}">
                <a16:creationId xmlns:a16="http://schemas.microsoft.com/office/drawing/2014/main" id="{CA80E8F7-C61A-4562-94BA-8A2547071D67}"/>
              </a:ext>
            </a:extLst>
          </p:cNvPr>
          <p:cNvSpPr>
            <a:spLocks xmlns:a="http://schemas.openxmlformats.org/drawingml/2006/main" noGrp="1"/>
          </p:cNvSpPr>
          <p:nvPr/>
        </p:nvSpPr>
        <p:spPr>
          <a:xfrm xmlns:a="http://schemas.openxmlformats.org/drawingml/2006/main">
            <a:off x="4038600" y="2038350"/>
            <a:ext cx="716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0B1F33"/>
                </a:solidFill>
              </a:defRPr>
            </a:pPr>
            <a:r>
              <a:rPr sz="1500" b="1" i="0">
                <a:solidFill>
                  <a:srgbClr val="0B1F33"/>
                </a:solidFill>
              </a:rPr>
              <a:t>Weighted priority, segment challenge and capacity limits</a:t>
            </a:r>
          </a:p>
        </p:txBody>
      </p:sp>
      <p:sp>
        <p:nvSpPr>
          <p:cNvPr id="11" name="">
            <a:extLst xmlns:a="http://schemas.openxmlformats.org/drawingml/2006/main">
              <a:ext uri="{FF2B5EF4-FFF2-40B4-BE49-F238E27FC236}">
                <a16:creationId xmlns:a16="http://schemas.microsoft.com/office/drawing/2014/main" id="{98BB8C65-9AE4-43E0-9B95-165E73F360F7}"/>
              </a:ext>
            </a:extLst>
          </p:cNvPr>
          <p:cNvSpPr>
            <a:spLocks xmlns:a="http://schemas.openxmlformats.org/drawingml/2006/main" noGrp="1"/>
          </p:cNvSpPr>
          <p:nvPr/>
        </p:nvSpPr>
        <p:spPr>
          <a:xfrm xmlns:a="http://schemas.openxmlformats.org/drawingml/2006/main">
            <a:off x="914400" y="278130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i="0">
                <a:solidFill>
                  <a:srgbClr val="0E7490"/>
                </a:solidFill>
              </a:defRPr>
            </a:pPr>
            <a:r>
              <a:rPr sz="1200" b="1" i="0">
                <a:solidFill>
                  <a:srgbClr val="0E7490"/>
                </a:solidFill>
              </a:rPr>
              <a:t>PAYMENT TRANSPARENCY</a:t>
            </a:r>
          </a:p>
        </p:txBody>
      </p:sp>
      <p:sp>
        <p:nvSpPr>
          <p:cNvPr id="12" name="">
            <a:extLst xmlns:a="http://schemas.openxmlformats.org/drawingml/2006/main">
              <a:ext uri="{FF2B5EF4-FFF2-40B4-BE49-F238E27FC236}">
                <a16:creationId xmlns:a16="http://schemas.microsoft.com/office/drawing/2014/main" id="{CEB8B2B1-AA64-4D2E-8960-2BA085587DBB}"/>
              </a:ext>
            </a:extLst>
          </p:cNvPr>
          <p:cNvSpPr>
            <a:spLocks xmlns:a="http://schemas.openxmlformats.org/drawingml/2006/main" noGrp="1"/>
          </p:cNvSpPr>
          <p:nvPr/>
        </p:nvSpPr>
        <p:spPr>
          <a:xfrm xmlns:a="http://schemas.openxmlformats.org/drawingml/2006/main">
            <a:off x="4038600" y="2781300"/>
            <a:ext cx="716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0B1F33"/>
                </a:solidFill>
              </a:defRPr>
            </a:pPr>
            <a:r>
              <a:rPr sz="1500" b="1" i="0">
                <a:solidFill>
                  <a:srgbClr val="0B1F33"/>
                </a:solidFill>
              </a:rPr>
              <a:t>Party, country, channel, chronology and transaction lineage</a:t>
            </a:r>
          </a:p>
        </p:txBody>
      </p:sp>
      <p:sp>
        <p:nvSpPr>
          <p:cNvPr id="13" name="">
            <a:extLst xmlns:a="http://schemas.openxmlformats.org/drawingml/2006/main">
              <a:ext uri="{FF2B5EF4-FFF2-40B4-BE49-F238E27FC236}">
                <a16:creationId xmlns:a16="http://schemas.microsoft.com/office/drawing/2014/main" id="{D5B1A9E8-74D5-481D-B3AA-E25032186145}"/>
              </a:ext>
            </a:extLst>
          </p:cNvPr>
          <p:cNvSpPr>
            <a:spLocks xmlns:a="http://schemas.openxmlformats.org/drawingml/2006/main" noGrp="1"/>
          </p:cNvSpPr>
          <p:nvPr/>
        </p:nvSpPr>
        <p:spPr>
          <a:xfrm xmlns:a="http://schemas.openxmlformats.org/drawingml/2006/main">
            <a:off x="685800" y="3429000"/>
            <a:ext cx="10820400" cy="60960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921D5BF-DD2F-4134-AFC6-080F5B5E1A2C}"/>
              </a:ext>
            </a:extLst>
          </p:cNvPr>
          <p:cNvSpPr>
            <a:spLocks xmlns:a="http://schemas.openxmlformats.org/drawingml/2006/main" noGrp="1"/>
          </p:cNvSpPr>
          <p:nvPr/>
        </p:nvSpPr>
        <p:spPr>
          <a:xfrm xmlns:a="http://schemas.openxmlformats.org/drawingml/2006/main">
            <a:off x="914400" y="352425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i="0">
                <a:solidFill>
                  <a:srgbClr val="0E7490"/>
                </a:solidFill>
              </a:defRPr>
            </a:pPr>
            <a:r>
              <a:rPr sz="1200" b="1" i="0">
                <a:solidFill>
                  <a:srgbClr val="0E7490"/>
                </a:solidFill>
              </a:rPr>
              <a:t>BENEFICIAL OWNERSHIP</a:t>
            </a:r>
          </a:p>
        </p:txBody>
      </p:sp>
      <p:sp>
        <p:nvSpPr>
          <p:cNvPr id="15" name="">
            <a:extLst xmlns:a="http://schemas.openxmlformats.org/drawingml/2006/main">
              <a:ext uri="{FF2B5EF4-FFF2-40B4-BE49-F238E27FC236}">
                <a16:creationId xmlns:a16="http://schemas.microsoft.com/office/drawing/2014/main" id="{75DCDEBA-BC34-4873-BD5B-DDFF7DD20903}"/>
              </a:ext>
            </a:extLst>
          </p:cNvPr>
          <p:cNvSpPr>
            <a:spLocks xmlns:a="http://schemas.openxmlformats.org/drawingml/2006/main" noGrp="1"/>
          </p:cNvSpPr>
          <p:nvPr/>
        </p:nvSpPr>
        <p:spPr>
          <a:xfrm xmlns:a="http://schemas.openxmlformats.org/drawingml/2006/main">
            <a:off x="4038600" y="3524250"/>
            <a:ext cx="716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0B1F33"/>
                </a:solidFill>
              </a:defRPr>
            </a:pPr>
            <a:r>
              <a:rPr sz="1500" b="1" i="0">
                <a:solidFill>
                  <a:srgbClr val="0B1F33"/>
                </a:solidFill>
              </a:rPr>
              <a:t>KYC completeness factor and review evidence</a:t>
            </a:r>
          </a:p>
        </p:txBody>
      </p:sp>
      <p:sp>
        <p:nvSpPr>
          <p:cNvPr id="16" name="">
            <a:extLst xmlns:a="http://schemas.openxmlformats.org/drawingml/2006/main">
              <a:ext uri="{FF2B5EF4-FFF2-40B4-BE49-F238E27FC236}">
                <a16:creationId xmlns:a16="http://schemas.microsoft.com/office/drawing/2014/main" id="{A1EC76F8-0D68-4AAE-90A2-BB3339243903}"/>
              </a:ext>
            </a:extLst>
          </p:cNvPr>
          <p:cNvSpPr>
            <a:spLocks xmlns:a="http://schemas.openxmlformats.org/drawingml/2006/main" noGrp="1"/>
          </p:cNvSpPr>
          <p:nvPr/>
        </p:nvSpPr>
        <p:spPr>
          <a:xfrm xmlns:a="http://schemas.openxmlformats.org/drawingml/2006/main">
            <a:off x="914400" y="426720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i="0">
                <a:solidFill>
                  <a:srgbClr val="0E7490"/>
                </a:solidFill>
              </a:defRPr>
            </a:pPr>
            <a:r>
              <a:rPr sz="1200" b="1" i="0">
                <a:solidFill>
                  <a:srgbClr val="0E7490"/>
                </a:solidFill>
              </a:rPr>
              <a:t>REPORTING DECISION</a:t>
            </a:r>
          </a:p>
        </p:txBody>
      </p:sp>
      <p:sp>
        <p:nvSpPr>
          <p:cNvPr id="17" name="">
            <a:extLst xmlns:a="http://schemas.openxmlformats.org/drawingml/2006/main">
              <a:ext uri="{FF2B5EF4-FFF2-40B4-BE49-F238E27FC236}">
                <a16:creationId xmlns:a16="http://schemas.microsoft.com/office/drawing/2014/main" id="{6DC66CE2-279E-4B2C-A428-06FD3024CB60}"/>
              </a:ext>
            </a:extLst>
          </p:cNvPr>
          <p:cNvSpPr>
            <a:spLocks xmlns:a="http://schemas.openxmlformats.org/drawingml/2006/main" noGrp="1"/>
          </p:cNvSpPr>
          <p:nvPr/>
        </p:nvSpPr>
        <p:spPr>
          <a:xfrm xmlns:a="http://schemas.openxmlformats.org/drawingml/2006/main">
            <a:off x="4038600" y="4267200"/>
            <a:ext cx="716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0B1F33"/>
                </a:solidFill>
              </a:defRPr>
            </a:pPr>
            <a:r>
              <a:rPr sz="1500" b="1" i="0">
                <a:solidFill>
                  <a:srgbClr val="0B1F33"/>
                </a:solidFill>
              </a:rPr>
              <a:t>Authorised human function only; amount-independent assessment</a:t>
            </a:r>
          </a:p>
        </p:txBody>
      </p:sp>
      <p:sp>
        <p:nvSpPr>
          <p:cNvPr id="18" name="">
            <a:extLst xmlns:a="http://schemas.openxmlformats.org/drawingml/2006/main">
              <a:ext uri="{FF2B5EF4-FFF2-40B4-BE49-F238E27FC236}">
                <a16:creationId xmlns:a16="http://schemas.microsoft.com/office/drawing/2014/main" id="{882EB0D3-9800-4B54-83E3-77A6277D2FCA}"/>
              </a:ext>
            </a:extLst>
          </p:cNvPr>
          <p:cNvSpPr>
            <a:spLocks xmlns:a="http://schemas.openxmlformats.org/drawingml/2006/main" noGrp="1"/>
          </p:cNvSpPr>
          <p:nvPr/>
        </p:nvSpPr>
        <p:spPr>
          <a:xfrm xmlns:a="http://schemas.openxmlformats.org/drawingml/2006/main">
            <a:off x="685800" y="4914900"/>
            <a:ext cx="10820400" cy="609600"/>
          </a:xfrm>
          <a:prstGeom xmlns:a="http://schemas.openxmlformats.org/drawingml/2006/main" prst="rect">
            <a:avLst/>
          </a:prstGeom>
          <a:solidFill xmlns:a="http://schemas.openxmlformats.org/drawingml/2006/main">
            <a:srgbClr val="F4F7F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0B7029F-AC28-4AD6-A5F4-FDB147B1EE75}"/>
              </a:ext>
            </a:extLst>
          </p:cNvPr>
          <p:cNvSpPr>
            <a:spLocks xmlns:a="http://schemas.openxmlformats.org/drawingml/2006/main" noGrp="1"/>
          </p:cNvSpPr>
          <p:nvPr/>
        </p:nvSpPr>
        <p:spPr>
          <a:xfrm xmlns:a="http://schemas.openxmlformats.org/drawingml/2006/main">
            <a:off x="914400" y="501015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i="0">
                <a:solidFill>
                  <a:srgbClr val="0E7490"/>
                </a:solidFill>
              </a:defRPr>
            </a:pPr>
            <a:r>
              <a:rPr sz="1200" b="1" i="0">
                <a:solidFill>
                  <a:srgbClr val="0E7490"/>
                </a:solidFill>
              </a:rPr>
              <a:t>SANCTIONS DATA</a:t>
            </a:r>
          </a:p>
        </p:txBody>
      </p:sp>
      <p:sp>
        <p:nvSpPr>
          <p:cNvPr id="20" name="">
            <a:extLst xmlns:a="http://schemas.openxmlformats.org/drawingml/2006/main">
              <a:ext uri="{FF2B5EF4-FFF2-40B4-BE49-F238E27FC236}">
                <a16:creationId xmlns:a16="http://schemas.microsoft.com/office/drawing/2014/main" id="{EF359599-4092-45EA-AB67-2692FFF7D7A1}"/>
              </a:ext>
            </a:extLst>
          </p:cNvPr>
          <p:cNvSpPr>
            <a:spLocks xmlns:a="http://schemas.openxmlformats.org/drawingml/2006/main" noGrp="1"/>
          </p:cNvSpPr>
          <p:nvPr/>
        </p:nvSpPr>
        <p:spPr>
          <a:xfrm xmlns:a="http://schemas.openxmlformats.org/drawingml/2006/main">
            <a:off x="4038600" y="5010150"/>
            <a:ext cx="716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0B1F33"/>
                </a:solidFill>
              </a:defRPr>
            </a:pPr>
            <a:r>
              <a:rPr sz="1500" b="1" i="0">
                <a:solidFill>
                  <a:srgbClr val="0B1F33"/>
                </a:solidFill>
              </a:rPr>
              <a:t>Approved live connector required; no real list committed</a:t>
            </a:r>
          </a:p>
        </p:txBody>
      </p:sp>
      <p:sp>
        <p:nvSpPr>
          <p:cNvPr id="21" name="">
            <a:extLst xmlns:a="http://schemas.openxmlformats.org/drawingml/2006/main">
              <a:ext uri="{FF2B5EF4-FFF2-40B4-BE49-F238E27FC236}">
                <a16:creationId xmlns:a16="http://schemas.microsoft.com/office/drawing/2014/main" id="{5E68BB70-E8E2-4461-8DAD-36B343C6D019}"/>
              </a:ext>
            </a:extLst>
          </p:cNvPr>
          <p:cNvSpPr>
            <a:spLocks xmlns:a="http://schemas.openxmlformats.org/drawingml/2006/main" noGrp="1"/>
          </p:cNvSpPr>
          <p:nvPr/>
        </p:nvSpPr>
        <p:spPr>
          <a:xfrm xmlns:a="http://schemas.openxmlformats.org/drawingml/2006/main">
            <a:off x="685800" y="5791200"/>
            <a:ext cx="10820400" cy="457200"/>
          </a:xfrm>
          <a:prstGeom xmlns:a="http://schemas.openxmlformats.org/drawingml/2006/main" prst="rect">
            <a:avLst/>
          </a:prstGeom>
          <a:solidFill xmlns:a="http://schemas.openxmlformats.org/drawingml/2006/main">
            <a:srgbClr val="FDECE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06CAC69-D6C0-4B38-8023-0ACCEBBCEE5D}"/>
              </a:ext>
            </a:extLst>
          </p:cNvPr>
          <p:cNvSpPr>
            <a:spLocks xmlns:a="http://schemas.openxmlformats.org/drawingml/2006/main" noGrp="1"/>
          </p:cNvSpPr>
          <p:nvPr/>
        </p:nvSpPr>
        <p:spPr>
          <a:xfrm xmlns:a="http://schemas.openxmlformats.org/drawingml/2006/main">
            <a:off x="914400" y="5867400"/>
            <a:ext cx="10363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i="0">
                <a:solidFill>
                  <a:srgbClr val="C2413B"/>
                </a:solidFill>
              </a:defRPr>
            </a:pPr>
            <a:r>
              <a:rPr sz="1425" b="1" i="0">
                <a:solidFill>
                  <a:srgbClr val="C2413B"/>
                </a:solidFill>
              </a:rPr>
              <a:t>Boundary | This portfolio is not regulatory certification, legal advice or a production control.</a:t>
            </a:r>
          </a:p>
        </p:txBody>
      </p:sp>
    </p:spTree>
    <p:extLst>
      <p:ext uri="{BB962C8B-B14F-4D97-AF65-F5344CB8AC3E}">
        <p14:creationId xmlns:p14="http://schemas.microsoft.com/office/powerpoint/2010/main" val="185242332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2E20E2C-6B70-4970-BF79-F449FCF34030}"/>
              </a:ext>
            </a:extLst>
          </p:cNvPr>
          <p:cNvSpPr>
            <a:spLocks xmlns:a="http://schemas.openxmlformats.org/drawingml/2006/main" noGrp="1"/>
          </p:cNvSpPr>
          <p:nvPr/>
        </p:nvSpPr>
        <p:spPr>
          <a:xfrm xmlns:a="http://schemas.openxmlformats.org/drawingml/2006/main">
            <a:off x="685800" y="266700"/>
            <a:ext cx="647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5B677A"/>
                </a:solidFill>
              </a:defRPr>
            </a:pPr>
            <a:r>
              <a:rPr sz="975" b="1" i="0">
                <a:solidFill>
                  <a:srgbClr val="5B677A"/>
                </a:solidFill>
              </a:rPr>
              <a:t>AURELIA BANK | FINANCIAL CRIME &amp; AML</a:t>
            </a:r>
          </a:p>
        </p:txBody>
      </p:sp>
      <p:sp>
        <p:nvSpPr>
          <p:cNvPr id="2" name="">
            <a:extLst xmlns:a="http://schemas.openxmlformats.org/drawingml/2006/main">
              <a:ext uri="{FF2B5EF4-FFF2-40B4-BE49-F238E27FC236}">
                <a16:creationId xmlns:a16="http://schemas.microsoft.com/office/drawing/2014/main" id="{D1C2D78A-D1E7-44E6-81FD-3A002312EB22}"/>
              </a:ext>
            </a:extLst>
          </p:cNvPr>
          <p:cNvSpPr>
            <a:spLocks xmlns:a="http://schemas.openxmlformats.org/drawingml/2006/main" noGrp="1"/>
          </p:cNvSpPr>
          <p:nvPr/>
        </p:nvSpPr>
        <p:spPr>
          <a:xfrm xmlns:a="http://schemas.openxmlformats.org/drawingml/2006/main">
            <a:off x="11049000" y="2667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i="0">
                <a:solidFill>
                  <a:srgbClr val="5B677A"/>
                </a:solidFill>
              </a:defRPr>
            </a:pPr>
            <a:r>
              <a:rPr sz="975" b="1" i="0">
                <a:solidFill>
                  <a:srgbClr val="5B677A"/>
                </a:solidFill>
              </a:rPr>
              <a:t>12</a:t>
            </a:r>
          </a:p>
        </p:txBody>
      </p:sp>
      <p:sp>
        <p:nvSpPr>
          <p:cNvPr id="3" name="">
            <a:extLst xmlns:a="http://schemas.openxmlformats.org/drawingml/2006/main">
              <a:ext uri="{FF2B5EF4-FFF2-40B4-BE49-F238E27FC236}">
                <a16:creationId xmlns:a16="http://schemas.microsoft.com/office/drawing/2014/main" id="{DB9E3333-EF04-4178-8A06-59FF9FF110A7}"/>
              </a:ext>
            </a:extLst>
          </p:cNvPr>
          <p:cNvSpPr>
            <a:spLocks xmlns:a="http://schemas.openxmlformats.org/drawingml/2006/main" noGrp="1"/>
          </p:cNvSpPr>
          <p:nvPr/>
        </p:nvSpPr>
        <p:spPr>
          <a:xfrm xmlns:a="http://schemas.openxmlformats.org/drawingml/2006/main">
            <a:off x="685800" y="552450"/>
            <a:ext cx="108204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050576F-2E25-4922-9CF0-5A7A3D4FA8EB}"/>
              </a:ext>
            </a:extLst>
          </p:cNvPr>
          <p:cNvSpPr>
            <a:spLocks xmlns:a="http://schemas.openxmlformats.org/drawingml/2006/main" noGrp="1"/>
          </p:cNvSpPr>
          <p:nvPr/>
        </p:nvSpPr>
        <p:spPr>
          <a:xfrm xmlns:a="http://schemas.openxmlformats.org/drawingml/2006/main">
            <a:off x="685800" y="6515100"/>
            <a:ext cx="942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i="0">
                <a:solidFill>
                  <a:srgbClr val="5B677A"/>
                </a:solidFill>
              </a:defRPr>
            </a:pPr>
            <a:r>
              <a:rPr sz="825" b="0" i="0">
                <a:solidFill>
                  <a:srgbClr val="5B677A"/>
                </a:solidFill>
              </a:rPr>
              <a:t>Decision requested | owners, capacity and dates to be confirmed by management</a:t>
            </a:r>
          </a:p>
        </p:txBody>
      </p:sp>
      <p:sp>
        <p:nvSpPr>
          <p:cNvPr id="5" name="">
            <a:extLst xmlns:a="http://schemas.openxmlformats.org/drawingml/2006/main">
              <a:ext uri="{FF2B5EF4-FFF2-40B4-BE49-F238E27FC236}">
                <a16:creationId xmlns:a16="http://schemas.microsoft.com/office/drawing/2014/main" id="{7A407D56-6F48-4462-AF5A-F0092511C5FA}"/>
              </a:ext>
            </a:extLst>
          </p:cNvPr>
          <p:cNvSpPr>
            <a:spLocks xmlns:a="http://schemas.openxmlformats.org/drawingml/2006/main" noGrp="1"/>
          </p:cNvSpPr>
          <p:nvPr/>
        </p:nvSpPr>
        <p:spPr>
          <a:xfrm xmlns:a="http://schemas.openxmlformats.org/drawingml/2006/main">
            <a:off x="10287000" y="6515100"/>
            <a:ext cx="1219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i="0">
                <a:solidFill>
                  <a:srgbClr val="5B677A"/>
                </a:solidFill>
              </a:defRPr>
            </a:pPr>
            <a:r>
              <a:rPr sz="825" b="0" i="0">
                <a:solidFill>
                  <a:srgbClr val="5B677A"/>
                </a:solidFill>
              </a:rPr>
              <a:t>20 AUG 2026</a:t>
            </a:r>
          </a:p>
        </p:txBody>
      </p:sp>
      <p:sp>
        <p:nvSpPr>
          <p:cNvPr id="6" name="">
            <a:extLst xmlns:a="http://schemas.openxmlformats.org/drawingml/2006/main">
              <a:ext uri="{FF2B5EF4-FFF2-40B4-BE49-F238E27FC236}">
                <a16:creationId xmlns:a16="http://schemas.microsoft.com/office/drawing/2014/main" id="{40ADC707-FF77-4199-9D77-9167EF4B8082}"/>
              </a:ext>
            </a:extLst>
          </p:cNvPr>
          <p:cNvSpPr>
            <a:spLocks xmlns:a="http://schemas.openxmlformats.org/drawingml/2006/main" noGrp="1"/>
          </p:cNvSpPr>
          <p:nvPr/>
        </p:nvSpPr>
        <p:spPr>
          <a:xfrm xmlns:a="http://schemas.openxmlformats.org/drawingml/2006/main">
            <a:off x="685800" y="72390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i="0">
                <a:solidFill>
                  <a:srgbClr val="0B1F33"/>
                </a:solidFill>
              </a:defRPr>
            </a:pPr>
            <a:r>
              <a:rPr sz="3000" b="1" i="0">
                <a:solidFill>
                  <a:srgbClr val="0B1F33"/>
                </a:solidFill>
              </a:rPr>
              <a:t>Approve a 90-day controlled remediation plan</a:t>
            </a:r>
          </a:p>
        </p:txBody>
      </p:sp>
      <p:sp>
        <p:nvSpPr>
          <p:cNvPr id="7" name="">
            <a:extLst xmlns:a="http://schemas.openxmlformats.org/drawingml/2006/main">
              <a:ext uri="{FF2B5EF4-FFF2-40B4-BE49-F238E27FC236}">
                <a16:creationId xmlns:a16="http://schemas.microsoft.com/office/drawing/2014/main" id="{7C85692D-9DFE-469C-8CBB-C7A43EBE3829}"/>
              </a:ext>
            </a:extLst>
          </p:cNvPr>
          <p:cNvSpPr>
            <a:spLocks xmlns:a="http://schemas.openxmlformats.org/drawingml/2006/main" noGrp="1"/>
          </p:cNvSpPr>
          <p:nvPr/>
        </p:nvSpPr>
        <p:spPr>
          <a:xfrm xmlns:a="http://schemas.openxmlformats.org/drawingml/2006/main">
            <a:off x="685800" y="12954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5B677A"/>
                </a:solidFill>
              </a:defRPr>
            </a:pPr>
            <a:r>
              <a:rPr sz="1350" b="0" i="0">
                <a:solidFill>
                  <a:srgbClr val="5B677A"/>
                </a:solidFill>
              </a:rPr>
              <a:t>Reduce KYC backlog first; tune models second; prepare production controls third.</a:t>
            </a:r>
          </a:p>
        </p:txBody>
      </p:sp>
      <p:sp>
        <p:nvSpPr>
          <p:cNvPr id="8" name="">
            <a:extLst xmlns:a="http://schemas.openxmlformats.org/drawingml/2006/main">
              <a:ext uri="{FF2B5EF4-FFF2-40B4-BE49-F238E27FC236}">
                <a16:creationId xmlns:a16="http://schemas.microsoft.com/office/drawing/2014/main" id="{7A9BED88-A9B4-4729-AB79-65746ACBA7FD}"/>
              </a:ext>
            </a:extLst>
          </p:cNvPr>
          <p:cNvSpPr>
            <a:spLocks xmlns:a="http://schemas.openxmlformats.org/drawingml/2006/main" noGrp="1"/>
          </p:cNvSpPr>
          <p:nvPr/>
        </p:nvSpPr>
        <p:spPr>
          <a:xfrm xmlns:a="http://schemas.openxmlformats.org/drawingml/2006/main">
            <a:off x="1104900" y="2990850"/>
            <a:ext cx="998220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E8F34F9-B966-4FA7-8931-5E925CD353C2}"/>
              </a:ext>
            </a:extLst>
          </p:cNvPr>
          <p:cNvSpPr>
            <a:spLocks xmlns:a="http://schemas.openxmlformats.org/drawingml/2006/main" noGrp="1"/>
          </p:cNvSpPr>
          <p:nvPr/>
        </p:nvSpPr>
        <p:spPr>
          <a:xfrm xmlns:a="http://schemas.openxmlformats.org/drawingml/2006/main">
            <a:off x="2400300" y="2876550"/>
            <a:ext cx="228600" cy="228600"/>
          </a:xfrm>
          <a:prstGeom xmlns:a="http://schemas.openxmlformats.org/drawingml/2006/main" prst="ellipse">
            <a:avLst/>
          </a:prstGeom>
          <a:solidFill xmlns:a="http://schemas.openxmlformats.org/drawingml/2006/main">
            <a:srgbClr val="C2413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2CC175E-EB33-4743-A9B0-461C56B8C465}"/>
              </a:ext>
            </a:extLst>
          </p:cNvPr>
          <p:cNvSpPr>
            <a:spLocks xmlns:a="http://schemas.openxmlformats.org/drawingml/2006/main" noGrp="1"/>
          </p:cNvSpPr>
          <p:nvPr/>
        </p:nvSpPr>
        <p:spPr>
          <a:xfrm xmlns:a="http://schemas.openxmlformats.org/drawingml/2006/main">
            <a:off x="1200150" y="2114550"/>
            <a:ext cx="2628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5B677A"/>
                </a:solidFill>
              </a:defRPr>
            </a:pPr>
            <a:r>
              <a:rPr sz="1125" b="1" i="0">
                <a:solidFill>
                  <a:srgbClr val="5B677A"/>
                </a:solidFill>
              </a:rPr>
              <a:t>0–30 DAYS</a:t>
            </a:r>
          </a:p>
        </p:txBody>
      </p:sp>
      <p:sp>
        <p:nvSpPr>
          <p:cNvPr id="11" name="">
            <a:extLst xmlns:a="http://schemas.openxmlformats.org/drawingml/2006/main">
              <a:ext uri="{FF2B5EF4-FFF2-40B4-BE49-F238E27FC236}">
                <a16:creationId xmlns:a16="http://schemas.microsoft.com/office/drawing/2014/main" id="{1875988F-E1F6-4C2D-9F65-27CDC2E96CBE}"/>
              </a:ext>
            </a:extLst>
          </p:cNvPr>
          <p:cNvSpPr>
            <a:spLocks xmlns:a="http://schemas.openxmlformats.org/drawingml/2006/main" noGrp="1"/>
          </p:cNvSpPr>
          <p:nvPr/>
        </p:nvSpPr>
        <p:spPr>
          <a:xfrm xmlns:a="http://schemas.openxmlformats.org/drawingml/2006/main">
            <a:off x="1200150" y="3371850"/>
            <a:ext cx="2628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0B1F33"/>
                </a:solidFill>
              </a:defRPr>
            </a:pPr>
            <a:r>
              <a:rPr sz="1800" b="1" i="0">
                <a:solidFill>
                  <a:srgbClr val="0B1F33"/>
                </a:solidFill>
              </a:rPr>
              <a:t>Clear priority KYC</a:t>
            </a:r>
          </a:p>
        </p:txBody>
      </p:sp>
      <p:sp>
        <p:nvSpPr>
          <p:cNvPr id="12" name="">
            <a:extLst xmlns:a="http://schemas.openxmlformats.org/drawingml/2006/main">
              <a:ext uri="{FF2B5EF4-FFF2-40B4-BE49-F238E27FC236}">
                <a16:creationId xmlns:a16="http://schemas.microsoft.com/office/drawing/2014/main" id="{719084C6-74B1-449E-ACF1-9F28E0DB8B4C}"/>
              </a:ext>
            </a:extLst>
          </p:cNvPr>
          <p:cNvSpPr>
            <a:spLocks xmlns:a="http://schemas.openxmlformats.org/drawingml/2006/main" noGrp="1"/>
          </p:cNvSpPr>
          <p:nvPr/>
        </p:nvSpPr>
        <p:spPr>
          <a:xfrm xmlns:a="http://schemas.openxmlformats.org/drawingml/2006/main">
            <a:off x="1200150" y="4000500"/>
            <a:ext cx="26289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0" i="0">
                <a:solidFill>
                  <a:srgbClr val="0B1F33"/>
                </a:solidFill>
              </a:defRPr>
            </a:pPr>
            <a:r>
              <a:rPr sz="1500" b="0" i="0">
                <a:solidFill>
                  <a:srgbClr val="0B1F33"/>
                </a:solidFill>
              </a:rPr>
              <a:t>Alerted + High risk</a:t>
            </a:r>
          </a:p>
          <a:p xmlns:a="http://schemas.openxmlformats.org/drawingml/2006/main">
            <a:pPr algn="ctr">
              <a:defRPr sz="1500" b="0" i="0">
                <a:solidFill>
                  <a:srgbClr val="0B1F33"/>
                </a:solidFill>
              </a:defRPr>
            </a:pPr>
            <a:r>
              <a:rPr sz="1500" b="0" i="0">
                <a:solidFill>
                  <a:srgbClr val="0B1F33"/>
                </a:solidFill>
              </a:rPr>
              <a:t>Weekly burn-down</a:t>
            </a:r>
          </a:p>
          <a:p xmlns:a="http://schemas.openxmlformats.org/drawingml/2006/main">
            <a:pPr algn="ctr">
              <a:defRPr sz="1500" b="0" i="0">
                <a:solidFill>
                  <a:srgbClr val="0B1F33"/>
                </a:solidFill>
              </a:defRPr>
            </a:pPr>
            <a:r>
              <a:rPr sz="1500" b="0" i="0">
                <a:solidFill>
                  <a:srgbClr val="0B1F33"/>
                </a:solidFill>
              </a:rPr>
              <a:t>Capacity protection</a:t>
            </a:r>
          </a:p>
        </p:txBody>
      </p:sp>
      <p:sp>
        <p:nvSpPr>
          <p:cNvPr id="13" name="">
            <a:extLst xmlns:a="http://schemas.openxmlformats.org/drawingml/2006/main">
              <a:ext uri="{FF2B5EF4-FFF2-40B4-BE49-F238E27FC236}">
                <a16:creationId xmlns:a16="http://schemas.microsoft.com/office/drawing/2014/main" id="{236A87CC-5D07-48F6-8C4E-AC5EA5CCFF05}"/>
              </a:ext>
            </a:extLst>
          </p:cNvPr>
          <p:cNvSpPr>
            <a:spLocks xmlns:a="http://schemas.openxmlformats.org/drawingml/2006/main" noGrp="1"/>
          </p:cNvSpPr>
          <p:nvPr/>
        </p:nvSpPr>
        <p:spPr>
          <a:xfrm xmlns:a="http://schemas.openxmlformats.org/drawingml/2006/main">
            <a:off x="5810250" y="2876550"/>
            <a:ext cx="228600" cy="228600"/>
          </a:xfrm>
          <a:prstGeom xmlns:a="http://schemas.openxmlformats.org/drawingml/2006/main" prst="ellipse">
            <a:avLst/>
          </a:prstGeom>
          <a:solidFill xmlns:a="http://schemas.openxmlformats.org/drawingml/2006/main">
            <a:srgbClr val="0E749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BA89987-1169-4FE5-B264-6D37B31F56A1}"/>
              </a:ext>
            </a:extLst>
          </p:cNvPr>
          <p:cNvSpPr>
            <a:spLocks xmlns:a="http://schemas.openxmlformats.org/drawingml/2006/main" noGrp="1"/>
          </p:cNvSpPr>
          <p:nvPr/>
        </p:nvSpPr>
        <p:spPr>
          <a:xfrm xmlns:a="http://schemas.openxmlformats.org/drawingml/2006/main">
            <a:off x="4610100" y="2114550"/>
            <a:ext cx="2628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5B677A"/>
                </a:solidFill>
              </a:defRPr>
            </a:pPr>
            <a:r>
              <a:rPr sz="1125" b="1" i="0">
                <a:solidFill>
                  <a:srgbClr val="5B677A"/>
                </a:solidFill>
              </a:rPr>
              <a:t>31–60 DAYS</a:t>
            </a:r>
          </a:p>
        </p:txBody>
      </p:sp>
      <p:sp>
        <p:nvSpPr>
          <p:cNvPr id="15" name="">
            <a:extLst xmlns:a="http://schemas.openxmlformats.org/drawingml/2006/main">
              <a:ext uri="{FF2B5EF4-FFF2-40B4-BE49-F238E27FC236}">
                <a16:creationId xmlns:a16="http://schemas.microsoft.com/office/drawing/2014/main" id="{86C702B8-FD63-4766-8B2B-893F8770FC44}"/>
              </a:ext>
            </a:extLst>
          </p:cNvPr>
          <p:cNvSpPr>
            <a:spLocks xmlns:a="http://schemas.openxmlformats.org/drawingml/2006/main" noGrp="1"/>
          </p:cNvSpPr>
          <p:nvPr/>
        </p:nvSpPr>
        <p:spPr>
          <a:xfrm xmlns:a="http://schemas.openxmlformats.org/drawingml/2006/main">
            <a:off x="4610100" y="3371850"/>
            <a:ext cx="2628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0B1F33"/>
                </a:solidFill>
              </a:defRPr>
            </a:pPr>
            <a:r>
              <a:rPr sz="1800" b="1" i="0">
                <a:solidFill>
                  <a:srgbClr val="0B1F33"/>
                </a:solidFill>
              </a:rPr>
              <a:t>Tune and validate</a:t>
            </a:r>
          </a:p>
        </p:txBody>
      </p:sp>
      <p:sp>
        <p:nvSpPr>
          <p:cNvPr id="16" name="">
            <a:extLst xmlns:a="http://schemas.openxmlformats.org/drawingml/2006/main">
              <a:ext uri="{FF2B5EF4-FFF2-40B4-BE49-F238E27FC236}">
                <a16:creationId xmlns:a16="http://schemas.microsoft.com/office/drawing/2014/main" id="{66A68C1E-FC78-49AC-875F-D2732466A5FD}"/>
              </a:ext>
            </a:extLst>
          </p:cNvPr>
          <p:cNvSpPr>
            <a:spLocks xmlns:a="http://schemas.openxmlformats.org/drawingml/2006/main" noGrp="1"/>
          </p:cNvSpPr>
          <p:nvPr/>
        </p:nvSpPr>
        <p:spPr>
          <a:xfrm xmlns:a="http://schemas.openxmlformats.org/drawingml/2006/main">
            <a:off x="4610100" y="4000500"/>
            <a:ext cx="26289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0" i="0">
                <a:solidFill>
                  <a:srgbClr val="0B1F33"/>
                </a:solidFill>
              </a:defRPr>
            </a:pPr>
            <a:r>
              <a:rPr sz="1500" b="0" i="0">
                <a:solidFill>
                  <a:srgbClr val="0B1F33"/>
                </a:solidFill>
              </a:rPr>
              <a:t>Segment scenarios</a:t>
            </a:r>
          </a:p>
          <a:p xmlns:a="http://schemas.openxmlformats.org/drawingml/2006/main">
            <a:pPr algn="ctr">
              <a:defRPr sz="1500" b="0" i="0">
                <a:solidFill>
                  <a:srgbClr val="0B1F33"/>
                </a:solidFill>
              </a:defRPr>
            </a:pPr>
            <a:r>
              <a:rPr sz="1500" b="0" i="0">
                <a:solidFill>
                  <a:srgbClr val="0B1F33"/>
                </a:solidFill>
              </a:rPr>
              <a:t>Outcome sampling</a:t>
            </a:r>
          </a:p>
          <a:p xmlns:a="http://schemas.openxmlformats.org/drawingml/2006/main">
            <a:pPr algn="ctr">
              <a:defRPr sz="1500" b="0" i="0">
                <a:solidFill>
                  <a:srgbClr val="0B1F33"/>
                </a:solidFill>
              </a:defRPr>
            </a:pPr>
            <a:r>
              <a:rPr sz="1500" b="0" i="0">
                <a:solidFill>
                  <a:srgbClr val="0B1F33"/>
                </a:solidFill>
              </a:rPr>
              <a:t>Bias + drift challenge</a:t>
            </a:r>
          </a:p>
        </p:txBody>
      </p:sp>
      <p:sp>
        <p:nvSpPr>
          <p:cNvPr id="17" name="">
            <a:extLst xmlns:a="http://schemas.openxmlformats.org/drawingml/2006/main">
              <a:ext uri="{FF2B5EF4-FFF2-40B4-BE49-F238E27FC236}">
                <a16:creationId xmlns:a16="http://schemas.microsoft.com/office/drawing/2014/main" id="{6798A0CB-9E95-4519-A47C-B5F9B39AA875}"/>
              </a:ext>
            </a:extLst>
          </p:cNvPr>
          <p:cNvSpPr>
            <a:spLocks xmlns:a="http://schemas.openxmlformats.org/drawingml/2006/main" noGrp="1"/>
          </p:cNvSpPr>
          <p:nvPr/>
        </p:nvSpPr>
        <p:spPr>
          <a:xfrm xmlns:a="http://schemas.openxmlformats.org/drawingml/2006/main">
            <a:off x="9220200" y="2876550"/>
            <a:ext cx="228600" cy="228600"/>
          </a:xfrm>
          <a:prstGeom xmlns:a="http://schemas.openxmlformats.org/drawingml/2006/main" prst="ellipse">
            <a:avLst/>
          </a:prstGeom>
          <a:solidFill xmlns:a="http://schemas.openxmlformats.org/drawingml/2006/main">
            <a:srgbClr val="0E749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B86C938-66AB-4FE7-B67E-C439A2636C5D}"/>
              </a:ext>
            </a:extLst>
          </p:cNvPr>
          <p:cNvSpPr>
            <a:spLocks xmlns:a="http://schemas.openxmlformats.org/drawingml/2006/main" noGrp="1"/>
          </p:cNvSpPr>
          <p:nvPr/>
        </p:nvSpPr>
        <p:spPr>
          <a:xfrm xmlns:a="http://schemas.openxmlformats.org/drawingml/2006/main">
            <a:off x="8020050" y="2114550"/>
            <a:ext cx="2628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i="0">
                <a:solidFill>
                  <a:srgbClr val="5B677A"/>
                </a:solidFill>
              </a:defRPr>
            </a:pPr>
            <a:r>
              <a:rPr sz="1125" b="1" i="0">
                <a:solidFill>
                  <a:srgbClr val="5B677A"/>
                </a:solidFill>
              </a:rPr>
              <a:t>61–90 DAYS</a:t>
            </a:r>
          </a:p>
        </p:txBody>
      </p:sp>
      <p:sp>
        <p:nvSpPr>
          <p:cNvPr id="19" name="">
            <a:extLst xmlns:a="http://schemas.openxmlformats.org/drawingml/2006/main">
              <a:ext uri="{FF2B5EF4-FFF2-40B4-BE49-F238E27FC236}">
                <a16:creationId xmlns:a16="http://schemas.microsoft.com/office/drawing/2014/main" id="{9C8EF446-E75F-4F4F-B896-705E23463D64}"/>
              </a:ext>
            </a:extLst>
          </p:cNvPr>
          <p:cNvSpPr>
            <a:spLocks xmlns:a="http://schemas.openxmlformats.org/drawingml/2006/main" noGrp="1"/>
          </p:cNvSpPr>
          <p:nvPr/>
        </p:nvSpPr>
        <p:spPr>
          <a:xfrm xmlns:a="http://schemas.openxmlformats.org/drawingml/2006/main">
            <a:off x="8020050" y="3371850"/>
            <a:ext cx="2628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0B1F33"/>
                </a:solidFill>
              </a:defRPr>
            </a:pPr>
            <a:r>
              <a:rPr sz="1800" b="1" i="0">
                <a:solidFill>
                  <a:srgbClr val="0B1F33"/>
                </a:solidFill>
              </a:rPr>
              <a:t>Production readiness</a:t>
            </a:r>
          </a:p>
        </p:txBody>
      </p:sp>
      <p:sp>
        <p:nvSpPr>
          <p:cNvPr id="20" name="">
            <a:extLst xmlns:a="http://schemas.openxmlformats.org/drawingml/2006/main">
              <a:ext uri="{FF2B5EF4-FFF2-40B4-BE49-F238E27FC236}">
                <a16:creationId xmlns:a16="http://schemas.microsoft.com/office/drawing/2014/main" id="{3C75EAC3-E264-4ECE-9E1E-60BCE34082AC}"/>
              </a:ext>
            </a:extLst>
          </p:cNvPr>
          <p:cNvSpPr>
            <a:spLocks xmlns:a="http://schemas.openxmlformats.org/drawingml/2006/main" noGrp="1"/>
          </p:cNvSpPr>
          <p:nvPr/>
        </p:nvSpPr>
        <p:spPr>
          <a:xfrm xmlns:a="http://schemas.openxmlformats.org/drawingml/2006/main">
            <a:off x="8020050" y="4000500"/>
            <a:ext cx="26289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0" i="0">
                <a:solidFill>
                  <a:srgbClr val="0B1F33"/>
                </a:solidFill>
              </a:defRPr>
            </a:pPr>
            <a:r>
              <a:rPr sz="1500" b="0" i="0">
                <a:solidFill>
                  <a:srgbClr val="0B1F33"/>
                </a:solidFill>
              </a:rPr>
              <a:t>Approved screening</a:t>
            </a:r>
          </a:p>
          <a:p xmlns:a="http://schemas.openxmlformats.org/drawingml/2006/main">
            <a:pPr algn="ctr">
              <a:defRPr sz="1500" b="0" i="0">
                <a:solidFill>
                  <a:srgbClr val="0B1F33"/>
                </a:solidFill>
              </a:defRPr>
            </a:pPr>
            <a:r>
              <a:rPr sz="1500" b="0" i="0">
                <a:solidFill>
                  <a:srgbClr val="0B1F33"/>
                </a:solidFill>
              </a:rPr>
              <a:t>Access + audit trails</a:t>
            </a:r>
          </a:p>
          <a:p xmlns:a="http://schemas.openxmlformats.org/drawingml/2006/main">
            <a:pPr algn="ctr">
              <a:defRPr sz="1500" b="0" i="0">
                <a:solidFill>
                  <a:srgbClr val="0B1F33"/>
                </a:solidFill>
              </a:defRPr>
            </a:pPr>
            <a:r>
              <a:rPr sz="1500" b="0" i="0">
                <a:solidFill>
                  <a:srgbClr val="0B1F33"/>
                </a:solidFill>
              </a:rPr>
              <a:t>Independent validation</a:t>
            </a:r>
          </a:p>
        </p:txBody>
      </p:sp>
      <p:sp>
        <p:nvSpPr>
          <p:cNvPr id="21" name="">
            <a:extLst xmlns:a="http://schemas.openxmlformats.org/drawingml/2006/main">
              <a:ext uri="{FF2B5EF4-FFF2-40B4-BE49-F238E27FC236}">
                <a16:creationId xmlns:a16="http://schemas.microsoft.com/office/drawing/2014/main" id="{95BFA66E-DAAD-4521-BE2C-9AAE402F3F63}"/>
              </a:ext>
            </a:extLst>
          </p:cNvPr>
          <p:cNvSpPr>
            <a:spLocks xmlns:a="http://schemas.openxmlformats.org/drawingml/2006/main" noGrp="1"/>
          </p:cNvSpPr>
          <p:nvPr/>
        </p:nvSpPr>
        <p:spPr>
          <a:xfrm xmlns:a="http://schemas.openxmlformats.org/drawingml/2006/main">
            <a:off x="685800" y="5467350"/>
            <a:ext cx="10820400" cy="723900"/>
          </a:xfrm>
          <a:prstGeom xmlns:a="http://schemas.openxmlformats.org/drawingml/2006/main" prst="rect">
            <a:avLst/>
          </a:prstGeom>
          <a:solidFill xmlns:a="http://schemas.openxmlformats.org/drawingml/2006/main">
            <a:srgbClr val="0B1F33"/>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B291DDD-251A-483E-ACCF-3A018BD17513}"/>
              </a:ext>
            </a:extLst>
          </p:cNvPr>
          <p:cNvSpPr>
            <a:spLocks xmlns:a="http://schemas.openxmlformats.org/drawingml/2006/main" noGrp="1"/>
          </p:cNvSpPr>
          <p:nvPr/>
        </p:nvSpPr>
        <p:spPr>
          <a:xfrm xmlns:a="http://schemas.openxmlformats.org/drawingml/2006/main">
            <a:off x="952500" y="561975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i="0">
                <a:solidFill>
                  <a:srgbClr val="FFFFFF"/>
                </a:solidFill>
              </a:defRPr>
            </a:pPr>
            <a:r>
              <a:rPr sz="1725" b="1" i="0">
                <a:solidFill>
                  <a:srgbClr val="FFFFFF"/>
                </a:solidFill>
              </a:rPr>
              <a:t>DECISION | Approve priorities, assign KYC and AML Operations owners, and review backlog, SLA and validation evidence monthly.</a:t>
            </a:r>
          </a:p>
        </p:txBody>
      </p:sp>
    </p:spTree>
    <p:extLst>
      <p:ext uri="{BB962C8B-B14F-4D97-AF65-F5344CB8AC3E}">
        <p14:creationId xmlns:p14="http://schemas.microsoft.com/office/powerpoint/2010/main" val="1616529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2026-08-21T07:22:57.4860000Z</dcterms:created>
  <dcterms:modified xsi:type="dcterms:W3CDTF">2026-08-21T07:22:57.4860000Z</dcterms:modified>
</coreProperties>
</file>